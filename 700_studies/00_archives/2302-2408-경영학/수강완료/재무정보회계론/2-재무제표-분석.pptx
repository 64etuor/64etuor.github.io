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96" r:id="rId2"/>
    <p:sldId id="277" r:id="rId3"/>
    <p:sldId id="278" r:id="rId4"/>
    <p:sldId id="279" r:id="rId5"/>
    <p:sldId id="297" r:id="rId6"/>
    <p:sldId id="315" r:id="rId7"/>
    <p:sldId id="298" r:id="rId8"/>
    <p:sldId id="287" r:id="rId9"/>
    <p:sldId id="300" r:id="rId10"/>
    <p:sldId id="313" r:id="rId11"/>
    <p:sldId id="299" r:id="rId12"/>
    <p:sldId id="314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6" r:id="rId25"/>
    <p:sldId id="312" r:id="rId26"/>
  </p:sldIdLst>
  <p:sldSz cx="9144000" cy="6858000" type="screen4x3"/>
  <p:notesSz cx="6858000" cy="9144000"/>
  <p:embeddedFontLst>
    <p:embeddedFont>
      <p:font typeface="Elephant" panose="02020904090505020303" pitchFamily="18" charset="0"/>
      <p:regular r:id="rId28"/>
      <p:italic r:id="rId29"/>
    </p:embeddedFont>
    <p:embeddedFont>
      <p:font typeface="Franklin Gothic Medium Cond" panose="020B0606030402020204" pitchFamily="34" charset="0"/>
      <p:regular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HY헤드라인M" panose="02030600000101010101" pitchFamily="18" charset="-127"/>
      <p:regular r:id="rId3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66"/>
    <a:srgbClr val="FFFFCC"/>
    <a:srgbClr val="CCCCFF"/>
    <a:srgbClr val="CC99FF"/>
    <a:srgbClr val="FF3300"/>
    <a:srgbClr val="FFCC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85" autoAdjust="0"/>
  </p:normalViewPr>
  <p:slideViewPr>
    <p:cSldViewPr>
      <p:cViewPr varScale="1">
        <p:scale>
          <a:sx n="83" d="100"/>
          <a:sy n="83" d="100"/>
        </p:scale>
        <p:origin x="14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95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EBE276-8B94-4CD8-9D64-4FCBF851E53F}" type="doc">
      <dgm:prSet loTypeId="urn:microsoft.com/office/officeart/2005/8/layout/default#1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pPr latinLnBrk="1"/>
          <a:endParaRPr lang="ko-KR" altLang="en-US"/>
        </a:p>
      </dgm:t>
    </dgm:pt>
    <dgm:pt modelId="{BD898BA6-D9DF-4658-9DEE-26BEFDCA0A31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latin typeface="HY헤드라인M" pitchFamily="18" charset="-127"/>
              <a:ea typeface="HY헤드라인M" pitchFamily="18" charset="-127"/>
            </a:rPr>
            <a:t>자본시장 관련 유인</a:t>
          </a:r>
          <a:endParaRPr lang="ko-KR" altLang="en-US" sz="2000" dirty="0">
            <a:latin typeface="HY헤드라인M" pitchFamily="18" charset="-127"/>
            <a:ea typeface="HY헤드라인M" pitchFamily="18" charset="-127"/>
          </a:endParaRPr>
        </a:p>
      </dgm:t>
    </dgm:pt>
    <dgm:pt modelId="{273FDF3B-64A9-4D2F-B346-AA832D2C2875}" type="parTrans" cxnId="{451C7F8C-0A1D-42DB-9968-D7579E1D4E24}">
      <dgm:prSet/>
      <dgm:spPr/>
      <dgm:t>
        <a:bodyPr/>
        <a:lstStyle/>
        <a:p>
          <a:pPr latinLnBrk="1"/>
          <a:endParaRPr lang="ko-KR" altLang="en-US"/>
        </a:p>
      </dgm:t>
    </dgm:pt>
    <dgm:pt modelId="{716ACCBA-4EFF-4178-A1C2-ED2F1A30D617}" type="sibTrans" cxnId="{451C7F8C-0A1D-42DB-9968-D7579E1D4E24}">
      <dgm:prSet/>
      <dgm:spPr/>
      <dgm:t>
        <a:bodyPr/>
        <a:lstStyle/>
        <a:p>
          <a:pPr latinLnBrk="1"/>
          <a:endParaRPr lang="ko-KR" altLang="en-US"/>
        </a:p>
      </dgm:t>
    </dgm:pt>
    <dgm:pt modelId="{FD9DAF93-C9D2-4131-BF31-A1AA7765A403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latin typeface="HY헤드라인M" pitchFamily="18" charset="-127"/>
              <a:ea typeface="HY헤드라인M" pitchFamily="18" charset="-127"/>
            </a:rPr>
            <a:t>부채계약</a:t>
          </a:r>
          <a:endParaRPr lang="ko-KR" altLang="en-US" sz="2000" dirty="0">
            <a:latin typeface="HY헤드라인M" pitchFamily="18" charset="-127"/>
            <a:ea typeface="HY헤드라인M" pitchFamily="18" charset="-127"/>
          </a:endParaRPr>
        </a:p>
      </dgm:t>
    </dgm:pt>
    <dgm:pt modelId="{6A7B9114-9CEB-4AF5-B6E9-0D063C8F71A3}" type="parTrans" cxnId="{08202141-909F-4633-BFD1-5A73A5CC6D66}">
      <dgm:prSet/>
      <dgm:spPr/>
      <dgm:t>
        <a:bodyPr/>
        <a:lstStyle/>
        <a:p>
          <a:pPr latinLnBrk="1"/>
          <a:endParaRPr lang="ko-KR" altLang="en-US"/>
        </a:p>
      </dgm:t>
    </dgm:pt>
    <dgm:pt modelId="{84EEBB74-49EA-4700-B42D-580B63E09E0D}" type="sibTrans" cxnId="{08202141-909F-4633-BFD1-5A73A5CC6D66}">
      <dgm:prSet/>
      <dgm:spPr/>
      <dgm:t>
        <a:bodyPr/>
        <a:lstStyle/>
        <a:p>
          <a:pPr latinLnBrk="1"/>
          <a:endParaRPr lang="ko-KR" altLang="en-US"/>
        </a:p>
      </dgm:t>
    </dgm:pt>
    <dgm:pt modelId="{6E509EEC-4255-422F-9405-3283BFA4367C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latin typeface="HY헤드라인M" pitchFamily="18" charset="-127"/>
              <a:ea typeface="HY헤드라인M" pitchFamily="18" charset="-127"/>
            </a:rPr>
            <a:t>경영자 보상계약</a:t>
          </a:r>
          <a:endParaRPr lang="ko-KR" altLang="en-US" sz="2000" dirty="0">
            <a:latin typeface="HY헤드라인M" pitchFamily="18" charset="-127"/>
            <a:ea typeface="HY헤드라인M" pitchFamily="18" charset="-127"/>
          </a:endParaRPr>
        </a:p>
      </dgm:t>
    </dgm:pt>
    <dgm:pt modelId="{6E311C92-7C84-4DB1-947C-B7C4390002BE}" type="parTrans" cxnId="{C350FA8F-70A8-47AF-ACCD-58C745AD578F}">
      <dgm:prSet/>
      <dgm:spPr/>
      <dgm:t>
        <a:bodyPr/>
        <a:lstStyle/>
        <a:p>
          <a:pPr latinLnBrk="1"/>
          <a:endParaRPr lang="ko-KR" altLang="en-US"/>
        </a:p>
      </dgm:t>
    </dgm:pt>
    <dgm:pt modelId="{713916DD-E50B-4D61-8AA6-F1C12E0E9F14}" type="sibTrans" cxnId="{C350FA8F-70A8-47AF-ACCD-58C745AD578F}">
      <dgm:prSet/>
      <dgm:spPr/>
      <dgm:t>
        <a:bodyPr/>
        <a:lstStyle/>
        <a:p>
          <a:pPr latinLnBrk="1"/>
          <a:endParaRPr lang="ko-KR" altLang="en-US"/>
        </a:p>
      </dgm:t>
    </dgm:pt>
    <dgm:pt modelId="{5CD3FA9B-4A86-4310-9462-BE1A98687341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latin typeface="HY헤드라인M" pitchFamily="18" charset="-127"/>
              <a:ea typeface="HY헤드라인M" pitchFamily="18" charset="-127"/>
            </a:rPr>
            <a:t>정치적 비용과 정부규제</a:t>
          </a:r>
          <a:endParaRPr lang="ko-KR" altLang="en-US" sz="2000" dirty="0">
            <a:latin typeface="HY헤드라인M" pitchFamily="18" charset="-127"/>
            <a:ea typeface="HY헤드라인M" pitchFamily="18" charset="-127"/>
          </a:endParaRPr>
        </a:p>
      </dgm:t>
    </dgm:pt>
    <dgm:pt modelId="{CF46D24D-C6A9-4D7D-BD26-26392FE93CB6}" type="parTrans" cxnId="{EB608C22-3D4B-44C2-802B-A08CFBE10ADD}">
      <dgm:prSet/>
      <dgm:spPr/>
      <dgm:t>
        <a:bodyPr/>
        <a:lstStyle/>
        <a:p>
          <a:pPr latinLnBrk="1"/>
          <a:endParaRPr lang="ko-KR" altLang="en-US"/>
        </a:p>
      </dgm:t>
    </dgm:pt>
    <dgm:pt modelId="{4983FFC9-B2F9-448E-ACDA-A4971CE607F5}" type="sibTrans" cxnId="{EB608C22-3D4B-44C2-802B-A08CFBE10ADD}">
      <dgm:prSet/>
      <dgm:spPr/>
      <dgm:t>
        <a:bodyPr/>
        <a:lstStyle/>
        <a:p>
          <a:pPr latinLnBrk="1"/>
          <a:endParaRPr lang="ko-KR" altLang="en-US"/>
        </a:p>
      </dgm:t>
    </dgm:pt>
    <dgm:pt modelId="{772E60D0-5322-4520-91CC-A82C50F5FBFC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latin typeface="HY헤드라인M" pitchFamily="18" charset="-127"/>
              <a:ea typeface="HY헤드라인M" pitchFamily="18" charset="-127"/>
            </a:rPr>
            <a:t>경쟁기업에 대한 견제</a:t>
          </a:r>
          <a:endParaRPr lang="ko-KR" altLang="en-US" sz="2000" dirty="0">
            <a:latin typeface="HY헤드라인M" pitchFamily="18" charset="-127"/>
            <a:ea typeface="HY헤드라인M" pitchFamily="18" charset="-127"/>
          </a:endParaRPr>
        </a:p>
      </dgm:t>
    </dgm:pt>
    <dgm:pt modelId="{76AB12AF-23A8-47A3-A429-87E3BE0C22BA}" type="parTrans" cxnId="{16AFB3DE-08C4-49F5-8327-749FA10C013A}">
      <dgm:prSet/>
      <dgm:spPr/>
      <dgm:t>
        <a:bodyPr/>
        <a:lstStyle/>
        <a:p>
          <a:pPr latinLnBrk="1"/>
          <a:endParaRPr lang="ko-KR" altLang="en-US"/>
        </a:p>
      </dgm:t>
    </dgm:pt>
    <dgm:pt modelId="{C81F8CFA-B182-4A8B-A7EC-B39F822C6347}" type="sibTrans" cxnId="{16AFB3DE-08C4-49F5-8327-749FA10C013A}">
      <dgm:prSet/>
      <dgm:spPr/>
      <dgm:t>
        <a:bodyPr/>
        <a:lstStyle/>
        <a:p>
          <a:pPr latinLnBrk="1"/>
          <a:endParaRPr lang="ko-KR" altLang="en-US"/>
        </a:p>
      </dgm:t>
    </dgm:pt>
    <dgm:pt modelId="{05B335A6-8A20-46C4-8004-22612FF2BA86}" type="pres">
      <dgm:prSet presAssocID="{A2EBE276-8B94-4CD8-9D64-4FCBF851E53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8B844D-6029-4037-8B54-7A1B14D9FC2B}" type="pres">
      <dgm:prSet presAssocID="{BD898BA6-D9DF-4658-9DEE-26BEFDCA0A31}" presName="node" presStyleLbl="node1" presStyleIdx="0" presStyleCnt="5" custLinFactNeighborX="-1415" custLinFactNeighborY="113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24C2F16-DD5B-45EB-BDBC-D11751409472}" type="pres">
      <dgm:prSet presAssocID="{716ACCBA-4EFF-4178-A1C2-ED2F1A30D617}" presName="sibTrans" presStyleCnt="0"/>
      <dgm:spPr/>
    </dgm:pt>
    <dgm:pt modelId="{49854CDF-85DA-4833-83FB-DDDBFE8C163A}" type="pres">
      <dgm:prSet presAssocID="{FD9DAF93-C9D2-4131-BF31-A1AA7765A40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D703530-7A20-4856-9EE8-89D2CF4BAAAE}" type="pres">
      <dgm:prSet presAssocID="{84EEBB74-49EA-4700-B42D-580B63E09E0D}" presName="sibTrans" presStyleCnt="0"/>
      <dgm:spPr/>
    </dgm:pt>
    <dgm:pt modelId="{EE23C022-06B4-40C4-8614-D495EB348E70}" type="pres">
      <dgm:prSet presAssocID="{6E509EEC-4255-422F-9405-3283BFA4367C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331D102-F92B-4414-AE69-BC8A14233E5C}" type="pres">
      <dgm:prSet presAssocID="{713916DD-E50B-4D61-8AA6-F1C12E0E9F14}" presName="sibTrans" presStyleCnt="0"/>
      <dgm:spPr/>
    </dgm:pt>
    <dgm:pt modelId="{7A7C0C4F-512D-4488-937D-3C8B293E6F33}" type="pres">
      <dgm:prSet presAssocID="{5CD3FA9B-4A86-4310-9462-BE1A9868734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65E7683-17D5-48F3-B017-0523B63A9F8E}" type="pres">
      <dgm:prSet presAssocID="{4983FFC9-B2F9-448E-ACDA-A4971CE607F5}" presName="sibTrans" presStyleCnt="0"/>
      <dgm:spPr/>
    </dgm:pt>
    <dgm:pt modelId="{7878F009-361A-4C99-A2C7-0FDC053C6698}" type="pres">
      <dgm:prSet presAssocID="{772E60D0-5322-4520-91CC-A82C50F5FBF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E175433-C743-4E42-A283-891A41ABB333}" type="presOf" srcId="{BD898BA6-D9DF-4658-9DEE-26BEFDCA0A31}" destId="{298B844D-6029-4037-8B54-7A1B14D9FC2B}" srcOrd="0" destOrd="0" presId="urn:microsoft.com/office/officeart/2005/8/layout/default#1"/>
    <dgm:cxn modelId="{C350FA8F-70A8-47AF-ACCD-58C745AD578F}" srcId="{A2EBE276-8B94-4CD8-9D64-4FCBF851E53F}" destId="{6E509EEC-4255-422F-9405-3283BFA4367C}" srcOrd="2" destOrd="0" parTransId="{6E311C92-7C84-4DB1-947C-B7C4390002BE}" sibTransId="{713916DD-E50B-4D61-8AA6-F1C12E0E9F14}"/>
    <dgm:cxn modelId="{054BC494-F7C4-4012-9F66-C9D6E60A3A00}" type="presOf" srcId="{772E60D0-5322-4520-91CC-A82C50F5FBFC}" destId="{7878F009-361A-4C99-A2C7-0FDC053C6698}" srcOrd="0" destOrd="0" presId="urn:microsoft.com/office/officeart/2005/8/layout/default#1"/>
    <dgm:cxn modelId="{08202141-909F-4633-BFD1-5A73A5CC6D66}" srcId="{A2EBE276-8B94-4CD8-9D64-4FCBF851E53F}" destId="{FD9DAF93-C9D2-4131-BF31-A1AA7765A403}" srcOrd="1" destOrd="0" parTransId="{6A7B9114-9CEB-4AF5-B6E9-0D063C8F71A3}" sibTransId="{84EEBB74-49EA-4700-B42D-580B63E09E0D}"/>
    <dgm:cxn modelId="{451C7F8C-0A1D-42DB-9968-D7579E1D4E24}" srcId="{A2EBE276-8B94-4CD8-9D64-4FCBF851E53F}" destId="{BD898BA6-D9DF-4658-9DEE-26BEFDCA0A31}" srcOrd="0" destOrd="0" parTransId="{273FDF3B-64A9-4D2F-B346-AA832D2C2875}" sibTransId="{716ACCBA-4EFF-4178-A1C2-ED2F1A30D617}"/>
    <dgm:cxn modelId="{C55E08ED-3A72-4538-936F-C6048A4199DC}" type="presOf" srcId="{5CD3FA9B-4A86-4310-9462-BE1A98687341}" destId="{7A7C0C4F-512D-4488-937D-3C8B293E6F33}" srcOrd="0" destOrd="0" presId="urn:microsoft.com/office/officeart/2005/8/layout/default#1"/>
    <dgm:cxn modelId="{E2A770B3-8272-406D-BB15-74FD612D102A}" type="presOf" srcId="{6E509EEC-4255-422F-9405-3283BFA4367C}" destId="{EE23C022-06B4-40C4-8614-D495EB348E70}" srcOrd="0" destOrd="0" presId="urn:microsoft.com/office/officeart/2005/8/layout/default#1"/>
    <dgm:cxn modelId="{16AFB3DE-08C4-49F5-8327-749FA10C013A}" srcId="{A2EBE276-8B94-4CD8-9D64-4FCBF851E53F}" destId="{772E60D0-5322-4520-91CC-A82C50F5FBFC}" srcOrd="4" destOrd="0" parTransId="{76AB12AF-23A8-47A3-A429-87E3BE0C22BA}" sibTransId="{C81F8CFA-B182-4A8B-A7EC-B39F822C6347}"/>
    <dgm:cxn modelId="{19FDBD1F-C717-4987-9D5B-1BC6CBFFAA0A}" type="presOf" srcId="{A2EBE276-8B94-4CD8-9D64-4FCBF851E53F}" destId="{05B335A6-8A20-46C4-8004-22612FF2BA86}" srcOrd="0" destOrd="0" presId="urn:microsoft.com/office/officeart/2005/8/layout/default#1"/>
    <dgm:cxn modelId="{02CB14C9-2F27-4BF7-877E-537DC6A4A33F}" type="presOf" srcId="{FD9DAF93-C9D2-4131-BF31-A1AA7765A403}" destId="{49854CDF-85DA-4833-83FB-DDDBFE8C163A}" srcOrd="0" destOrd="0" presId="urn:microsoft.com/office/officeart/2005/8/layout/default#1"/>
    <dgm:cxn modelId="{EB608C22-3D4B-44C2-802B-A08CFBE10ADD}" srcId="{A2EBE276-8B94-4CD8-9D64-4FCBF851E53F}" destId="{5CD3FA9B-4A86-4310-9462-BE1A98687341}" srcOrd="3" destOrd="0" parTransId="{CF46D24D-C6A9-4D7D-BD26-26392FE93CB6}" sibTransId="{4983FFC9-B2F9-448E-ACDA-A4971CE607F5}"/>
    <dgm:cxn modelId="{CA4D4AF2-A474-419B-8C11-A725C8A3B987}" type="presParOf" srcId="{05B335A6-8A20-46C4-8004-22612FF2BA86}" destId="{298B844D-6029-4037-8B54-7A1B14D9FC2B}" srcOrd="0" destOrd="0" presId="urn:microsoft.com/office/officeart/2005/8/layout/default#1"/>
    <dgm:cxn modelId="{FDC241D0-0BD4-4D61-A4DA-6A105FA2876B}" type="presParOf" srcId="{05B335A6-8A20-46C4-8004-22612FF2BA86}" destId="{B24C2F16-DD5B-45EB-BDBC-D11751409472}" srcOrd="1" destOrd="0" presId="urn:microsoft.com/office/officeart/2005/8/layout/default#1"/>
    <dgm:cxn modelId="{F3AE6139-9D22-4FCA-802C-C6C63160D021}" type="presParOf" srcId="{05B335A6-8A20-46C4-8004-22612FF2BA86}" destId="{49854CDF-85DA-4833-83FB-DDDBFE8C163A}" srcOrd="2" destOrd="0" presId="urn:microsoft.com/office/officeart/2005/8/layout/default#1"/>
    <dgm:cxn modelId="{D471C619-8464-4BBD-8C58-3A63CD87C62D}" type="presParOf" srcId="{05B335A6-8A20-46C4-8004-22612FF2BA86}" destId="{8D703530-7A20-4856-9EE8-89D2CF4BAAAE}" srcOrd="3" destOrd="0" presId="urn:microsoft.com/office/officeart/2005/8/layout/default#1"/>
    <dgm:cxn modelId="{530E9ED2-4EA7-4C11-9B37-FA40A97EEEDD}" type="presParOf" srcId="{05B335A6-8A20-46C4-8004-22612FF2BA86}" destId="{EE23C022-06B4-40C4-8614-D495EB348E70}" srcOrd="4" destOrd="0" presId="urn:microsoft.com/office/officeart/2005/8/layout/default#1"/>
    <dgm:cxn modelId="{3416AA4D-C284-4FB1-8B59-92DBECE1B108}" type="presParOf" srcId="{05B335A6-8A20-46C4-8004-22612FF2BA86}" destId="{D331D102-F92B-4414-AE69-BC8A14233E5C}" srcOrd="5" destOrd="0" presId="urn:microsoft.com/office/officeart/2005/8/layout/default#1"/>
    <dgm:cxn modelId="{44C82335-0A87-49D2-BA46-708541DD11EC}" type="presParOf" srcId="{05B335A6-8A20-46C4-8004-22612FF2BA86}" destId="{7A7C0C4F-512D-4488-937D-3C8B293E6F33}" srcOrd="6" destOrd="0" presId="urn:microsoft.com/office/officeart/2005/8/layout/default#1"/>
    <dgm:cxn modelId="{CFF34123-6166-4218-9A07-069E2F544894}" type="presParOf" srcId="{05B335A6-8A20-46C4-8004-22612FF2BA86}" destId="{165E7683-17D5-48F3-B017-0523B63A9F8E}" srcOrd="7" destOrd="0" presId="urn:microsoft.com/office/officeart/2005/8/layout/default#1"/>
    <dgm:cxn modelId="{BC90DFB2-AD8F-4E38-A366-710C344856E6}" type="presParOf" srcId="{05B335A6-8A20-46C4-8004-22612FF2BA86}" destId="{7878F009-361A-4C99-A2C7-0FDC053C6698}" srcOrd="8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B844D-6029-4037-8B54-7A1B14D9FC2B}">
      <dsp:nvSpPr>
        <dsp:cNvPr id="0" name=""/>
        <dsp:cNvSpPr/>
      </dsp:nvSpPr>
      <dsp:spPr>
        <a:xfrm>
          <a:off x="887758" y="15772"/>
          <a:ext cx="2030015" cy="1218009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latin typeface="HY헤드라인M" pitchFamily="18" charset="-127"/>
              <a:ea typeface="HY헤드라인M" pitchFamily="18" charset="-127"/>
            </a:rPr>
            <a:t>자본시장 관련 유인</a:t>
          </a:r>
          <a:endParaRPr lang="ko-KR" altLang="en-US" sz="2000" kern="1200" dirty="0">
            <a:latin typeface="HY헤드라인M" pitchFamily="18" charset="-127"/>
            <a:ea typeface="HY헤드라인M" pitchFamily="18" charset="-127"/>
          </a:endParaRPr>
        </a:p>
      </dsp:txBody>
      <dsp:txXfrm>
        <a:off x="887758" y="15772"/>
        <a:ext cx="2030015" cy="1218009"/>
      </dsp:txXfrm>
    </dsp:sp>
    <dsp:sp modelId="{49854CDF-85DA-4833-83FB-DDDBFE8C163A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solidFill>
          <a:schemeClr val="accent6">
            <a:shade val="80000"/>
            <a:hueOff val="0"/>
            <a:satOff val="-8455"/>
            <a:lumOff val="84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latin typeface="HY헤드라인M" pitchFamily="18" charset="-127"/>
              <a:ea typeface="HY헤드라인M" pitchFamily="18" charset="-127"/>
            </a:rPr>
            <a:t>부채계약</a:t>
          </a:r>
          <a:endParaRPr lang="ko-KR" altLang="en-US" sz="2000" kern="1200" dirty="0">
            <a:latin typeface="HY헤드라인M" pitchFamily="18" charset="-127"/>
            <a:ea typeface="HY헤드라인M" pitchFamily="18" charset="-127"/>
          </a:endParaRPr>
        </a:p>
      </dsp:txBody>
      <dsp:txXfrm>
        <a:off x="3149500" y="1984"/>
        <a:ext cx="2030015" cy="1218009"/>
      </dsp:txXfrm>
    </dsp:sp>
    <dsp:sp modelId="{EE23C022-06B4-40C4-8614-D495EB348E70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solidFill>
          <a:schemeClr val="accent6">
            <a:shade val="80000"/>
            <a:hueOff val="0"/>
            <a:satOff val="-16910"/>
            <a:lumOff val="169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latin typeface="HY헤드라인M" pitchFamily="18" charset="-127"/>
              <a:ea typeface="HY헤드라인M" pitchFamily="18" charset="-127"/>
            </a:rPr>
            <a:t>경영자 보상계약</a:t>
          </a:r>
          <a:endParaRPr lang="ko-KR" altLang="en-US" sz="2000" kern="1200" dirty="0">
            <a:latin typeface="HY헤드라인M" pitchFamily="18" charset="-127"/>
            <a:ea typeface="HY헤드라인M" pitchFamily="18" charset="-127"/>
          </a:endParaRPr>
        </a:p>
      </dsp:txBody>
      <dsp:txXfrm>
        <a:off x="916483" y="1422995"/>
        <a:ext cx="2030015" cy="1218009"/>
      </dsp:txXfrm>
    </dsp:sp>
    <dsp:sp modelId="{7A7C0C4F-512D-4488-937D-3C8B293E6F33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solidFill>
          <a:schemeClr val="accent6">
            <a:shade val="80000"/>
            <a:hueOff val="0"/>
            <a:satOff val="-25366"/>
            <a:lumOff val="253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latin typeface="HY헤드라인M" pitchFamily="18" charset="-127"/>
              <a:ea typeface="HY헤드라인M" pitchFamily="18" charset="-127"/>
            </a:rPr>
            <a:t>정치적 비용과 정부규제</a:t>
          </a:r>
          <a:endParaRPr lang="ko-KR" altLang="en-US" sz="2000" kern="1200" dirty="0">
            <a:latin typeface="HY헤드라인M" pitchFamily="18" charset="-127"/>
            <a:ea typeface="HY헤드라인M" pitchFamily="18" charset="-127"/>
          </a:endParaRPr>
        </a:p>
      </dsp:txBody>
      <dsp:txXfrm>
        <a:off x="3149500" y="1422995"/>
        <a:ext cx="2030015" cy="1218009"/>
      </dsp:txXfrm>
    </dsp:sp>
    <dsp:sp modelId="{7878F009-361A-4C99-A2C7-0FDC053C6698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solidFill>
          <a:schemeClr val="accent6">
            <a:shade val="80000"/>
            <a:hueOff val="0"/>
            <a:satOff val="-33821"/>
            <a:lumOff val="338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latin typeface="HY헤드라인M" pitchFamily="18" charset="-127"/>
              <a:ea typeface="HY헤드라인M" pitchFamily="18" charset="-127"/>
            </a:rPr>
            <a:t>경쟁기업에 대한 견제</a:t>
          </a:r>
          <a:endParaRPr lang="ko-KR" altLang="en-US" sz="2000" kern="1200" dirty="0">
            <a:latin typeface="HY헤드라인M" pitchFamily="18" charset="-127"/>
            <a:ea typeface="HY헤드라인M" pitchFamily="18" charset="-127"/>
          </a:endParaRPr>
        </a:p>
      </dsp:txBody>
      <dsp:txXfrm>
        <a:off x="2032992" y="2844006"/>
        <a:ext cx="2030015" cy="1218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DACB877-A767-4D2A-86AA-0E27CE1EC49F}" type="datetimeFigureOut">
              <a:rPr lang="ko-KR" altLang="en-US"/>
              <a:pPr>
                <a:defRPr/>
              </a:pPr>
              <a:t>2021-10-10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F49C09E-621B-44DA-9FF2-77366B5706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99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399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E35C981-D055-4326-922F-28216032C831}" type="slidenum">
              <a:rPr lang="ko-KR" altLang="en-US" smtClean="0">
                <a:latin typeface="굴림" charset="-127"/>
                <a:ea typeface="굴림" charset="-127"/>
              </a:rPr>
              <a:pPr/>
              <a:t>1</a:t>
            </a:fld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409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BAD411F-19F8-4F9E-BF17-BD5E7758791B}" type="slidenum">
              <a:rPr lang="ko-KR" altLang="en-US" smtClean="0">
                <a:latin typeface="굴림" charset="-127"/>
                <a:ea typeface="굴림" charset="-127"/>
              </a:rPr>
              <a:pPr/>
              <a:t>9</a:t>
            </a:fld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620713"/>
          </a:xfrm>
          <a:prstGeom prst="rect">
            <a:avLst/>
          </a:prstGeom>
          <a:solidFill>
            <a:srgbClr val="255D8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altLang="ko-KR" sz="14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altLang="ko-KR" sz="14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altLang="ko-KR" sz="14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altLang="ko-KR" sz="14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altLang="ko-KR" sz="14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0" y="6407150"/>
            <a:ext cx="9144000" cy="460375"/>
          </a:xfrm>
          <a:prstGeom prst="rect">
            <a:avLst/>
          </a:prstGeom>
          <a:gradFill rotWithShape="1">
            <a:gsLst>
              <a:gs pos="0">
                <a:srgbClr val="000080"/>
              </a:gs>
              <a:gs pos="100000">
                <a:srgbClr val="000080">
                  <a:gamma/>
                  <a:tint val="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ko-KR" sz="2400" b="1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44450" y="6497638"/>
            <a:ext cx="46434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01600" indent="-101600" algn="ctr">
              <a:defRPr/>
            </a:pPr>
            <a:r>
              <a:rPr lang="en-US" altLang="ko-KR" sz="1400">
                <a:solidFill>
                  <a:schemeClr val="bg1"/>
                </a:solidFill>
                <a:latin typeface="Franklin Gothic Medium Cond" pitchFamily="34" charset="0"/>
                <a:ea typeface="돋움체" pitchFamily="49" charset="-127"/>
              </a:rPr>
              <a:t>© 2005   Wisepost Business Partners All rights reserved</a:t>
            </a:r>
            <a:r>
              <a:rPr lang="en-US" altLang="ko-KR" sz="1400" b="1">
                <a:solidFill>
                  <a:schemeClr val="bg1"/>
                </a:solidFill>
                <a:latin typeface="Franklin Gothic Medium Cond" pitchFamily="34" charset="0"/>
                <a:ea typeface="돋움체" pitchFamily="49" charset="-127"/>
              </a:rPr>
              <a:t> </a:t>
            </a:r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2566988" y="6445250"/>
            <a:ext cx="2620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43930DBF-408D-4E32-96B5-A4EB25A2B1DB}" type="slidenum">
              <a:rPr lang="en-US" altLang="ko-KR" sz="1400">
                <a:latin typeface="HY헤드라인M" pitchFamily="18" charset="-127"/>
                <a:ea typeface="HY헤드라인M" pitchFamily="18" charset="-127"/>
              </a:rPr>
              <a:pPr algn="r">
                <a:defRPr/>
              </a:pPr>
              <a:t>‹#›</a:t>
            </a:fld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41" name="Rectangle 17"/>
          <p:cNvSpPr>
            <a:spLocks noChangeArrowheads="1"/>
          </p:cNvSpPr>
          <p:nvPr userDrawn="1"/>
        </p:nvSpPr>
        <p:spPr bwMode="auto">
          <a:xfrm>
            <a:off x="0" y="6215063"/>
            <a:ext cx="9144000" cy="652462"/>
          </a:xfrm>
          <a:prstGeom prst="rect">
            <a:avLst/>
          </a:prstGeom>
          <a:gradFill rotWithShape="1">
            <a:gsLst>
              <a:gs pos="0">
                <a:srgbClr val="000080"/>
              </a:gs>
              <a:gs pos="100000">
                <a:srgbClr val="000080">
                  <a:gamma/>
                  <a:tint val="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42" name="Rectangle 18"/>
          <p:cNvSpPr>
            <a:spLocks noChangeArrowheads="1"/>
          </p:cNvSpPr>
          <p:nvPr userDrawn="1"/>
        </p:nvSpPr>
        <p:spPr bwMode="auto">
          <a:xfrm>
            <a:off x="0" y="6357938"/>
            <a:ext cx="4286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01600" indent="-101600" algn="ctr">
              <a:defRPr/>
            </a:pPr>
            <a:r>
              <a:rPr lang="en-US" altLang="ko-KR" b="1" i="1" dirty="0" err="1">
                <a:solidFill>
                  <a:schemeClr val="bg1"/>
                </a:solidFill>
                <a:latin typeface="Elephant" pitchFamily="18" charset="0"/>
                <a:ea typeface="돋움체" pitchFamily="49" charset="-127"/>
                <a:cs typeface="Times New Roman" pitchFamily="18" charset="0"/>
              </a:rPr>
              <a:t>Chungbuk</a:t>
            </a:r>
            <a:r>
              <a:rPr lang="en-US" altLang="ko-KR" b="1" i="1" dirty="0">
                <a:solidFill>
                  <a:schemeClr val="bg1"/>
                </a:solidFill>
                <a:latin typeface="Elephant" pitchFamily="18" charset="0"/>
                <a:ea typeface="돋움체" pitchFamily="49" charset="-127"/>
                <a:cs typeface="Times New Roman" pitchFamily="18" charset="0"/>
              </a:rPr>
              <a:t>   National  University</a:t>
            </a:r>
          </a:p>
        </p:txBody>
      </p:sp>
      <p:sp>
        <p:nvSpPr>
          <p:cNvPr id="1044" name="Rectangle 20"/>
          <p:cNvSpPr>
            <a:spLocks noChangeArrowheads="1"/>
          </p:cNvSpPr>
          <p:nvPr userDrawn="1"/>
        </p:nvSpPr>
        <p:spPr bwMode="auto">
          <a:xfrm>
            <a:off x="2268538" y="6481763"/>
            <a:ext cx="2620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2AA25058-8FFF-4F74-AC89-A0D78B98687C}" type="slidenum">
              <a:rPr lang="en-US" altLang="ko-KR" sz="1400">
                <a:latin typeface="HY헤드라인M" pitchFamily="18" charset="-127"/>
                <a:ea typeface="HY헤드라인M" pitchFamily="18" charset="-127"/>
              </a:rPr>
              <a:pPr algn="r">
                <a:defRPr/>
              </a:pPr>
              <a:t>‹#›</a:t>
            </a:fld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2" name="_x72262912" descr="EMB000009506a6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01000" y="6215063"/>
            <a:ext cx="64293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5" descr="c22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0" y="2774950"/>
            <a:ext cx="9144000" cy="163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0" y="2492375"/>
            <a:ext cx="9144000" cy="282575"/>
          </a:xfrm>
          <a:prstGeom prst="rect">
            <a:avLst/>
          </a:prstGeom>
          <a:solidFill>
            <a:srgbClr val="B9D5C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0" y="4359275"/>
            <a:ext cx="9144000" cy="282575"/>
          </a:xfrm>
          <a:prstGeom prst="rect">
            <a:avLst/>
          </a:prstGeom>
          <a:solidFill>
            <a:srgbClr val="5F9B8B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31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500063" y="928688"/>
            <a:ext cx="7772400" cy="1470025"/>
          </a:xfrm>
          <a:noFill/>
        </p:spPr>
        <p:txBody>
          <a:bodyPr/>
          <a:lstStyle/>
          <a:p>
            <a:pPr eaLnBrk="1" latinLnBrk="0" hangingPunct="1"/>
            <a:r>
              <a:rPr lang="ko-KR" altLang="en-US" sz="3200" dirty="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재무제표분석</a:t>
            </a:r>
            <a:endParaRPr lang="en-US" altLang="ko-KR" sz="3200" dirty="0" smtClean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1000125" y="1285875"/>
            <a:ext cx="7040563" cy="4430713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endParaRPr lang="ko-KR" alt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898650" y="1870075"/>
            <a:ext cx="623888" cy="638175"/>
          </a:xfrm>
          <a:prstGeom prst="rect">
            <a:avLst/>
          </a:prstGeom>
          <a:solidFill>
            <a:srgbClr val="544B6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ko-KR" sz="16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I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643188" y="1928813"/>
            <a:ext cx="4608512" cy="638175"/>
          </a:xfrm>
          <a:prstGeom prst="rect">
            <a:avLst/>
          </a:prstGeom>
          <a:solidFill>
            <a:srgbClr val="E8E6E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98000" anchor="ctr"/>
          <a:lstStyle/>
          <a:p>
            <a:pPr>
              <a:defRPr/>
            </a:pPr>
            <a:r>
              <a:rPr lang="ko-KR" altLang="en-US" sz="2000" dirty="0">
                <a:latin typeface="HY헤드라인M" pitchFamily="18" charset="-127"/>
                <a:ea typeface="HY헤드라인M" pitchFamily="18" charset="-127"/>
              </a:rPr>
              <a:t>재무제표분석의 개요</a:t>
            </a:r>
          </a:p>
        </p:txBody>
      </p:sp>
      <p:grpSp>
        <p:nvGrpSpPr>
          <p:cNvPr id="14341" name="그룹 15"/>
          <p:cNvGrpSpPr>
            <a:grpSpLocks/>
          </p:cNvGrpSpPr>
          <p:nvPr/>
        </p:nvGrpSpPr>
        <p:grpSpPr bwMode="auto">
          <a:xfrm>
            <a:off x="2647950" y="2981325"/>
            <a:ext cx="4603750" cy="447675"/>
            <a:chOff x="2719388" y="2667000"/>
            <a:chExt cx="4603750" cy="447675"/>
          </a:xfrm>
        </p:grpSpPr>
        <p:sp>
          <p:nvSpPr>
            <p:cNvPr id="33797" name="Rectangle 5"/>
            <p:cNvSpPr>
              <a:spLocks noChangeArrowheads="1"/>
            </p:cNvSpPr>
            <p:nvPr/>
          </p:nvSpPr>
          <p:spPr bwMode="auto">
            <a:xfrm>
              <a:off x="2719388" y="2667000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1</a:t>
              </a:r>
            </a:p>
          </p:txBody>
        </p:sp>
        <p:sp>
          <p:nvSpPr>
            <p:cNvPr id="33798" name="Rectangle 6"/>
            <p:cNvSpPr>
              <a:spLocks noChangeArrowheads="1"/>
            </p:cNvSpPr>
            <p:nvPr/>
          </p:nvSpPr>
          <p:spPr bwMode="auto">
            <a:xfrm>
              <a:off x="3479801" y="2667000"/>
              <a:ext cx="3843337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자본시장과 재무제표</a:t>
              </a:r>
            </a:p>
          </p:txBody>
        </p:sp>
      </p:grpSp>
      <p:grpSp>
        <p:nvGrpSpPr>
          <p:cNvPr id="14342" name="그룹 16"/>
          <p:cNvGrpSpPr>
            <a:grpSpLocks/>
          </p:cNvGrpSpPr>
          <p:nvPr/>
        </p:nvGrpSpPr>
        <p:grpSpPr bwMode="auto">
          <a:xfrm>
            <a:off x="2627313" y="3644900"/>
            <a:ext cx="4603750" cy="447675"/>
            <a:chOff x="2719388" y="3275013"/>
            <a:chExt cx="4603750" cy="447675"/>
          </a:xfrm>
        </p:grpSpPr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2719388" y="3275013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>
                  <a:latin typeface="HY헤드라인M" pitchFamily="18" charset="-127"/>
                  <a:ea typeface="HY헤드라인M" pitchFamily="18" charset="-127"/>
                </a:rPr>
                <a:t>2</a:t>
              </a:r>
            </a:p>
          </p:txBody>
        </p:sp>
        <p:sp>
          <p:nvSpPr>
            <p:cNvPr id="33800" name="Rectangle 8"/>
            <p:cNvSpPr>
              <a:spLocks noChangeArrowheads="1"/>
            </p:cNvSpPr>
            <p:nvPr/>
          </p:nvSpPr>
          <p:spPr bwMode="auto">
            <a:xfrm>
              <a:off x="3479800" y="3275013"/>
              <a:ext cx="3843338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재무제표분석의 의의와 목적</a:t>
              </a:r>
            </a:p>
          </p:txBody>
        </p:sp>
      </p:grpSp>
      <p:grpSp>
        <p:nvGrpSpPr>
          <p:cNvPr id="14343" name="그룹 17"/>
          <p:cNvGrpSpPr>
            <a:grpSpLocks/>
          </p:cNvGrpSpPr>
          <p:nvPr/>
        </p:nvGrpSpPr>
        <p:grpSpPr bwMode="auto">
          <a:xfrm>
            <a:off x="2627313" y="4349750"/>
            <a:ext cx="4603750" cy="447675"/>
            <a:chOff x="2719388" y="3881438"/>
            <a:chExt cx="4603750" cy="447675"/>
          </a:xfrm>
        </p:grpSpPr>
        <p:sp>
          <p:nvSpPr>
            <p:cNvPr id="33801" name="Rectangle 9"/>
            <p:cNvSpPr>
              <a:spLocks noChangeArrowheads="1"/>
            </p:cNvSpPr>
            <p:nvPr/>
          </p:nvSpPr>
          <p:spPr bwMode="auto">
            <a:xfrm>
              <a:off x="2719388" y="3881438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3</a:t>
              </a:r>
            </a:p>
          </p:txBody>
        </p:sp>
        <p:sp>
          <p:nvSpPr>
            <p:cNvPr id="33802" name="Rectangle 10"/>
            <p:cNvSpPr>
              <a:spLocks noChangeArrowheads="1"/>
            </p:cNvSpPr>
            <p:nvPr/>
          </p:nvSpPr>
          <p:spPr bwMode="auto">
            <a:xfrm>
              <a:off x="3479800" y="3881438"/>
              <a:ext cx="3843338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현대적 재무제표분석의 특징</a:t>
              </a:r>
            </a:p>
          </p:txBody>
        </p:sp>
      </p:grpSp>
      <p:sp>
        <p:nvSpPr>
          <p:cNvPr id="14344" name="Text Box 13"/>
          <p:cNvSpPr txBox="1">
            <a:spLocks noChangeArrowheads="1"/>
          </p:cNvSpPr>
          <p:nvPr/>
        </p:nvSpPr>
        <p:spPr bwMode="auto">
          <a:xfrm>
            <a:off x="174625" y="44450"/>
            <a:ext cx="7969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3600" tIns="46800" rIns="93600" bIns="46800">
            <a:spAutoFit/>
          </a:bodyPr>
          <a:lstStyle/>
          <a:p>
            <a:pPr algn="ctr" latinLnBrk="0"/>
            <a:r>
              <a:rPr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목차</a:t>
            </a:r>
          </a:p>
        </p:txBody>
      </p:sp>
      <p:grpSp>
        <p:nvGrpSpPr>
          <p:cNvPr id="14345" name="그룹 17"/>
          <p:cNvGrpSpPr>
            <a:grpSpLocks/>
          </p:cNvGrpSpPr>
          <p:nvPr/>
        </p:nvGrpSpPr>
        <p:grpSpPr bwMode="auto">
          <a:xfrm>
            <a:off x="2627313" y="5013325"/>
            <a:ext cx="4603750" cy="447675"/>
            <a:chOff x="2719388" y="3881438"/>
            <a:chExt cx="4603750" cy="447675"/>
          </a:xfrm>
        </p:grpSpPr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2719388" y="3881438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4</a:t>
              </a:r>
            </a:p>
          </p:txBody>
        </p:sp>
        <p:sp>
          <p:nvSpPr>
            <p:cNvPr id="38" name="Rectangle 10"/>
            <p:cNvSpPr>
              <a:spLocks noChangeArrowheads="1"/>
            </p:cNvSpPr>
            <p:nvPr/>
          </p:nvSpPr>
          <p:spPr bwMode="auto">
            <a:xfrm>
              <a:off x="3479800" y="3881438"/>
              <a:ext cx="3843338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재무제표를 이용한 기업분석의 틀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2"/>
          <p:cNvSpPr>
            <a:spLocks noChangeArrowheads="1"/>
          </p:cNvSpPr>
          <p:nvPr/>
        </p:nvSpPr>
        <p:spPr bwMode="auto">
          <a:xfrm>
            <a:off x="395288" y="692150"/>
            <a:ext cx="2881312" cy="504825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정의 및 역할</a:t>
            </a:r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1481138" y="71438"/>
            <a:ext cx="4019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자본시장과 재무제표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754063" y="1752600"/>
            <a:ext cx="1873250" cy="436563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재무제표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754063" y="2205038"/>
            <a:ext cx="7994650" cy="1079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재무제표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(financial statements)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기업의 경제적 활동의 여러 측면을 재무정보의 형태로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요약한 재무보고서로서 기업의 경영자가 외부의 투자자들에게 경영활동에 관한 정보를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제공하는 주된 수단이다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766763" y="3429000"/>
            <a:ext cx="1898650" cy="436563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재무제표의 역할</a:t>
            </a: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1293813" y="5516563"/>
            <a:ext cx="5581650" cy="64928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·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투자중개기관 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자산운용사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펀드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),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투자자문사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은행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보험회사 등</a:t>
            </a:r>
            <a:endParaRPr lang="en-US" altLang="ko-KR" sz="12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·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정보중개기관 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외부감사인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애널리스트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신용평가기관</a:t>
            </a:r>
            <a:r>
              <a:rPr lang="en-US" altLang="ko-KR" sz="12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200">
                <a:latin typeface="HY헤드라인M" pitchFamily="18" charset="-127"/>
                <a:ea typeface="HY헤드라인M" pitchFamily="18" charset="-127"/>
              </a:rPr>
              <a:t>경제신문 등</a:t>
            </a:r>
            <a:endParaRPr lang="en-US" altLang="ko-KR" sz="1200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15368" name="그룹 21"/>
          <p:cNvGrpSpPr>
            <a:grpSpLocks/>
          </p:cNvGrpSpPr>
          <p:nvPr/>
        </p:nvGrpSpPr>
        <p:grpSpPr bwMode="auto">
          <a:xfrm>
            <a:off x="1403350" y="4005263"/>
            <a:ext cx="6481763" cy="1368425"/>
            <a:chOff x="1259632" y="4077072"/>
            <a:chExt cx="4824536" cy="1368152"/>
          </a:xfrm>
        </p:grpSpPr>
        <p:sp>
          <p:nvSpPr>
            <p:cNvPr id="15369" name="Rectangle 14"/>
            <p:cNvSpPr>
              <a:spLocks noChangeArrowheads="1"/>
            </p:cNvSpPr>
            <p:nvPr/>
          </p:nvSpPr>
          <p:spPr bwMode="auto">
            <a:xfrm>
              <a:off x="1259632" y="4077072"/>
              <a:ext cx="1512168" cy="136815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50000">
                  <a:srgbClr val="FAF5FF"/>
                </a:gs>
                <a:gs pos="100000">
                  <a:srgbClr val="FFC000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ko-KR" altLang="en-US" sz="1600">
                  <a:latin typeface="HY헤드라인M" pitchFamily="18" charset="-127"/>
                  <a:ea typeface="HY헤드라인M" pitchFamily="18" charset="-127"/>
                </a:rPr>
                <a:t>기업</a:t>
              </a:r>
              <a:endParaRPr lang="en-US" altLang="ko-KR" sz="1600">
                <a:latin typeface="HY헤드라인M" pitchFamily="18" charset="-127"/>
                <a:ea typeface="HY헤드라인M" pitchFamily="18" charset="-127"/>
              </a:endParaRP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1600"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>
                  <a:latin typeface="HY헤드라인M" pitchFamily="18" charset="-127"/>
                  <a:ea typeface="HY헤드라인M" pitchFamily="18" charset="-127"/>
                </a:rPr>
                <a:t>자본수요자</a:t>
              </a:r>
              <a:r>
                <a:rPr lang="en-US" altLang="ko-KR" sz="1600">
                  <a:latin typeface="HY헤드라인M" pitchFamily="18" charset="-127"/>
                  <a:ea typeface="HY헤드라인M" pitchFamily="18" charset="-127"/>
                </a:rPr>
                <a:t>)</a:t>
              </a:r>
              <a:endParaRPr lang="ko-KR" altLang="en-US" sz="160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5370" name="Rectangle 14"/>
            <p:cNvSpPr>
              <a:spLocks noChangeArrowheads="1"/>
            </p:cNvSpPr>
            <p:nvPr/>
          </p:nvSpPr>
          <p:spPr bwMode="auto">
            <a:xfrm>
              <a:off x="4572000" y="4077072"/>
              <a:ext cx="1512168" cy="136815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50000">
                  <a:srgbClr val="FAF5FF"/>
                </a:gs>
                <a:gs pos="100000">
                  <a:srgbClr val="FFC000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ko-KR" altLang="en-US" sz="1600">
                  <a:latin typeface="HY헤드라인M" pitchFamily="18" charset="-127"/>
                  <a:ea typeface="HY헤드라인M" pitchFamily="18" charset="-127"/>
                </a:rPr>
                <a:t>투자자</a:t>
              </a:r>
              <a:endParaRPr lang="en-US" altLang="ko-KR" sz="1600">
                <a:latin typeface="HY헤드라인M" pitchFamily="18" charset="-127"/>
                <a:ea typeface="HY헤드라인M" pitchFamily="18" charset="-127"/>
              </a:endParaRP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1600"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>
                  <a:latin typeface="HY헤드라인M" pitchFamily="18" charset="-127"/>
                  <a:ea typeface="HY헤드라인M" pitchFamily="18" charset="-127"/>
                </a:rPr>
                <a:t>자본공급자</a:t>
              </a:r>
              <a:r>
                <a:rPr lang="en-US" altLang="ko-KR" sz="1600">
                  <a:latin typeface="HY헤드라인M" pitchFamily="18" charset="-127"/>
                  <a:ea typeface="HY헤드라인M" pitchFamily="18" charset="-127"/>
                </a:rPr>
                <a:t>)</a:t>
              </a:r>
              <a:endParaRPr lang="ko-KR" altLang="en-US" sz="160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오른쪽 화살표 12"/>
            <p:cNvSpPr/>
            <p:nvPr/>
          </p:nvSpPr>
          <p:spPr>
            <a:xfrm>
              <a:off x="2988336" y="5013510"/>
              <a:ext cx="1439208" cy="215857"/>
            </a:xfrm>
            <a:prstGeom prst="rightArrow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5" name="왼쪽 화살표 14"/>
            <p:cNvSpPr/>
            <p:nvPr/>
          </p:nvSpPr>
          <p:spPr>
            <a:xfrm>
              <a:off x="2988336" y="4292929"/>
              <a:ext cx="1439208" cy="215857"/>
            </a:xfrm>
            <a:prstGeom prst="leftArrow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5373" name="Rectangle 6"/>
            <p:cNvSpPr>
              <a:spLocks noChangeArrowheads="1"/>
            </p:cNvSpPr>
            <p:nvPr/>
          </p:nvSpPr>
          <p:spPr bwMode="auto">
            <a:xfrm>
              <a:off x="3109437" y="4077072"/>
              <a:ext cx="1152128" cy="2160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marL="190500" lvl="1" algn="dist">
                <a:lnSpc>
                  <a:spcPct val="90000"/>
                </a:lnSpc>
                <a:spcBef>
                  <a:spcPct val="50000"/>
                </a:spcBef>
              </a:pPr>
              <a:r>
                <a:rPr lang="ko-KR" altLang="en-US" sz="1200">
                  <a:latin typeface="HY헤드라인M" pitchFamily="18" charset="-127"/>
                  <a:ea typeface="HY헤드라인M" pitchFamily="18" charset="-127"/>
                </a:rPr>
                <a:t>투자중개기관 </a:t>
              </a:r>
              <a:endParaRPr lang="en-US" altLang="ko-KR" sz="120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5374" name="Rectangle 6"/>
            <p:cNvSpPr>
              <a:spLocks noChangeArrowheads="1"/>
            </p:cNvSpPr>
            <p:nvPr/>
          </p:nvSpPr>
          <p:spPr bwMode="auto">
            <a:xfrm>
              <a:off x="3377467" y="4509120"/>
              <a:ext cx="1152128" cy="2160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marL="190500" lvl="1" algn="dist">
                <a:lnSpc>
                  <a:spcPct val="90000"/>
                </a:lnSpc>
                <a:spcBef>
                  <a:spcPct val="50000"/>
                </a:spcBef>
              </a:pPr>
              <a:r>
                <a:rPr lang="ko-KR" altLang="en-US" sz="1200">
                  <a:latin typeface="HY헤드라인M" pitchFamily="18" charset="-127"/>
                  <a:ea typeface="HY헤드라인M" pitchFamily="18" charset="-127"/>
                </a:rPr>
                <a:t>자  본</a:t>
              </a:r>
              <a:endParaRPr lang="en-US" altLang="ko-KR" sz="120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5375" name="Rectangle 6"/>
            <p:cNvSpPr>
              <a:spLocks noChangeArrowheads="1"/>
            </p:cNvSpPr>
            <p:nvPr/>
          </p:nvSpPr>
          <p:spPr bwMode="auto">
            <a:xfrm>
              <a:off x="3270255" y="4869160"/>
              <a:ext cx="1152128" cy="2160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marL="190500" lvl="1" algn="dist">
                <a:lnSpc>
                  <a:spcPct val="90000"/>
                </a:lnSpc>
                <a:spcBef>
                  <a:spcPct val="50000"/>
                </a:spcBef>
              </a:pPr>
              <a:r>
                <a:rPr lang="ko-KR" altLang="en-US" sz="1200">
                  <a:latin typeface="HY헤드라인M" pitchFamily="18" charset="-127"/>
                  <a:ea typeface="HY헤드라인M" pitchFamily="18" charset="-127"/>
                </a:rPr>
                <a:t>재무제표</a:t>
              </a:r>
              <a:endParaRPr lang="en-US" altLang="ko-KR" sz="120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5376" name="Rectangle 6"/>
            <p:cNvSpPr>
              <a:spLocks noChangeArrowheads="1"/>
            </p:cNvSpPr>
            <p:nvPr/>
          </p:nvSpPr>
          <p:spPr bwMode="auto">
            <a:xfrm>
              <a:off x="3163043" y="5229200"/>
              <a:ext cx="1152128" cy="2160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marL="190500" lvl="1" algn="dist">
                <a:lnSpc>
                  <a:spcPct val="90000"/>
                </a:lnSpc>
                <a:spcBef>
                  <a:spcPct val="50000"/>
                </a:spcBef>
              </a:pPr>
              <a:r>
                <a:rPr lang="ko-KR" altLang="en-US" sz="1200">
                  <a:latin typeface="HY헤드라인M" pitchFamily="18" charset="-127"/>
                  <a:ea typeface="HY헤드라인M" pitchFamily="18" charset="-127"/>
                </a:rPr>
                <a:t>정보중개기관</a:t>
              </a:r>
              <a:endParaRPr lang="en-US" altLang="ko-KR" sz="120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재무제표분석</a:t>
            </a:r>
          </a:p>
        </p:txBody>
      </p:sp>
      <p:sp>
        <p:nvSpPr>
          <p:cNvPr id="16387" name="Rectangle 24"/>
          <p:cNvSpPr>
            <a:spLocks noChangeArrowheads="1"/>
          </p:cNvSpPr>
          <p:nvPr/>
        </p:nvSpPr>
        <p:spPr bwMode="auto">
          <a:xfrm>
            <a:off x="455613" y="71438"/>
            <a:ext cx="5045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재무제표분석의 의의와 목적</a:t>
            </a:r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>
            <a:off x="539750" y="1700213"/>
            <a:ext cx="8280400" cy="2881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재무제표분석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(financial statement analysis)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이란 재무제표에서 기업의 경영성과와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재무상태에 관한 정보와 현금흐름 정보를 추출하여 해석하는 것이다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재무제표에는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기업의 경영활동에 관한 정보가 포함되어 있으므로 기업 외부의 투자자와 투자중개기관이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기업에 대한 투자기회를 평가하기 위해서는 투자대상기업의 재무제표를 분석할 필요가 있다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재무제표를 효과적으로 분석하기 위해서는 산업분석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기업전략분석과 같은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질적분석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(qualitative analysis)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도 수행되어야 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따라서 재무제표분석이란 재무제표정보를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통해 기업의 경영활동의 결과를 해석하려는 것이라고 할 수있다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이러한 의미에서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재무제표분석은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경영분석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(business analysis)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이라고도 부른다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4"/>
          <p:cNvSpPr>
            <a:spLocks noChangeArrowheads="1"/>
          </p:cNvSpPr>
          <p:nvPr/>
        </p:nvSpPr>
        <p:spPr bwMode="auto">
          <a:xfrm>
            <a:off x="455613" y="71438"/>
            <a:ext cx="5045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재무제표분석의 의의와 목적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재무제표분석의 주체와 목적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4213" y="1484313"/>
            <a:ext cx="237490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기업 외부의 분석주체</a:t>
            </a: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611188" y="2060575"/>
            <a:ext cx="7858125" cy="37449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①주식투자자 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재무분석가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주식투자자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기업이 발행한 주식의 가치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(intrinsic value)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를 평가하여 현재의 주식가격과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비교함으로써 주식의 매수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매각 또는 계속 보유의 의사결정 하기 위해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재무분석가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투자자의 의사결정을 지원하기 위해서 주식가치 평가업무를 수행하며 이를 위해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기업의 재무제표를 분석한다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②회사채투자자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 ·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금융기관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 ·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신용평가기관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회사채투자자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기업이 발행한 회사채의 가치를 평가하여 현재의 회사채 가격과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비교함으로써 회사채의 매수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매각 또는 계속보유의 의사결정을 하기 위해 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금융기관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차입하는 기업의 신용위험을 평가하기 위해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그리고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신용평가기관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기업어음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(CP)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과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회사채의 신용위험을 평가하여 신용등급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(credit rating)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정보를 제공하기 위해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재무제표를 분석한다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4"/>
          <p:cNvSpPr>
            <a:spLocks noChangeArrowheads="1"/>
          </p:cNvSpPr>
          <p:nvPr/>
        </p:nvSpPr>
        <p:spPr bwMode="auto">
          <a:xfrm>
            <a:off x="455613" y="71438"/>
            <a:ext cx="5045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재무제표분석의 의의와 목적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재무제표분석의 주체와 목적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684213" y="1628775"/>
            <a:ext cx="3300412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기업 내부의 분석주체</a:t>
            </a:r>
            <a:r>
              <a:rPr lang="en-US" altLang="ko-KR" sz="190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경영자</a:t>
            </a: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684213" y="2097088"/>
            <a:ext cx="7920037" cy="284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경영자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 내의 경제적 자원을 운용하는 주체로서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기업경영에 필요한 정보를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얻기 위하여 재무제표분석을 수행한다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marL="190500" lvl="1"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자사의 경영성과와 재무상태를 파악하기 위해 자사의 재무제표 분석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타기업과의 경쟁에 대처하기 위해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경쟁기업의 재무제표 분석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매수대상기업의 소유권기차를 평가하기 위해 매수대상기업의 재무제표 분석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spcBef>
                <a:spcPct val="50000"/>
              </a:spcBef>
            </a:pP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spcBef>
                <a:spcPct val="50000"/>
              </a:spcBef>
            </a:pPr>
            <a:r>
              <a:rPr lang="ko-KR" altLang="en-US">
                <a:latin typeface="HY헤드라인M" pitchFamily="18" charset="-127"/>
                <a:ea typeface="HY헤드라인M" pitchFamily="18" charset="-127"/>
              </a:rPr>
              <a:t>→기업의 가치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(value of the firm)</a:t>
            </a:r>
            <a:r>
              <a:rPr lang="en-US" altLang="ko-KR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>
                <a:latin typeface="HY헤드라인M" pitchFamily="18" charset="-127"/>
                <a:ea typeface="HY헤드라인M" pitchFamily="18" charset="-127"/>
              </a:rPr>
              <a:t>또는 주주지분가치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(value of equity)</a:t>
            </a:r>
            <a:r>
              <a:rPr lang="ko-KR" altLang="en-US">
                <a:latin typeface="HY헤드라인M" pitchFamily="18" charset="-127"/>
                <a:ea typeface="HY헤드라인M" pitchFamily="18" charset="-127"/>
              </a:rPr>
              <a:t>의 증대</a:t>
            </a:r>
            <a:endParaRPr lang="en-US" altLang="ko-KR"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4"/>
          <p:cNvSpPr>
            <a:spLocks noChangeArrowheads="1"/>
          </p:cNvSpPr>
          <p:nvPr/>
        </p:nvSpPr>
        <p:spPr bwMode="auto">
          <a:xfrm>
            <a:off x="455613" y="71438"/>
            <a:ext cx="5045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3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현대적 재무제표분석의 특징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현대적 재무제표분석의 특징</a:t>
            </a:r>
          </a:p>
        </p:txBody>
      </p:sp>
      <p:sp>
        <p:nvSpPr>
          <p:cNvPr id="19460" name="Rectangle 14"/>
          <p:cNvSpPr>
            <a:spLocks noChangeArrowheads="1"/>
          </p:cNvSpPr>
          <p:nvPr/>
        </p:nvSpPr>
        <p:spPr bwMode="auto">
          <a:xfrm>
            <a:off x="611188" y="2133600"/>
            <a:ext cx="2232025" cy="2590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AF5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latin typeface="HY헤드라인M" pitchFamily="18" charset="-127"/>
                <a:ea typeface="HY헤드라인M" pitchFamily="18" charset="-127"/>
              </a:rPr>
              <a:t>전통적 재무제표분석</a:t>
            </a:r>
            <a:endParaRPr lang="en-US" altLang="ko-KR">
              <a:latin typeface="HY헤드라인M" pitchFamily="18" charset="-127"/>
              <a:ea typeface="HY헤드라인M" pitchFamily="18" charset="-127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통합적 비율분석의 미흡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영업수익성 분석의 미흡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)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비율분석에만 의존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현금흐름분석의 미흡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질적 분석의 미흡</a:t>
            </a:r>
          </a:p>
        </p:txBody>
      </p:sp>
      <p:sp>
        <p:nvSpPr>
          <p:cNvPr id="19461" name="Rectangle 15"/>
          <p:cNvSpPr>
            <a:spLocks noChangeArrowheads="1"/>
          </p:cNvSpPr>
          <p:nvPr/>
        </p:nvSpPr>
        <p:spPr bwMode="auto">
          <a:xfrm>
            <a:off x="6084888" y="2133600"/>
            <a:ext cx="2303462" cy="2590800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rgbClr val="FFFAF5"/>
              </a:gs>
              <a:gs pos="100000">
                <a:srgbClr val="FFCC99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latinLnBrk="0">
              <a:lnSpc>
                <a:spcPct val="150000"/>
              </a:lnSpc>
            </a:pPr>
            <a:r>
              <a:rPr lang="ko-KR" altLang="en-US">
                <a:latin typeface="HY헤드라인M" pitchFamily="18" charset="-127"/>
                <a:ea typeface="HY헤드라인M" pitchFamily="18" charset="-127"/>
              </a:rPr>
              <a:t>현대적 재무제표분석</a:t>
            </a:r>
            <a:endParaRPr lang="en-US" altLang="ko-KR">
              <a:latin typeface="HY헤드라인M" pitchFamily="18" charset="-127"/>
              <a:ea typeface="HY헤드라인M" pitchFamily="18" charset="-127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통합적 비율분석의 발전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영업수익성의 명료한 분석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초과이익와 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EVA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분석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현금흐름분석의 발전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질적 분석의 강조</a:t>
            </a:r>
          </a:p>
        </p:txBody>
      </p:sp>
      <p:sp>
        <p:nvSpPr>
          <p:cNvPr id="19462" name="Rectangle 14"/>
          <p:cNvSpPr>
            <a:spLocks noChangeArrowheads="1"/>
          </p:cNvSpPr>
          <p:nvPr/>
        </p:nvSpPr>
        <p:spPr bwMode="auto">
          <a:xfrm>
            <a:off x="3276600" y="2133600"/>
            <a:ext cx="2232025" cy="2590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AF5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기업가치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주식가치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)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 평가이론의 발전</a:t>
            </a:r>
          </a:p>
        </p:txBody>
      </p:sp>
      <p:sp>
        <p:nvSpPr>
          <p:cNvPr id="15" name="덧셈 기호 14"/>
          <p:cNvSpPr/>
          <p:nvPr/>
        </p:nvSpPr>
        <p:spPr>
          <a:xfrm>
            <a:off x="2843213" y="3213100"/>
            <a:ext cx="433387" cy="360363"/>
          </a:xfrm>
          <a:prstGeom prst="mathPlus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등호 16"/>
          <p:cNvSpPr/>
          <p:nvPr/>
        </p:nvSpPr>
        <p:spPr>
          <a:xfrm>
            <a:off x="5580063" y="3284538"/>
            <a:ext cx="431800" cy="288925"/>
          </a:xfrm>
          <a:prstGeom prst="mathEqual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AutoShape 3"/>
          <p:cNvSpPr>
            <a:spLocks noChangeArrowheads="1"/>
          </p:cNvSpPr>
          <p:nvPr/>
        </p:nvSpPr>
        <p:spPr bwMode="auto">
          <a:xfrm>
            <a:off x="603250" y="776288"/>
            <a:ext cx="5840413" cy="492125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재무제표를 이용한 기업분석의 틀과 의사결정상황</a:t>
            </a:r>
          </a:p>
        </p:txBody>
      </p:sp>
      <p:sp>
        <p:nvSpPr>
          <p:cNvPr id="20483" name="Rectangle 24"/>
          <p:cNvSpPr>
            <a:spLocks noChangeArrowheads="1"/>
          </p:cNvSpPr>
          <p:nvPr/>
        </p:nvSpPr>
        <p:spPr bwMode="auto">
          <a:xfrm>
            <a:off x="33338" y="71438"/>
            <a:ext cx="5762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4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재무제표를 이용한 기업분석의 틀</a:t>
            </a:r>
          </a:p>
        </p:txBody>
      </p:sp>
      <p:grpSp>
        <p:nvGrpSpPr>
          <p:cNvPr id="20484" name="그룹 38"/>
          <p:cNvGrpSpPr>
            <a:grpSpLocks/>
          </p:cNvGrpSpPr>
          <p:nvPr/>
        </p:nvGrpSpPr>
        <p:grpSpPr bwMode="auto">
          <a:xfrm>
            <a:off x="539750" y="1557338"/>
            <a:ext cx="7632700" cy="4319587"/>
            <a:chOff x="539553" y="1205386"/>
            <a:chExt cx="7931150" cy="4665663"/>
          </a:xfrm>
        </p:grpSpPr>
        <p:grpSp>
          <p:nvGrpSpPr>
            <p:cNvPr id="20487" name="Group 30"/>
            <p:cNvGrpSpPr>
              <a:grpSpLocks/>
            </p:cNvGrpSpPr>
            <p:nvPr/>
          </p:nvGrpSpPr>
          <p:grpSpPr bwMode="auto">
            <a:xfrm>
              <a:off x="539553" y="1205386"/>
              <a:ext cx="7931150" cy="4665663"/>
              <a:chOff x="340" y="759"/>
              <a:chExt cx="4996" cy="2939"/>
            </a:xfrm>
          </p:grpSpPr>
          <p:sp>
            <p:nvSpPr>
              <p:cNvPr id="35842" name="Rectangle 2"/>
              <p:cNvSpPr>
                <a:spLocks noChangeArrowheads="1"/>
              </p:cNvSpPr>
              <p:nvPr/>
            </p:nvSpPr>
            <p:spPr bwMode="auto">
              <a:xfrm>
                <a:off x="340" y="759"/>
                <a:ext cx="4996" cy="293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 wrap="none" lIns="93600" tIns="46800" rIns="93600" bIns="46800" anchor="ctr"/>
              <a:lstStyle/>
              <a:p>
                <a:pPr>
                  <a:defRPr/>
                </a:pPr>
                <a:endParaRPr lang="ko-KR" altLang="en-US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0494" name="Rectangle 5"/>
              <p:cNvSpPr>
                <a:spLocks noChangeArrowheads="1"/>
              </p:cNvSpPr>
              <p:nvPr/>
            </p:nvSpPr>
            <p:spPr bwMode="auto">
              <a:xfrm>
                <a:off x="476" y="1253"/>
                <a:ext cx="1134" cy="1247"/>
              </a:xfrm>
              <a:prstGeom prst="rect">
                <a:avLst/>
              </a:prstGeom>
              <a:gradFill rotWithShape="1">
                <a:gsLst>
                  <a:gs pos="0">
                    <a:srgbClr val="CC99FF"/>
                  </a:gs>
                  <a:gs pos="50000">
                    <a:srgbClr val="FAF5FF"/>
                  </a:gs>
                  <a:gs pos="100000">
                    <a:srgbClr val="CC99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3600" tIns="46800" rIns="93600" bIns="46800" anchor="ctr"/>
              <a:lstStyle/>
              <a:p>
                <a:pPr algn="ctr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재무실적의 분석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algn="ctr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수익성분석</a:t>
                </a:r>
                <a:endParaRPr lang="en-US" altLang="ko-KR" sz="1200">
                  <a:latin typeface="HY헤드라인M" pitchFamily="18" charset="-127"/>
                  <a:ea typeface="HY헤드라인M" pitchFamily="18" charset="-127"/>
                </a:endParaRPr>
              </a:p>
              <a:p>
                <a:pPr algn="ctr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재무위험분석</a:t>
                </a:r>
                <a:endParaRPr lang="en-US" altLang="ko-KR" sz="1200">
                  <a:latin typeface="HY헤드라인M" pitchFamily="18" charset="-127"/>
                  <a:ea typeface="HY헤드라인M" pitchFamily="18" charset="-127"/>
                </a:endParaRPr>
              </a:p>
              <a:p>
                <a:pPr algn="ctr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현금흐름분석</a:t>
                </a:r>
                <a:endParaRPr lang="en-US" altLang="ko-KR" sz="1200">
                  <a:latin typeface="HY헤드라인M" pitchFamily="18" charset="-127"/>
                  <a:ea typeface="HY헤드라인M" pitchFamily="18" charset="-127"/>
                </a:endParaRPr>
              </a:p>
              <a:p>
                <a:pPr algn="ctr">
                  <a:spcBef>
                    <a:spcPct val="50000"/>
                  </a:spcBef>
                  <a:buFont typeface="Wingdings" pitchFamily="2" charset="2"/>
                  <a:buNone/>
                </a:pP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algn="ctr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기업의 회계정책분석</a:t>
                </a:r>
              </a:p>
            </p:txBody>
          </p:sp>
          <p:sp>
            <p:nvSpPr>
              <p:cNvPr id="20495" name="Rectangle 11"/>
              <p:cNvSpPr>
                <a:spLocks noChangeArrowheads="1"/>
              </p:cNvSpPr>
              <p:nvPr/>
            </p:nvSpPr>
            <p:spPr bwMode="auto">
              <a:xfrm>
                <a:off x="1882" y="1253"/>
                <a:ext cx="1192" cy="1247"/>
              </a:xfrm>
              <a:prstGeom prst="rect">
                <a:avLst/>
              </a:prstGeom>
              <a:gradFill rotWithShape="1">
                <a:gsLst>
                  <a:gs pos="0">
                    <a:srgbClr val="CC99FF"/>
                  </a:gs>
                  <a:gs pos="50000">
                    <a:srgbClr val="FAF5FF"/>
                  </a:gs>
                  <a:gs pos="100000">
                    <a:srgbClr val="CC99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3600" tIns="46800" rIns="93600" bIns="46800" anchor="ctr"/>
              <a:lstStyle/>
              <a:p>
                <a:pPr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미래 예측과 가치평가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미래 성과의 예측</a:t>
                </a:r>
                <a:endParaRPr lang="en-US" altLang="ko-KR" sz="1200">
                  <a:latin typeface="HY헤드라인M" pitchFamily="18" charset="-127"/>
                  <a:ea typeface="HY헤드라인M" pitchFamily="18" charset="-127"/>
                </a:endParaRPr>
              </a:p>
              <a:p>
                <a:pPr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  (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추정재무제표 작성</a:t>
                </a: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)</a:t>
                </a:r>
              </a:p>
              <a:p>
                <a:pPr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기업가치</a:t>
                </a: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(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주식가치</a:t>
                </a:r>
                <a:r>
                  <a:rPr lang="en-US" altLang="ko-KR" sz="1200">
                    <a:latin typeface="HY헤드라인M" pitchFamily="18" charset="-127"/>
                    <a:ea typeface="HY헤드라인M" pitchFamily="18" charset="-127"/>
                  </a:rPr>
                  <a:t>)</a:t>
                </a:r>
              </a:p>
              <a:p>
                <a:pPr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   평가</a:t>
                </a:r>
              </a:p>
            </p:txBody>
          </p:sp>
          <p:sp>
            <p:nvSpPr>
              <p:cNvPr id="20496" name="Rectangle 15"/>
              <p:cNvSpPr>
                <a:spLocks noChangeArrowheads="1"/>
              </p:cNvSpPr>
              <p:nvPr/>
            </p:nvSpPr>
            <p:spPr bwMode="auto">
              <a:xfrm>
                <a:off x="3379" y="1253"/>
                <a:ext cx="1814" cy="2132"/>
              </a:xfrm>
              <a:prstGeom prst="rect">
                <a:avLst/>
              </a:prstGeom>
              <a:gradFill rotWithShape="1">
                <a:gsLst>
                  <a:gs pos="0">
                    <a:srgbClr val="FFCC99"/>
                  </a:gs>
                  <a:gs pos="50000">
                    <a:srgbClr val="FFFAF5"/>
                  </a:gs>
                  <a:gs pos="100000">
                    <a:srgbClr val="FFCC99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3600" tIns="46800" rIns="93600" bIns="46800" anchor="ctr"/>
              <a:lstStyle/>
              <a:p>
                <a:pPr latinLnBrk="0">
                  <a:lnSpc>
                    <a:spcPct val="150000"/>
                  </a:lnSpc>
                </a:pPr>
                <a:r>
                  <a:rPr lang="ko-KR" altLang="en-US" sz="1600">
                    <a:latin typeface="HY헤드라인M" pitchFamily="18" charset="-127"/>
                    <a:ea typeface="HY헤드라인M" pitchFamily="18" charset="-127"/>
                  </a:rPr>
                  <a:t>재무분석과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 </a:t>
                </a:r>
                <a:r>
                  <a:rPr lang="ko-KR" altLang="en-US" sz="1600">
                    <a:latin typeface="HY헤드라인M" pitchFamily="18" charset="-127"/>
                    <a:ea typeface="HY헤드라인M" pitchFamily="18" charset="-127"/>
                  </a:rPr>
                  <a:t>가치평가의</a:t>
                </a:r>
                <a:r>
                  <a:rPr lang="ko-KR" altLang="en-US" sz="1200">
                    <a:latin typeface="HY헤드라인M" pitchFamily="18" charset="-127"/>
                    <a:ea typeface="HY헤드라인M" pitchFamily="18" charset="-127"/>
                  </a:rPr>
                  <a:t> </a:t>
                </a:r>
                <a:r>
                  <a:rPr lang="ko-KR" altLang="en-US" sz="1600">
                    <a:latin typeface="HY헤드라인M" pitchFamily="18" charset="-127"/>
                    <a:ea typeface="HY헤드라인M" pitchFamily="18" charset="-127"/>
                  </a:rPr>
                  <a:t>활용</a:t>
                </a:r>
                <a:endParaRPr lang="en-US" altLang="ko-KR" sz="1200">
                  <a:latin typeface="HY헤드라인M" pitchFamily="18" charset="-127"/>
                  <a:ea typeface="HY헤드라인M" pitchFamily="18" charset="-127"/>
                </a:endParaRP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증권분석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신규 공모주</a:t>
                </a: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 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분석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신용위험분석</a:t>
                </a: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(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신용등급평가</a:t>
                </a: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)</a:t>
                </a: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기업부실예측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·M&amp;A 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분석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·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경영자의 경영전략과 </a:t>
                </a:r>
                <a:endParaRPr lang="en-US" altLang="ko-KR" sz="1400">
                  <a:latin typeface="HY헤드라인M" pitchFamily="18" charset="-127"/>
                  <a:ea typeface="HY헤드라인M" pitchFamily="18" charset="-127"/>
                </a:endParaRPr>
              </a:p>
              <a:p>
                <a:pPr latinLnBrk="0">
                  <a:lnSpc>
                    <a:spcPct val="150000"/>
                  </a:lnSpc>
                </a:pPr>
                <a:r>
                  <a:rPr lang="en-US" altLang="ko-KR" sz="1400">
                    <a:latin typeface="HY헤드라인M" pitchFamily="18" charset="-127"/>
                    <a:ea typeface="HY헤드라인M" pitchFamily="18" charset="-127"/>
                  </a:rPr>
                  <a:t>    </a:t>
                </a:r>
                <a:r>
                  <a:rPr lang="ko-KR" altLang="en-US" sz="1400">
                    <a:latin typeface="HY헤드라인M" pitchFamily="18" charset="-127"/>
                    <a:ea typeface="HY헤드라인M" pitchFamily="18" charset="-127"/>
                  </a:rPr>
                  <a:t>경영계획 수립</a:t>
                </a:r>
              </a:p>
            </p:txBody>
          </p:sp>
          <p:sp>
            <p:nvSpPr>
              <p:cNvPr id="20497" name="AutoShape 6"/>
              <p:cNvSpPr>
                <a:spLocks noChangeArrowheads="1"/>
              </p:cNvSpPr>
              <p:nvPr/>
            </p:nvSpPr>
            <p:spPr bwMode="auto">
              <a:xfrm>
                <a:off x="1655" y="1888"/>
                <a:ext cx="227" cy="136"/>
              </a:xfrm>
              <a:prstGeom prst="rightArrow">
                <a:avLst>
                  <a:gd name="adj1" fmla="val 50000"/>
                  <a:gd name="adj2" fmla="val 29789"/>
                </a:avLst>
              </a:prstGeom>
              <a:gradFill rotWithShape="1">
                <a:gsLst>
                  <a:gs pos="0">
                    <a:srgbClr val="D7D7FF"/>
                  </a:gs>
                  <a:gs pos="100000">
                    <a:srgbClr val="0000FF"/>
                  </a:gs>
                </a:gsLst>
                <a:lin ang="0" scaled="1"/>
              </a:gradFill>
              <a:ln w="12700">
                <a:noFill/>
                <a:miter lim="800000"/>
                <a:headEnd/>
                <a:tailEnd/>
              </a:ln>
            </p:spPr>
            <p:txBody>
              <a:bodyPr wrap="none" lIns="93600" tIns="46800" rIns="93600" bIns="46800" anchor="ctr"/>
              <a:lstStyle/>
              <a:p>
                <a:endParaRPr lang="ko-KR" altLang="en-US"/>
              </a:p>
            </p:txBody>
          </p:sp>
        </p:grpSp>
        <p:sp>
          <p:nvSpPr>
            <p:cNvPr id="20488" name="Rectangle 14"/>
            <p:cNvSpPr>
              <a:spLocks noChangeArrowheads="1"/>
            </p:cNvSpPr>
            <p:nvPr/>
          </p:nvSpPr>
          <p:spPr bwMode="auto">
            <a:xfrm>
              <a:off x="1043608" y="4581128"/>
              <a:ext cx="3528392" cy="864096"/>
            </a:xfrm>
            <a:prstGeom prst="rect">
              <a:avLst/>
            </a:prstGeom>
            <a:gradFill rotWithShape="1">
              <a:gsLst>
                <a:gs pos="0">
                  <a:srgbClr val="CC99FF"/>
                </a:gs>
                <a:gs pos="50000">
                  <a:srgbClr val="FAF5FF"/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ko-KR" altLang="en-US" sz="1400">
                  <a:latin typeface="HY헤드라인M" pitchFamily="18" charset="-127"/>
                  <a:ea typeface="HY헤드라인M" pitchFamily="18" charset="-127"/>
                </a:rPr>
                <a:t>분석대상기업의 사업에 대한 이해</a:t>
              </a:r>
              <a:endParaRPr lang="en-US" altLang="ko-KR" sz="1400">
                <a:latin typeface="HY헤드라인M" pitchFamily="18" charset="-127"/>
                <a:ea typeface="HY헤드라인M" pitchFamily="18" charset="-127"/>
              </a:endParaRPr>
            </a:p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1400"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400">
                  <a:latin typeface="HY헤드라인M" pitchFamily="18" charset="-127"/>
                  <a:ea typeface="HY헤드라인M" pitchFamily="18" charset="-127"/>
                </a:rPr>
                <a:t>산업분석과 경쟁전략분석</a:t>
              </a:r>
              <a:r>
                <a:rPr lang="en-US" altLang="ko-KR" sz="1400">
                  <a:latin typeface="HY헤드라인M" pitchFamily="18" charset="-127"/>
                  <a:ea typeface="HY헤드라인M" pitchFamily="18" charset="-127"/>
                </a:rPr>
                <a:t>)</a:t>
              </a:r>
              <a:endParaRPr lang="ko-KR" altLang="en-US" sz="1400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0489" name="AutoShape 6"/>
            <p:cNvSpPr>
              <a:spLocks noChangeArrowheads="1"/>
            </p:cNvSpPr>
            <p:nvPr/>
          </p:nvSpPr>
          <p:spPr bwMode="auto">
            <a:xfrm>
              <a:off x="4932040" y="3717032"/>
              <a:ext cx="360040" cy="216024"/>
            </a:xfrm>
            <a:prstGeom prst="rightArrow">
              <a:avLst>
                <a:gd name="adj1" fmla="val 50000"/>
                <a:gd name="adj2" fmla="val 29792"/>
              </a:avLst>
            </a:prstGeom>
            <a:gradFill rotWithShape="1">
              <a:gsLst>
                <a:gs pos="0">
                  <a:srgbClr val="D7D7FF"/>
                </a:gs>
                <a:gs pos="100000">
                  <a:srgbClr val="0000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endParaRPr lang="ko-KR" altLang="en-US"/>
            </a:p>
          </p:txBody>
        </p:sp>
        <p:sp>
          <p:nvSpPr>
            <p:cNvPr id="20490" name="AutoShape 6"/>
            <p:cNvSpPr>
              <a:spLocks noChangeArrowheads="1"/>
            </p:cNvSpPr>
            <p:nvPr/>
          </p:nvSpPr>
          <p:spPr bwMode="auto">
            <a:xfrm rot="-2892398">
              <a:off x="3563888" y="4149080"/>
              <a:ext cx="360040" cy="216024"/>
            </a:xfrm>
            <a:prstGeom prst="rightArrow">
              <a:avLst>
                <a:gd name="adj1" fmla="val 50000"/>
                <a:gd name="adj2" fmla="val 29792"/>
              </a:avLst>
            </a:prstGeom>
            <a:gradFill rotWithShape="1">
              <a:gsLst>
                <a:gs pos="0">
                  <a:srgbClr val="D7D7FF"/>
                </a:gs>
                <a:gs pos="100000">
                  <a:srgbClr val="0000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endParaRPr lang="ko-KR" altLang="en-US"/>
            </a:p>
          </p:txBody>
        </p:sp>
        <p:sp>
          <p:nvSpPr>
            <p:cNvPr id="20491" name="AutoShape 6"/>
            <p:cNvSpPr>
              <a:spLocks noChangeArrowheads="1"/>
            </p:cNvSpPr>
            <p:nvPr/>
          </p:nvSpPr>
          <p:spPr bwMode="auto">
            <a:xfrm rot="-7993429">
              <a:off x="1937621" y="4154125"/>
              <a:ext cx="360040" cy="216024"/>
            </a:xfrm>
            <a:prstGeom prst="rightArrow">
              <a:avLst>
                <a:gd name="adj1" fmla="val 50000"/>
                <a:gd name="adj2" fmla="val 29792"/>
              </a:avLst>
            </a:prstGeom>
            <a:gradFill rotWithShape="1">
              <a:gsLst>
                <a:gs pos="0">
                  <a:srgbClr val="D7D7FF"/>
                </a:gs>
                <a:gs pos="100000">
                  <a:srgbClr val="0000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endParaRPr lang="ko-KR" altLang="en-US"/>
            </a:p>
          </p:txBody>
        </p:sp>
        <p:sp>
          <p:nvSpPr>
            <p:cNvPr id="20492" name="AutoShape 6"/>
            <p:cNvSpPr>
              <a:spLocks noChangeArrowheads="1"/>
            </p:cNvSpPr>
            <p:nvPr/>
          </p:nvSpPr>
          <p:spPr bwMode="auto">
            <a:xfrm rot="-5400000">
              <a:off x="1583668" y="3320988"/>
              <a:ext cx="288032" cy="216024"/>
            </a:xfrm>
            <a:prstGeom prst="rightArrow">
              <a:avLst>
                <a:gd name="adj1" fmla="val 50000"/>
                <a:gd name="adj2" fmla="val 29790"/>
              </a:avLst>
            </a:prstGeom>
            <a:gradFill rotWithShape="1">
              <a:gsLst>
                <a:gs pos="0">
                  <a:srgbClr val="D7D7FF"/>
                </a:gs>
                <a:gs pos="100000">
                  <a:srgbClr val="0000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lIns="93600" tIns="46800" rIns="93600" bIns="46800" anchor="ctr"/>
            <a:lstStyle/>
            <a:p>
              <a:endParaRPr lang="ko-KR" altLang="en-US"/>
            </a:p>
          </p:txBody>
        </p:sp>
      </p:grp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971550" y="1844675"/>
            <a:ext cx="1152525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재무제표를 이용한 기업분석의 틀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5795963" y="1916113"/>
            <a:ext cx="1152525" cy="217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 algn="dist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의사결정상황</a:t>
            </a:r>
            <a:endParaRPr lang="en-US" altLang="ko-KR" sz="1200"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 descr="c22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0" y="2774950"/>
            <a:ext cx="9144000" cy="163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6"/>
          <p:cNvSpPr>
            <a:spLocks noChangeArrowheads="1"/>
          </p:cNvSpPr>
          <p:nvPr/>
        </p:nvSpPr>
        <p:spPr bwMode="auto">
          <a:xfrm>
            <a:off x="0" y="2492375"/>
            <a:ext cx="9144000" cy="282575"/>
          </a:xfrm>
          <a:prstGeom prst="rect">
            <a:avLst/>
          </a:prstGeom>
          <a:solidFill>
            <a:srgbClr val="B9D5C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08" name="Rectangle 7"/>
          <p:cNvSpPr>
            <a:spLocks noChangeArrowheads="1"/>
          </p:cNvSpPr>
          <p:nvPr/>
        </p:nvSpPr>
        <p:spPr bwMode="auto">
          <a:xfrm>
            <a:off x="0" y="4359275"/>
            <a:ext cx="9144000" cy="282575"/>
          </a:xfrm>
          <a:prstGeom prst="rect">
            <a:avLst/>
          </a:prstGeom>
          <a:solidFill>
            <a:srgbClr val="5F9B8B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0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500063" y="928688"/>
            <a:ext cx="7772400" cy="1470025"/>
          </a:xfrm>
          <a:noFill/>
        </p:spPr>
        <p:txBody>
          <a:bodyPr/>
          <a:lstStyle/>
          <a:p>
            <a:pPr eaLnBrk="1" latinLnBrk="0" hangingPunct="1"/>
            <a:r>
              <a:rPr lang="en-US" altLang="ko-KR" sz="320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lang="ko-KR" altLang="en-US" sz="3200" smtClean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장 재무제표의 체계와 비회계자료</a:t>
            </a:r>
            <a:endParaRPr lang="en-US" altLang="ko-KR" sz="3200" smtClean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000125" y="1285875"/>
            <a:ext cx="7040563" cy="4430713"/>
          </a:xfrm>
          <a:prstGeom prst="rect">
            <a:avLst/>
          </a:prstGeom>
          <a:solidFill>
            <a:srgbClr val="FFFFCC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endParaRPr lang="ko-KR" alt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898650" y="1870075"/>
            <a:ext cx="623888" cy="638175"/>
          </a:xfrm>
          <a:prstGeom prst="rect">
            <a:avLst/>
          </a:prstGeom>
          <a:solidFill>
            <a:srgbClr val="544B6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ko-KR" sz="16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643188" y="1928813"/>
            <a:ext cx="4608512" cy="638175"/>
          </a:xfrm>
          <a:prstGeom prst="rect">
            <a:avLst/>
          </a:prstGeom>
          <a:solidFill>
            <a:srgbClr val="E8E6E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98000" anchor="ctr"/>
          <a:lstStyle/>
          <a:p>
            <a:pPr>
              <a:defRPr/>
            </a:pPr>
            <a:r>
              <a:rPr lang="ko-KR" altLang="en-US" sz="2000" dirty="0">
                <a:latin typeface="HY헤드라인M" pitchFamily="18" charset="-127"/>
                <a:ea typeface="HY헤드라인M" pitchFamily="18" charset="-127"/>
              </a:rPr>
              <a:t>재무제표의 체계와 </a:t>
            </a:r>
            <a:r>
              <a:rPr lang="ko-KR" altLang="en-US" sz="2000" dirty="0" err="1">
                <a:latin typeface="HY헤드라인M" pitchFamily="18" charset="-127"/>
                <a:ea typeface="HY헤드라인M" pitchFamily="18" charset="-127"/>
              </a:rPr>
              <a:t>비회계자료</a:t>
            </a:r>
            <a:endParaRPr lang="ko-KR" altLang="en-US" sz="2000" dirty="0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22533" name="그룹 15"/>
          <p:cNvGrpSpPr>
            <a:grpSpLocks/>
          </p:cNvGrpSpPr>
          <p:nvPr/>
        </p:nvGrpSpPr>
        <p:grpSpPr bwMode="auto">
          <a:xfrm>
            <a:off x="2627313" y="2981325"/>
            <a:ext cx="4603750" cy="447675"/>
            <a:chOff x="2719388" y="2667000"/>
            <a:chExt cx="4603750" cy="447675"/>
          </a:xfrm>
        </p:grpSpPr>
        <p:sp>
          <p:nvSpPr>
            <p:cNvPr id="33797" name="Rectangle 5"/>
            <p:cNvSpPr>
              <a:spLocks noChangeArrowheads="1"/>
            </p:cNvSpPr>
            <p:nvPr/>
          </p:nvSpPr>
          <p:spPr bwMode="auto">
            <a:xfrm>
              <a:off x="2719388" y="2667000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1</a:t>
              </a:r>
            </a:p>
          </p:txBody>
        </p:sp>
        <p:sp>
          <p:nvSpPr>
            <p:cNvPr id="33798" name="Rectangle 6"/>
            <p:cNvSpPr>
              <a:spLocks noChangeArrowheads="1"/>
            </p:cNvSpPr>
            <p:nvPr/>
          </p:nvSpPr>
          <p:spPr bwMode="auto">
            <a:xfrm>
              <a:off x="3479800" y="2667000"/>
              <a:ext cx="3843338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회계시스템의 특징</a:t>
              </a:r>
            </a:p>
          </p:txBody>
        </p:sp>
      </p:grpSp>
      <p:grpSp>
        <p:nvGrpSpPr>
          <p:cNvPr id="22534" name="그룹 16"/>
          <p:cNvGrpSpPr>
            <a:grpSpLocks/>
          </p:cNvGrpSpPr>
          <p:nvPr/>
        </p:nvGrpSpPr>
        <p:grpSpPr bwMode="auto">
          <a:xfrm>
            <a:off x="2627313" y="3789363"/>
            <a:ext cx="4603750" cy="447675"/>
            <a:chOff x="2719388" y="3275013"/>
            <a:chExt cx="4603750" cy="447675"/>
          </a:xfrm>
        </p:grpSpPr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2719388" y="3275013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2</a:t>
              </a:r>
            </a:p>
          </p:txBody>
        </p:sp>
        <p:sp>
          <p:nvSpPr>
            <p:cNvPr id="33800" name="Rectangle 8"/>
            <p:cNvSpPr>
              <a:spLocks noChangeArrowheads="1"/>
            </p:cNvSpPr>
            <p:nvPr/>
          </p:nvSpPr>
          <p:spPr bwMode="auto">
            <a:xfrm>
              <a:off x="3479800" y="3275013"/>
              <a:ext cx="3843338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재무제표의 체계와 구조</a:t>
              </a:r>
            </a:p>
          </p:txBody>
        </p:sp>
      </p:grpSp>
      <p:grpSp>
        <p:nvGrpSpPr>
          <p:cNvPr id="22535" name="그룹 17"/>
          <p:cNvGrpSpPr>
            <a:grpSpLocks/>
          </p:cNvGrpSpPr>
          <p:nvPr/>
        </p:nvGrpSpPr>
        <p:grpSpPr bwMode="auto">
          <a:xfrm>
            <a:off x="2627313" y="4581525"/>
            <a:ext cx="4603750" cy="447675"/>
            <a:chOff x="2719388" y="3881438"/>
            <a:chExt cx="4603750" cy="447675"/>
          </a:xfrm>
        </p:grpSpPr>
        <p:sp>
          <p:nvSpPr>
            <p:cNvPr id="33801" name="Rectangle 9"/>
            <p:cNvSpPr>
              <a:spLocks noChangeArrowheads="1"/>
            </p:cNvSpPr>
            <p:nvPr/>
          </p:nvSpPr>
          <p:spPr bwMode="auto">
            <a:xfrm>
              <a:off x="2719388" y="3881438"/>
              <a:ext cx="600075" cy="447675"/>
            </a:xfrm>
            <a:prstGeom prst="rect">
              <a:avLst/>
            </a:prstGeom>
            <a:solidFill>
              <a:srgbClr val="E8E6EE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93600" tIns="46800" rIns="93600" bIns="46800" anchor="ctr"/>
            <a:lstStyle/>
            <a:p>
              <a:pPr algn="ctr" latinLnBrk="0">
                <a:defRPr/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3</a:t>
              </a:r>
            </a:p>
          </p:txBody>
        </p:sp>
        <p:sp>
          <p:nvSpPr>
            <p:cNvPr id="33802" name="Rectangle 10"/>
            <p:cNvSpPr>
              <a:spLocks noChangeArrowheads="1"/>
            </p:cNvSpPr>
            <p:nvPr/>
          </p:nvSpPr>
          <p:spPr bwMode="auto">
            <a:xfrm>
              <a:off x="3479800" y="3881438"/>
              <a:ext cx="3843338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52516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360000" tIns="46800" rIns="93600" bIns="46800" anchor="ctr"/>
            <a:lstStyle/>
            <a:p>
              <a:pPr latinLnBrk="0">
                <a:defRPr/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재무제표 공시와 </a:t>
              </a:r>
              <a:r>
                <a:rPr lang="ko-KR" altLang="en-US" sz="1600" dirty="0" err="1">
                  <a:latin typeface="HY헤드라인M" pitchFamily="18" charset="-127"/>
                  <a:ea typeface="HY헤드라인M" pitchFamily="18" charset="-127"/>
                </a:rPr>
                <a:t>비회계자료</a:t>
              </a:r>
              <a:endParaRPr lang="ko-KR" altLang="en-US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22536" name="Text Box 13"/>
          <p:cNvSpPr txBox="1">
            <a:spLocks noChangeArrowheads="1"/>
          </p:cNvSpPr>
          <p:nvPr/>
        </p:nvSpPr>
        <p:spPr bwMode="auto">
          <a:xfrm>
            <a:off x="174625" y="44450"/>
            <a:ext cx="7969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3600" tIns="46800" rIns="93600" bIns="46800">
            <a:spAutoFit/>
          </a:bodyPr>
          <a:lstStyle/>
          <a:p>
            <a:pPr algn="ctr" latinLnBrk="0"/>
            <a:r>
              <a:rPr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목차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4"/>
          <p:cNvSpPr>
            <a:spLocks noChangeArrowheads="1"/>
          </p:cNvSpPr>
          <p:nvPr/>
        </p:nvSpPr>
        <p:spPr bwMode="auto">
          <a:xfrm>
            <a:off x="68263" y="87313"/>
            <a:ext cx="37115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회계시스템의 특징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회계시스템의 특징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84213" y="3716338"/>
            <a:ext cx="1931987" cy="433387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회계기준</a:t>
            </a:r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684213" y="4186238"/>
            <a:ext cx="7858125" cy="1619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회계기준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(accounting standards)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발생기준 회계의 틀 내에서 기업이 사용가능한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회계처리방법을 구체적으로 규정한 것으로서 재무제표를 작성하는 지침이다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684213" y="1484313"/>
            <a:ext cx="1871662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발생기준 회계</a:t>
            </a:r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684213" y="1936750"/>
            <a:ext cx="7858125" cy="1563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기업의 경영성과와 재무상태를 나타내는 재무제표인 포괄손익계산서와 재무상태표는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현금유출입 기준이 아닌 발생기준 회계방법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(accrual accounting)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에 의해 작성된다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이는 기업이 정기적으로 재무보고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(financial reporting)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를 해야 할 필요성 때문이다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4"/>
          <p:cNvSpPr>
            <a:spLocks noChangeArrowheads="1"/>
          </p:cNvSpPr>
          <p:nvPr/>
        </p:nvSpPr>
        <p:spPr bwMode="auto">
          <a:xfrm>
            <a:off x="68263" y="87313"/>
            <a:ext cx="37115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회계시스템의 특징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회계시스템의 특징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84213" y="1484313"/>
            <a:ext cx="2447925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경영자의 회계정책</a:t>
            </a:r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684213" y="1936750"/>
            <a:ext cx="7920037" cy="1563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재무제표상의 회계수치는 경영자의 회계정책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(accounting policy)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에 의해서도 영향을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받을 수 있다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경영자의 회계수치 왜곡을 제한하기 위해서 회계기준이 제정되지만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모든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기업이 동일한 회계방법을 사용하도록 규제되지는 않으며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일정한 범위내에서 경영자에게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재량이 주어져 있다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IFRS</a:t>
            </a: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의 도입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684213" y="3662363"/>
            <a:ext cx="3300412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900">
                <a:latin typeface="HY헤드라인M" pitchFamily="18" charset="-127"/>
                <a:ea typeface="HY헤드라인M" pitchFamily="18" charset="-127"/>
              </a:rPr>
              <a:t>IFRS </a:t>
            </a: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도입 필요성</a:t>
            </a:r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684213" y="4113213"/>
            <a:ext cx="7858125" cy="1619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자본시장의 글로벌에 따른 국제적으로 통일된 회계처리기준에 대한 요구 증가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회계정보에 대한 대내외 신뢰도 증가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국제자본시장에서의 이중 회계장부 작성 부담의 감소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684213" y="1484313"/>
            <a:ext cx="237490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900">
                <a:latin typeface="HY헤드라인M" pitchFamily="18" charset="-127"/>
                <a:ea typeface="HY헤드라인M" pitchFamily="18" charset="-127"/>
              </a:rPr>
              <a:t>IFRS</a:t>
            </a: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의 도입</a:t>
            </a: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684213" y="1936750"/>
            <a:ext cx="7858125" cy="1563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 algn="just">
              <a:lnSpc>
                <a:spcPct val="90000"/>
              </a:lnSpc>
              <a:spcBef>
                <a:spcPct val="50000"/>
              </a:spcBef>
            </a:pP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2011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년부터 모든 상장기업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주권상장법인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국제적 회계기준제정기구인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just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국제회계기준위원회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(International Accounting Standards Board, IASB)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가 제정한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 algn="just">
              <a:lnSpc>
                <a:spcPct val="90000"/>
              </a:lnSpc>
              <a:spcBef>
                <a:spcPct val="50000"/>
              </a:spcBef>
            </a:pP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IFRS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를 의무적으로 적용하여 재무제표를 작성하여야 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827088" y="1397000"/>
          <a:ext cx="7056784" cy="40165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4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038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IFRS(</a:t>
                      </a:r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국제회계기준</a:t>
                      </a:r>
                      <a:r>
                        <a:rPr lang="en-US" altLang="ko-KR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종전의 기업회계기준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공시체계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4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분반기</a:t>
                      </a:r>
                      <a:r>
                        <a:rPr lang="en-US" altLang="ko-KR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·</a:t>
                      </a:r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연차보고</a:t>
                      </a:r>
                      <a:r>
                        <a:rPr lang="en-US" altLang="ko-KR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연결재무제표 중심으로 공시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개별재무제표 중심으로 공시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재무제표의 구성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재무상태표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포괄손익계산서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자본변동표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현금흐름표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주석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대차대조표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손익계산서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자본변동표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현금흐름표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이익잉여금처분계산서</a:t>
                      </a:r>
                      <a:endParaRPr lang="en-US" altLang="ko-KR" sz="140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주석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회계기준의 성격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경제적 실질에 따라 합리적으로 </a:t>
                      </a:r>
                      <a:r>
                        <a:rPr lang="ko-KR" altLang="en-US" sz="14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회계처리할</a:t>
                      </a:r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 수 있도록 회계처리의 기본원칙과 방법론 제시</a:t>
                      </a:r>
                      <a:r>
                        <a:rPr lang="en-US" altLang="ko-KR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(principle-based)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개별 사안에</a:t>
                      </a:r>
                      <a:r>
                        <a:rPr lang="ko-KR" altLang="en-US" sz="1400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 대한 구체적인 회계처리방법과 절차를 세밀하게 규정</a:t>
                      </a:r>
                      <a:r>
                        <a:rPr lang="en-US" altLang="ko-KR" sz="1400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(rule-based)</a:t>
                      </a:r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03250" y="776288"/>
            <a:ext cx="32543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IFRS</a:t>
            </a: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의 주요특징</a:t>
            </a:r>
          </a:p>
        </p:txBody>
      </p:sp>
      <p:sp>
        <p:nvSpPr>
          <p:cNvPr id="26649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03250" y="776288"/>
            <a:ext cx="3752850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개별재무제표와 연결재무제표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7651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84213" y="1557338"/>
            <a:ext cx="424815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개별재무제표와 연결재무제표의 정의</a:t>
            </a: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684213" y="2009775"/>
            <a:ext cx="7858125" cy="1619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개별재무제표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기업이 자신을 하나의 경제실체로 해서 개별적으로 작성하는 재무제표를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말한다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타회사를 지배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(control)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하는 기업의 경우에는 추가적으로 연결재무제표를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작성하는데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연결재무제표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(consolidated financial statements)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란 법률적으로 독립적인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회사들이라 하더라도 실질적으로 지배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종속관계에 있는 회사들을 단일의 경제실체로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간주하여 작성되는 재무제표이다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27654" name="Rectangle 4"/>
          <p:cNvSpPr>
            <a:spLocks noChangeArrowheads="1"/>
          </p:cNvSpPr>
          <p:nvPr/>
        </p:nvSpPr>
        <p:spPr bwMode="auto">
          <a:xfrm>
            <a:off x="684213" y="3860800"/>
            <a:ext cx="424815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연결재무제표의 유용성</a:t>
            </a: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684213" y="4313238"/>
            <a:ext cx="7858125" cy="1619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기업외부의 투자자들이 지배회사의 수익성 실적을 분석하고 미래 수익성을 전망하는데 유용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투자자들이 지배회사 주식에 대한 투자위험을 연결부채비율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연결재무상태표상의 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‘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부채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자본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’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의 비율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로 평가하는데 유용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종속회사 부채를 포함하는 연결부채비율은 지배회사의 채권자에게 유용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03250" y="776288"/>
            <a:ext cx="3752850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재무상태표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8675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84213" y="1557338"/>
            <a:ext cx="424815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재무상태표</a:t>
            </a:r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684213" y="2009775"/>
            <a:ext cx="7991475" cy="1619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재무상태표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(statement of financial position)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일정시점 현재 기업실체의 자산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부채 및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주주지분의 금액을 제시하고 있는 재무보고서이다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자산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(assets)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미래에 경제적 효익을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창출할 것으로 기대되는 기업의 경제적 자원을 말한다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부채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(liabilities)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기업의 자산에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대한 채권자의 청구권을 말하며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주주지분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(stockholders’equity)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기업의 소유주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주주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가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갖고 있는 청구권이다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28678" name="TextBox 9"/>
          <p:cNvSpPr txBox="1">
            <a:spLocks noChangeArrowheads="1"/>
          </p:cNvSpPr>
          <p:nvPr/>
        </p:nvSpPr>
        <p:spPr bwMode="auto">
          <a:xfrm>
            <a:off x="1619250" y="4365625"/>
            <a:ext cx="56356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자산 총액 </a:t>
            </a:r>
            <a:r>
              <a:rPr lang="en-US" altLang="ko-KR" sz="2800">
                <a:latin typeface="HY헤드라인M" pitchFamily="18" charset="-127"/>
                <a:ea typeface="HY헤드라인M" pitchFamily="18" charset="-127"/>
              </a:rPr>
              <a:t>= </a:t>
            </a: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부채 총액 </a:t>
            </a:r>
            <a:r>
              <a:rPr lang="en-US" altLang="ko-KR" sz="2800">
                <a:latin typeface="HY헤드라인M" pitchFamily="18" charset="-127"/>
                <a:ea typeface="HY헤드라인M" pitchFamily="18" charset="-127"/>
              </a:rPr>
              <a:t>+ </a:t>
            </a: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주주지분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03250" y="776288"/>
            <a:ext cx="3752850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재무상태표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9699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684213" y="1557338"/>
            <a:ext cx="1008062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자산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684213" y="2009775"/>
            <a:ext cx="7848600" cy="19240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유동자산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(current assets)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현금은 물론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정상적 영업주기 내 또는 재무보고기간 말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회계기간 말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로부터 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1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년 이내에 현금화되거나 사용될 것으로 예상되는 자산을 포함하며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비유동자산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(non-current assets)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은 유동자산에 속하지 않는 자산이다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유동자산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현금 및 현금성자산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단기금융자산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매출채권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기타채권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재고자산 등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비유동자산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장기금융자산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기타수취채권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관계기업투자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유형자산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무형자산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투자부동산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   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이연법인세자산 등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9702" name="Rectangle 4"/>
          <p:cNvSpPr>
            <a:spLocks noChangeArrowheads="1"/>
          </p:cNvSpPr>
          <p:nvPr/>
        </p:nvSpPr>
        <p:spPr bwMode="auto">
          <a:xfrm>
            <a:off x="684213" y="4005263"/>
            <a:ext cx="1008062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부채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684213" y="4437063"/>
            <a:ext cx="7848600" cy="16557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유동부채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(current liabilities)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기업의 정상적 영업주기 내 또는 재무보고기간 말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회계기간 말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로부터 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1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년 이내에 지급 또는 이행되어야 할 부채를 말하며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,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비유동부채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(non-current liabilities)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는 유동부채에 속하지 않는 부채이다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유동부채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단기금융부채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매입채무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기타채무 등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비유동부채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: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장기금융부채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퇴직급여부채 등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03250" y="776288"/>
            <a:ext cx="3752850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재무상태표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0723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84213" y="1557338"/>
            <a:ext cx="1008062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자본</a:t>
            </a: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684213" y="2009775"/>
            <a:ext cx="7848600" cy="3795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자본 총액을 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지배기업 소유주지분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지배기업의 소유주에게 귀속되는 자본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과 </a:t>
            </a:r>
            <a:endParaRPr lang="en-US" altLang="ko-KR" sz="15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비지배지분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소수주주지분</a:t>
            </a:r>
            <a:r>
              <a:rPr lang="en-US" altLang="ko-KR" sz="15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500">
                <a:latin typeface="HY헤드라인M" pitchFamily="18" charset="-127"/>
                <a:ea typeface="HY헤드라인M" pitchFamily="18" charset="-127"/>
              </a:rPr>
              <a:t>으로 구분 표시한다</a:t>
            </a:r>
            <a:r>
              <a:rPr lang="en-US" altLang="ko-KR" sz="1500">
                <a:latin typeface="HY헤드라인M" pitchFamily="18" charset="-127"/>
                <a:ea typeface="HY헤드라인M" pitchFamily="18" charset="-127"/>
              </a:rPr>
              <a:t>.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지배기업의 소유주에게 귀속되는 자본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 :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납입자본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자본금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주식발행초과금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),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이익잉여금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법정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   적립금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임의적립금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미처분이익잉여금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),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기타포괄손익누계액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재평가잉여금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매도가능금융자산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   평가손익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누계액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),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기타자본항목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자기주식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자기주식처분이익 등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·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비지배지분 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종속회사의 소수주주지분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납입자본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은 주주들이 기업에 출자한 금액을 나타내며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자본금과 주식발행초과금은 납입자본을 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세분한 것이다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4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이익잉여금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은 기업이 벌어들인 순이익중에서 주주들에게 배당으로 분배되지 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않고 기업 내에 유보된 부분을 가리킨다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4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기타포괄손익누계액</a:t>
            </a:r>
            <a:r>
              <a:rPr lang="en-US" altLang="ko-KR" sz="14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(accumulated other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en-US" altLang="ko-KR" sz="14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comprehensive income)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은 기업과 주주 간의 자본거래가 아닌 원천에서 발생한 자본의 </a:t>
            </a:r>
            <a:endParaRPr lang="en-US" altLang="ko-KR" sz="14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변동으로서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당기순이익에 포함되지 않는 손익인 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‘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기타포괄손익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’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의 누계액을 말한다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.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4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기타자본항목</a:t>
            </a:r>
            <a:r>
              <a:rPr lang="ko-KR" altLang="en-US" sz="1400">
                <a:latin typeface="HY헤드라인M" pitchFamily="18" charset="-127"/>
                <a:ea typeface="HY헤드라인M" pitchFamily="18" charset="-127"/>
              </a:rPr>
              <a:t>은 나머지 자본항목들을 모아 놓은 것이다</a:t>
            </a:r>
            <a:r>
              <a:rPr lang="en-US" altLang="ko-KR" sz="14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603250" y="776288"/>
            <a:ext cx="3752850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포괄손익계산서</a:t>
            </a:r>
          </a:p>
        </p:txBody>
      </p:sp>
      <p:sp>
        <p:nvSpPr>
          <p:cNvPr id="31747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11188" y="1557338"/>
            <a:ext cx="187325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포괄손익계산서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611188" y="2009775"/>
            <a:ext cx="7921625" cy="24272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포괄손익계산서</a:t>
            </a:r>
            <a:r>
              <a:rPr lang="en-US" altLang="ko-KR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(statement of comprehensive income)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는 일정기간에 대한 기업의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재무성과에 관한 정보를 제공하는 재무보고서이다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포괄손익계산서에서 기업의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재무성과는 당기순이익과 포괄이익에 의해 표시된다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당기순이익</a:t>
            </a:r>
            <a:r>
              <a:rPr lang="en-US" altLang="ko-KR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(net income)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의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원천이 된 수익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(revenues)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과 비용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(expenses)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항목들도 포괄손익계산서에 함께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표시된다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한 기간의 순이익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즉 당기순이익은 수익 총액에서 비용 총액을 차감하여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측정되고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당해 기간의 </a:t>
            </a:r>
            <a:r>
              <a:rPr lang="ko-KR" altLang="en-US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포괄이익</a:t>
            </a:r>
            <a:r>
              <a:rPr lang="en-US" altLang="ko-KR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(comprehensive income)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은 당기순이익과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기타포괄손익을 합산하여 측정된다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31750" name="TextBox 6"/>
          <p:cNvSpPr txBox="1">
            <a:spLocks noChangeArrowheads="1"/>
          </p:cNvSpPr>
          <p:nvPr/>
        </p:nvSpPr>
        <p:spPr bwMode="auto">
          <a:xfrm>
            <a:off x="1403350" y="4652963"/>
            <a:ext cx="6472238" cy="128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당기순이익 </a:t>
            </a:r>
            <a:r>
              <a:rPr lang="en-US" altLang="ko-KR" sz="2800">
                <a:latin typeface="HY헤드라인M" pitchFamily="18" charset="-127"/>
                <a:ea typeface="HY헤드라인M" pitchFamily="18" charset="-127"/>
              </a:rPr>
              <a:t>= </a:t>
            </a: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수익 총액 </a:t>
            </a:r>
            <a:r>
              <a:rPr lang="en-US" altLang="ko-KR" sz="2800">
                <a:latin typeface="HY헤드라인M" pitchFamily="18" charset="-127"/>
                <a:ea typeface="HY헤드라인M" pitchFamily="18" charset="-127"/>
              </a:rPr>
              <a:t>– </a:t>
            </a: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비용총액</a:t>
            </a:r>
            <a:endParaRPr lang="en-US" altLang="ko-KR" sz="2800">
              <a:latin typeface="HY헤드라인M" pitchFamily="18" charset="-127"/>
              <a:ea typeface="HY헤드라인M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포괄이익 </a:t>
            </a:r>
            <a:r>
              <a:rPr lang="en-US" altLang="ko-KR" sz="2800">
                <a:latin typeface="HY헤드라인M" pitchFamily="18" charset="-127"/>
                <a:ea typeface="HY헤드라인M" pitchFamily="18" charset="-127"/>
              </a:rPr>
              <a:t>= </a:t>
            </a: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당기순이익 </a:t>
            </a:r>
            <a:r>
              <a:rPr lang="en-US" altLang="ko-KR" sz="2800">
                <a:latin typeface="HY헤드라인M" pitchFamily="18" charset="-127"/>
                <a:ea typeface="HY헤드라인M" pitchFamily="18" charset="-127"/>
              </a:rPr>
              <a:t>+ </a:t>
            </a:r>
            <a:r>
              <a:rPr lang="ko-KR" altLang="en-US" sz="2800">
                <a:latin typeface="HY헤드라인M" pitchFamily="18" charset="-127"/>
                <a:ea typeface="HY헤드라인M" pitchFamily="18" charset="-127"/>
              </a:rPr>
              <a:t>기타포괄손익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603250" y="776288"/>
            <a:ext cx="5121275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포괄손익계산서의 구조 </a:t>
            </a:r>
            <a:r>
              <a:rPr lang="en-US" altLang="ko-KR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: </a:t>
            </a:r>
            <a:r>
              <a:rPr lang="ko-KR" altLang="en-US" sz="2000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비금융기업의</a:t>
            </a: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경우</a:t>
            </a:r>
          </a:p>
        </p:txBody>
      </p:sp>
      <p:sp>
        <p:nvSpPr>
          <p:cNvPr id="32771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971550" y="1557338"/>
          <a:ext cx="7488832" cy="4220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1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915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매출액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-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매출원가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매출총이익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매출로부터 획득된 </a:t>
                      </a:r>
                      <a:r>
                        <a:rPr lang="ko-KR" altLang="en-US" sz="105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총이익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-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판매비와</a:t>
                      </a:r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 관리비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판매 및 관리활동에서 발생한 영업비용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+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기타영업수익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영업</a:t>
                      </a:r>
                      <a:r>
                        <a:rPr lang="ko-KR" altLang="en-US" sz="1050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 관련 활동에서 발생한 기타수익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-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기타영업비용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영업 관련 활동에서 발생한 기타비용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영업이익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영업활동에서 발생한 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+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금융수익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재무활동 관련 금융자산에서 발생한 수익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-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금융비용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재무활동 관련 금융부채에서 발생한 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±</a:t>
                      </a:r>
                      <a:endParaRPr lang="ko-KR" altLang="en-US" sz="105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지분법손익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관계기업투자에 지분법회계를 적용하여 인식한 손익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1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법인세비용차감전순이익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-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법인세비용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기업의 이익에 부과되는 세금비용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당기순이익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±</a:t>
                      </a:r>
                      <a:endParaRPr lang="ko-KR" altLang="en-US" sz="1050" dirty="0" smtClean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기타포괄손익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회계기준에 의해 </a:t>
                      </a:r>
                      <a:r>
                        <a:rPr lang="ko-KR" altLang="en-US" sz="105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당기순이익에</a:t>
                      </a:r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 포함되지 않은 손익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포괄이익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→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자본의 순증가</a:t>
                      </a:r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기업과 소유주 간의 거래 제외</a:t>
                      </a:r>
                      <a:r>
                        <a:rPr lang="en-US" altLang="ko-KR" sz="105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05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603250" y="776288"/>
            <a:ext cx="2097088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현금흐름표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3795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684213" y="1989138"/>
            <a:ext cx="7848600" cy="18510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현금흐름표</a:t>
            </a:r>
            <a:r>
              <a:rPr lang="en-US" altLang="ko-KR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(statement of cash flows)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는 일정기간 동안 수행된 기업의 활동별로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현금유입과 현금유출에 대한 정보를 제공하는 재무보고서이다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현금흐름표는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기업의 활동을 영업활동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(operating activities),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투자활동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(investing activities)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그리고 재무활동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(financing activities)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으로 구분하여 각 활동별로 현금유출입에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관한 정보를 제시하고 있다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684213" y="1557338"/>
            <a:ext cx="151130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현금흐름표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484438" y="4005263"/>
          <a:ext cx="3240360" cy="1937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83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영업활동 현금흐름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(=</a:t>
                      </a:r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유입</a:t>
                      </a:r>
                      <a:r>
                        <a:rPr lang="en-US" altLang="ko-KR" sz="1200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 – </a:t>
                      </a:r>
                      <a:r>
                        <a:rPr lang="ko-KR" altLang="en-US" sz="1200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유출</a:t>
                      </a:r>
                      <a:r>
                        <a:rPr lang="en-US" altLang="ko-KR" sz="1200" baseline="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+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투자활동 현금흐름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(=</a:t>
                      </a:r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유입 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– </a:t>
                      </a:r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유출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+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재무활동 현금흐름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(=</a:t>
                      </a:r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유입 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– </a:t>
                      </a:r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유출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현금의 증가 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· </a:t>
                      </a:r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감소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(=</a:t>
                      </a:r>
                      <a:r>
                        <a:rPr lang="ko-KR" altLang="en-US" sz="12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총유입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-</a:t>
                      </a:r>
                      <a:r>
                        <a:rPr lang="ko-KR" altLang="en-US" sz="1200" dirty="0" err="1" smtClean="0">
                          <a:latin typeface="HY헤드라인M" pitchFamily="18" charset="-127"/>
                          <a:ea typeface="HY헤드라인M" pitchFamily="18" charset="-127"/>
                        </a:rPr>
                        <a:t>총유출</a:t>
                      </a:r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+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기초의 현금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=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HY헤드라인M" pitchFamily="18" charset="-127"/>
                          <a:ea typeface="HY헤드라인M" pitchFamily="18" charset="-127"/>
                        </a:rPr>
                        <a:t>기말의 현금</a:t>
                      </a:r>
                      <a:endParaRPr lang="ko-KR" altLang="en-US" sz="12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603250" y="776288"/>
            <a:ext cx="2097088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자본변동표</a:t>
            </a:r>
          </a:p>
        </p:txBody>
      </p:sp>
      <p:sp>
        <p:nvSpPr>
          <p:cNvPr id="34819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684213" y="1916113"/>
            <a:ext cx="7848600" cy="18526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자본변동표</a:t>
            </a:r>
            <a:r>
              <a:rPr lang="en-US" altLang="ko-KR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(statement of changes in equity)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는 기업의 소유주지분인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자본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주주지분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이 회계기간 중에 어떤 요인에 의해 어떻게 변동하였는가에 대한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정보를 제공하는 재무보고서이다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684213" y="1484313"/>
            <a:ext cx="151130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자본변동표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603250" y="776288"/>
            <a:ext cx="2097088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 주석</a:t>
            </a:r>
          </a:p>
        </p:txBody>
      </p:sp>
      <p:sp>
        <p:nvSpPr>
          <p:cNvPr id="35843" name="Rectangle 24"/>
          <p:cNvSpPr>
            <a:spLocks noChangeArrowheads="1"/>
          </p:cNvSpPr>
          <p:nvPr/>
        </p:nvSpPr>
        <p:spPr bwMode="auto">
          <a:xfrm>
            <a:off x="-1588" y="87313"/>
            <a:ext cx="442912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재무제표의 체계와 구조</a:t>
            </a:r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684213" y="1916113"/>
            <a:ext cx="7848600" cy="1584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재무제표의 본문 내용을 보충해 주는 정보로서 </a:t>
            </a:r>
            <a:r>
              <a:rPr lang="ko-KR" altLang="en-US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주석</a:t>
            </a:r>
            <a:r>
              <a:rPr lang="en-US" altLang="ko-KR" sz="1600">
                <a:solidFill>
                  <a:srgbClr val="7030A0"/>
                </a:solidFill>
                <a:latin typeface="HY헤드라인M" pitchFamily="18" charset="-127"/>
                <a:ea typeface="HY헤드라인M" pitchFamily="18" charset="-127"/>
              </a:rPr>
              <a:t>(notes)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이 있다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주석은 재무제표의 일부이며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여기에는 재무제표 본문에 넣지 못하는 중요한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정보들이 담겨져 있으므로 재무제표의 본문 내용을 이해하기 위해서는 주석의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내용도 함께 검토할 필요가 있다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684213" y="1484313"/>
            <a:ext cx="172720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재무제표 주석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rrowheads="1"/>
          </p:cNvSpPr>
          <p:nvPr/>
        </p:nvSpPr>
        <p:spPr bwMode="auto">
          <a:xfrm>
            <a:off x="603250" y="776288"/>
            <a:ext cx="3321050" cy="519112"/>
          </a:xfrm>
          <a:prstGeom prst="bevel">
            <a:avLst>
              <a:gd name="adj" fmla="val 50000"/>
            </a:avLst>
          </a:prstGeom>
          <a:solidFill>
            <a:srgbClr val="544B6F"/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 공시와 </a:t>
            </a:r>
            <a:r>
              <a:rPr lang="ko-KR" altLang="en-US" sz="2000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비회계자료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6867" name="Rectangle 24"/>
          <p:cNvSpPr>
            <a:spLocks noChangeArrowheads="1"/>
          </p:cNvSpPr>
          <p:nvPr/>
        </p:nvSpPr>
        <p:spPr bwMode="auto">
          <a:xfrm>
            <a:off x="31750" y="87313"/>
            <a:ext cx="5045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3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절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재무제표 공시와 비회계자료</a:t>
            </a:r>
          </a:p>
        </p:txBody>
      </p:sp>
      <p:sp>
        <p:nvSpPr>
          <p:cNvPr id="36868" name="Rectangle 6"/>
          <p:cNvSpPr>
            <a:spLocks noChangeArrowheads="1"/>
          </p:cNvSpPr>
          <p:nvPr/>
        </p:nvSpPr>
        <p:spPr bwMode="auto">
          <a:xfrm>
            <a:off x="684213" y="1989138"/>
            <a:ext cx="7848600" cy="15843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기업의 재무제표는 자본시장법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제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159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조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)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에 따라 기업이 정기적으로 제출하는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사업보고서를 통해 투자자들에게 공시된다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사업보고서에는 재무제표에 대한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감사보고서가 첨부된다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사업보고서에는 재무제표 외에도 회사의 사업내용 등에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관한 비회계자료가 포함되어 있다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684213" y="1484313"/>
            <a:ext cx="1727200" cy="431800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사업보고서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684213" y="4221163"/>
            <a:ext cx="7848600" cy="1800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기업의 재무제표는 정기적으로 공시되고 있지만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투자결정을 해야 하는 시점에서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새로운 재무정보가 이용가능하지는 않다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이러한 때 유용한 자료는 자본시장의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정보중개기관인 재무분석가와 신용평가기관 등이 제공하는 기업분석 자료이다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 </a:t>
            </a: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재무분석가와 신용평가기관은 기업들의 최근 재무제표는 물론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많은 비회계자료도 </a:t>
            </a:r>
            <a:endParaRPr lang="en-US" altLang="ko-KR" sz="1600">
              <a:latin typeface="HY헤드라인M" pitchFamily="18" charset="-127"/>
              <a:ea typeface="HY헤드라인M" pitchFamily="18" charset="-127"/>
            </a:endParaRPr>
          </a:p>
          <a:p>
            <a:pPr marL="190500" lvl="1">
              <a:lnSpc>
                <a:spcPct val="90000"/>
              </a:lnSpc>
              <a:spcBef>
                <a:spcPct val="50000"/>
              </a:spcBef>
            </a:pPr>
            <a:r>
              <a:rPr lang="ko-KR" altLang="en-US" sz="1600">
                <a:latin typeface="HY헤드라인M" pitchFamily="18" charset="-127"/>
                <a:ea typeface="HY헤드라인M" pitchFamily="18" charset="-127"/>
              </a:rPr>
              <a:t>함께 분석하여 투자자들에게 유용한 정보를 제공한다</a:t>
            </a:r>
            <a:r>
              <a:rPr lang="en-US" altLang="ko-KR" sz="1600">
                <a:latin typeface="HY헤드라인M" pitchFamily="18" charset="-127"/>
                <a:ea typeface="HY헤드라인M" pitchFamily="18" charset="-127"/>
              </a:rPr>
              <a:t>.</a:t>
            </a:r>
          </a:p>
        </p:txBody>
      </p:sp>
      <p:sp>
        <p:nvSpPr>
          <p:cNvPr id="36871" name="Rectangle 4"/>
          <p:cNvSpPr>
            <a:spLocks noChangeArrowheads="1"/>
          </p:cNvSpPr>
          <p:nvPr/>
        </p:nvSpPr>
        <p:spPr bwMode="auto">
          <a:xfrm>
            <a:off x="684213" y="3716338"/>
            <a:ext cx="2519362" cy="433387"/>
          </a:xfrm>
          <a:prstGeom prst="rect">
            <a:avLst/>
          </a:prstGeom>
          <a:gradFill rotWithShape="1">
            <a:gsLst>
              <a:gs pos="0">
                <a:srgbClr val="CC99FF"/>
              </a:gs>
              <a:gs pos="50000">
                <a:srgbClr val="FDFCFF"/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3600" tIns="46800" rIns="93600" bIns="46800" anchor="ctr"/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900">
                <a:latin typeface="HY헤드라인M" pitchFamily="18" charset="-127"/>
                <a:ea typeface="HY헤드라인M" pitchFamily="18" charset="-127"/>
              </a:rPr>
              <a:t>정보중개기관의 자료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4"/>
          <p:cNvSpPr>
            <a:spLocks noChangeArrowheads="1"/>
          </p:cNvSpPr>
          <p:nvPr/>
        </p:nvSpPr>
        <p:spPr bwMode="auto">
          <a:xfrm>
            <a:off x="88900" y="87313"/>
            <a:ext cx="52752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보론</a:t>
            </a:r>
            <a:r>
              <a:rPr kumimoji="0" lang="en-US" altLang="ko-KR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kumimoji="0" lang="ko-KR" altLang="en-US" sz="24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경영자의 자의적 회계처리 유인</a:t>
            </a:r>
          </a:p>
        </p:txBody>
      </p:sp>
      <p:graphicFrame>
        <p:nvGraphicFramePr>
          <p:cNvPr id="9" name="다이어그램 8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D7D7FF"/>
            </a:gs>
            <a:gs pos="100000">
              <a:srgbClr val="0000FF"/>
            </a:gs>
          </a:gsLst>
          <a:lin ang="0" scaled="1"/>
        </a:gradFill>
        <a:ln w="12700">
          <a:noFill/>
          <a:miter lim="800000"/>
          <a:headEnd/>
          <a:tailEnd/>
        </a:ln>
      </a:spPr>
      <a:bodyPr wrap="none" lIns="93600" tIns="46800" rIns="93600" bIns="46800" anchor="ctr"/>
      <a:lstStyle>
        <a:defPPr>
          <a:defRPr/>
        </a:defPPr>
      </a:lst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1720</Words>
  <Application>Microsoft Office PowerPoint</Application>
  <PresentationFormat>화면 슬라이드 쇼(4:3)</PresentationFormat>
  <Paragraphs>333</Paragraphs>
  <Slides>25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굴림</vt:lpstr>
      <vt:lpstr>Elephant</vt:lpstr>
      <vt:lpstr>Wingdings</vt:lpstr>
      <vt:lpstr>Franklin Gothic Medium Cond</vt:lpstr>
      <vt:lpstr>맑은 고딕</vt:lpstr>
      <vt:lpstr>돋움체</vt:lpstr>
      <vt:lpstr>HY헤드라인M</vt:lpstr>
      <vt:lpstr>Times New Roman</vt:lpstr>
      <vt:lpstr>기본 디자인</vt:lpstr>
      <vt:lpstr>재무제표분석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2장 재무제표의 체계와 비회계자료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와이즈포스트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고쳐야 할 경영의 고정관념</dc:title>
  <dc:creator>양승경</dc:creator>
  <cp:lastModifiedBy>LG</cp:lastModifiedBy>
  <cp:revision>111</cp:revision>
  <dcterms:created xsi:type="dcterms:W3CDTF">2005-03-22T06:05:17Z</dcterms:created>
  <dcterms:modified xsi:type="dcterms:W3CDTF">2021-10-10T11:56:12Z</dcterms:modified>
</cp:coreProperties>
</file>