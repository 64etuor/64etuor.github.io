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64" r:id="rId3"/>
    <p:sldId id="258" r:id="rId4"/>
    <p:sldId id="268" r:id="rId5"/>
    <p:sldId id="260" r:id="rId6"/>
    <p:sldId id="261" r:id="rId7"/>
    <p:sldId id="269" r:id="rId8"/>
    <p:sldId id="262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E0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D37CC7-17F4-4F17-BABE-0DFCD39342E6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EFEB5-2C18-435A-A310-54D42C8E4C4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B431D-45DD-4AA2-B0C6-6F389734BC3A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81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B431D-45DD-4AA2-B0C6-6F389734BC3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55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B431D-45DD-4AA2-B0C6-6F389734BC3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중앙대학교 지식경영학과 강의자료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171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16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2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31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4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59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71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78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7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4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40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48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23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E61CC-1655-488B-BDE0-2B009863D6E3}" type="datetimeFigureOut">
              <a:rPr lang="ko-KR" altLang="en-US" smtClean="0"/>
              <a:pPr/>
              <a:t>2021-08-05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14B33-91ED-41C0-8DF9-933C29271BE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3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google.co.kr/url?sa=i&amp;rct=j&amp;q=&amp;esrc=s&amp;source=images&amp;cd=&amp;cad=rja&amp;uact=8&amp;ved=0ahUKEwjxqIbm1sTLAhVIkZQKHVMzCpMQjRwIBw&amp;url=http://www.se-sang.com/notice/reference/knowledge/310;jsessionid=711A3821B67BE613185639E844E91756&amp;psig=AFQjCNGY_pCNwK53V0v0IY5qZanQlKqBwQ&amp;ust=1458199552320788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059459" y="1318053"/>
            <a:ext cx="8180173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r>
              <a:rPr lang="ko-KR" altLang="en-US" sz="4000" b="1" dirty="0">
                <a:ln/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4000" b="1" dirty="0" smtClean="0">
                <a:ln/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01.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기업활동과 회계정보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2059459" y="5244017"/>
            <a:ext cx="7760044" cy="17200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endParaRPr kumimoji="0" lang="ko-KR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_x187492992"/>
          <p:cNvSpPr>
            <a:spLocks noChangeArrowheads="1"/>
          </p:cNvSpPr>
          <p:nvPr/>
        </p:nvSpPr>
        <p:spPr bwMode="auto">
          <a:xfrm>
            <a:off x="2059459" y="2923371"/>
            <a:ext cx="8180173" cy="2705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회계정보는 기업경영에 꼭 필요할까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12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기업의 주요 활동 및 경영관리란 무엇일까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kumimoji="0" lang="en-US" altLang="ko-KR" sz="12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3.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국제회계기준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(IFRS)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이란 무엇이며 그 특징과 영향은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2211859" y="1702773"/>
            <a:ext cx="8180173" cy="27053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24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29635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 txBox="1">
            <a:spLocks/>
          </p:cNvSpPr>
          <p:nvPr/>
        </p:nvSpPr>
        <p:spPr>
          <a:xfrm>
            <a:off x="1301578" y="855320"/>
            <a:ext cx="9671222" cy="52736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0000">
              <a:defRPr/>
            </a:pPr>
            <a:r>
              <a:rPr lang="ko-KR" altLang="en-US" sz="20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재무회계</a:t>
            </a:r>
            <a:r>
              <a:rPr lang="en-US" altLang="ko-KR" sz="2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(financial accounting)</a:t>
            </a:r>
            <a:r>
              <a:rPr lang="ko-KR" altLang="en-US" sz="2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2000" dirty="0" smtClean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2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경제실체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기업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의 재무상태 및 영업활동 성과를 보여주는 재무제표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        (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보고서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에 초점을 맞추고 있는 회계 영역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2000" dirty="0" smtClean="0">
              <a:latin typeface="맑은 고딕" pitchFamily="50" charset="-127"/>
              <a:ea typeface="맑은 고딕" pitchFamily="50" charset="-127"/>
            </a:endParaRPr>
          </a:p>
          <a:p>
            <a:pPr marL="540000">
              <a:lnSpc>
                <a:spcPct val="150000"/>
              </a:lnSpc>
              <a:defRPr/>
            </a:pPr>
            <a:r>
              <a:rPr lang="ko-KR" altLang="en-US" sz="20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재무회계의 목적</a:t>
            </a:r>
            <a:endParaRPr lang="en-US" altLang="ko-KR" sz="2000" b="1" dirty="0" smtClean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        외부정보이용자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(external information users)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나 이해관계자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(stakeholders)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가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     회사와 관련하여 합리적인 의사결정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(rational decision making)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을 할 수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       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 있도록 회계정보를 제공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540000">
              <a:defRPr/>
            </a:pPr>
            <a:r>
              <a:rPr lang="ko-KR" altLang="en-US" sz="20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재무</a:t>
            </a:r>
            <a:r>
              <a:rPr lang="en-US" altLang="ko-KR" sz="200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(financial)</a:t>
            </a:r>
            <a:r>
              <a:rPr lang="ko-KR" altLang="en-US" sz="2000" b="1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의 의미</a:t>
            </a:r>
            <a:endParaRPr lang="en-US" altLang="ko-KR" sz="2000" b="1" dirty="0" smtClean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        화폐단위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(monetary unit)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라는 공통측정단위로 정보를 보고한다는 것</a:t>
            </a:r>
          </a:p>
        </p:txBody>
      </p:sp>
    </p:spTree>
    <p:extLst>
      <p:ext uri="{BB962C8B-B14F-4D97-AF65-F5344CB8AC3E}">
        <p14:creationId xmlns:p14="http://schemas.microsoft.com/office/powerpoint/2010/main" val="32971023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_x187697480"/>
          <p:cNvSpPr>
            <a:spLocks noChangeArrowheads="1"/>
          </p:cNvSpPr>
          <p:nvPr/>
        </p:nvSpPr>
        <p:spPr bwMode="auto">
          <a:xfrm>
            <a:off x="1016583" y="770766"/>
            <a:ext cx="5612233" cy="38496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                                                 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기업활동에서의 회계정보의 역할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_x187783824"/>
          <p:cNvSpPr>
            <a:spLocks noChangeArrowheads="1"/>
          </p:cNvSpPr>
          <p:nvPr/>
        </p:nvSpPr>
        <p:spPr bwMode="auto">
          <a:xfrm>
            <a:off x="8466065" y="2436994"/>
            <a:ext cx="295275" cy="168275"/>
          </a:xfrm>
          <a:custGeom>
            <a:avLst/>
            <a:gdLst>
              <a:gd name="T0" fmla="*/ 0 w 186"/>
              <a:gd name="T1" fmla="*/ 78 h 106"/>
              <a:gd name="T2" fmla="*/ 88 w 186"/>
              <a:gd name="T3" fmla="*/ 78 h 106"/>
              <a:gd name="T4" fmla="*/ 88 w 186"/>
              <a:gd name="T5" fmla="*/ 106 h 106"/>
              <a:gd name="T6" fmla="*/ 186 w 186"/>
              <a:gd name="T7" fmla="*/ 53 h 106"/>
              <a:gd name="T8" fmla="*/ 90 w 186"/>
              <a:gd name="T9" fmla="*/ 0 h 106"/>
              <a:gd name="T10" fmla="*/ 90 w 186"/>
              <a:gd name="T11" fmla="*/ 28 h 106"/>
              <a:gd name="T12" fmla="*/ 0 w 186"/>
              <a:gd name="T13" fmla="*/ 28 h 106"/>
              <a:gd name="T14" fmla="*/ 0 w 186"/>
              <a:gd name="T15" fmla="*/ 78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6" h="106">
                <a:moveTo>
                  <a:pt x="0" y="78"/>
                </a:moveTo>
                <a:lnTo>
                  <a:pt x="88" y="78"/>
                </a:lnTo>
                <a:lnTo>
                  <a:pt x="88" y="106"/>
                </a:lnTo>
                <a:lnTo>
                  <a:pt x="186" y="53"/>
                </a:lnTo>
                <a:lnTo>
                  <a:pt x="90" y="0"/>
                </a:lnTo>
                <a:lnTo>
                  <a:pt x="90" y="28"/>
                </a:lnTo>
                <a:lnTo>
                  <a:pt x="0" y="28"/>
                </a:lnTo>
                <a:lnTo>
                  <a:pt x="0" y="78"/>
                </a:lnTo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_x187366864"/>
          <p:cNvSpPr>
            <a:spLocks noChangeArrowheads="1"/>
          </p:cNvSpPr>
          <p:nvPr/>
        </p:nvSpPr>
        <p:spPr bwMode="auto">
          <a:xfrm>
            <a:off x="5041783" y="2436993"/>
            <a:ext cx="295275" cy="168275"/>
          </a:xfrm>
          <a:custGeom>
            <a:avLst/>
            <a:gdLst>
              <a:gd name="T0" fmla="*/ 0 w 186"/>
              <a:gd name="T1" fmla="*/ 78 h 106"/>
              <a:gd name="T2" fmla="*/ 88 w 186"/>
              <a:gd name="T3" fmla="*/ 78 h 106"/>
              <a:gd name="T4" fmla="*/ 88 w 186"/>
              <a:gd name="T5" fmla="*/ 106 h 106"/>
              <a:gd name="T6" fmla="*/ 186 w 186"/>
              <a:gd name="T7" fmla="*/ 53 h 106"/>
              <a:gd name="T8" fmla="*/ 90 w 186"/>
              <a:gd name="T9" fmla="*/ 0 h 106"/>
              <a:gd name="T10" fmla="*/ 90 w 186"/>
              <a:gd name="T11" fmla="*/ 28 h 106"/>
              <a:gd name="T12" fmla="*/ 0 w 186"/>
              <a:gd name="T13" fmla="*/ 28 h 106"/>
              <a:gd name="T14" fmla="*/ 0 w 186"/>
              <a:gd name="T15" fmla="*/ 78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6" h="106">
                <a:moveTo>
                  <a:pt x="0" y="78"/>
                </a:moveTo>
                <a:lnTo>
                  <a:pt x="88" y="78"/>
                </a:lnTo>
                <a:lnTo>
                  <a:pt x="88" y="106"/>
                </a:lnTo>
                <a:lnTo>
                  <a:pt x="186" y="53"/>
                </a:lnTo>
                <a:lnTo>
                  <a:pt x="90" y="0"/>
                </a:lnTo>
                <a:lnTo>
                  <a:pt x="90" y="28"/>
                </a:lnTo>
                <a:lnTo>
                  <a:pt x="0" y="28"/>
                </a:lnTo>
                <a:lnTo>
                  <a:pt x="0" y="78"/>
                </a:lnTo>
              </a:path>
            </a:pathLst>
          </a:custGeom>
          <a:solidFill>
            <a:srgbClr val="7F7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822700" y="1822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_x187696760"/>
          <p:cNvSpPr>
            <a:spLocks noChangeArrowheads="1"/>
          </p:cNvSpPr>
          <p:nvPr/>
        </p:nvSpPr>
        <p:spPr bwMode="auto">
          <a:xfrm>
            <a:off x="1146612" y="840007"/>
            <a:ext cx="1462364" cy="286545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#태고딕"/>
              </a:rPr>
              <a:t>1-1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3822700" y="25130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3822700" y="29702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_x187492992"/>
          <p:cNvSpPr>
            <a:spLocks noChangeArrowheads="1"/>
          </p:cNvSpPr>
          <p:nvPr/>
        </p:nvSpPr>
        <p:spPr bwMode="auto">
          <a:xfrm>
            <a:off x="1031847" y="169292"/>
            <a:ext cx="10201014" cy="50532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j-ea"/>
                <a:ea typeface="+mj-ea"/>
              </a:rPr>
              <a:t>1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회계정보는 기업경영에 꼭 필요할까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4929" t="16508" r="32500" b="14540"/>
          <a:stretch>
            <a:fillRect/>
          </a:stretch>
        </p:blipFill>
        <p:spPr bwMode="auto">
          <a:xfrm>
            <a:off x="2002981" y="1328057"/>
            <a:ext cx="8011886" cy="5290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23500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"/>
          <p:cNvSpPr>
            <a:spLocks noChangeArrowheads="1"/>
          </p:cNvSpPr>
          <p:nvPr/>
        </p:nvSpPr>
        <p:spPr bwMode="auto">
          <a:xfrm>
            <a:off x="0" y="11662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" name="Group 2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547538"/>
              </p:ext>
            </p:extLst>
          </p:nvPr>
        </p:nvGraphicFramePr>
        <p:xfrm>
          <a:off x="767543" y="1613908"/>
          <a:ext cx="10653126" cy="4634228"/>
        </p:xfrm>
        <a:graphic>
          <a:graphicData uri="http://schemas.openxmlformats.org/drawingml/2006/table">
            <a:tbl>
              <a:tblPr/>
              <a:tblGrid>
                <a:gridCol w="198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95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755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9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기업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 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 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 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이해관계자</a:t>
                      </a: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(</a:t>
                      </a: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정보이용자</a:t>
                      </a:r>
                      <a:r>
                        <a:rPr kumimoji="1" lang="en-US" altLang="ko-KR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휴먼고딕,한컴돋움"/>
                        </a:rPr>
                        <a:t>)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itchFamily="18" charset="-127"/>
                          <a:ea typeface="휴먼모음T" pitchFamily="18" charset="-127"/>
                          <a:cs typeface="신명 신명조"/>
                        </a:rPr>
                        <a:t>자원 수요자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itchFamily="18" charset="-127"/>
                        <a:ea typeface="휴먼모음T" pitchFamily="18" charset="-127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신명 신명조"/>
                          <a:cs typeface="신명 신명조"/>
                        </a:rPr>
                        <a:t>  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                              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신명 신명조"/>
                        <a:cs typeface="신명 신명조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800" b="1" dirty="0" smtClean="0">
                          <a:solidFill>
                            <a:srgbClr val="0000CC"/>
                          </a:solidFill>
                        </a:rPr>
                        <a:t>자원 제공자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800" dirty="0" smtClean="0">
                          <a:solidFill>
                            <a:srgbClr val="0000CC"/>
                          </a:solidFill>
                        </a:rPr>
                        <a:t>• </a:t>
                      </a:r>
                      <a:r>
                        <a:rPr lang="ko-KR" altLang="en-US" sz="1800" dirty="0" smtClean="0">
                          <a:solidFill>
                            <a:srgbClr val="0000CC"/>
                          </a:solidFill>
                        </a:rPr>
                        <a:t>자본제공자</a:t>
                      </a:r>
                    </a:p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800" dirty="0" smtClean="0">
                          <a:solidFill>
                            <a:srgbClr val="0000CC"/>
                          </a:solidFill>
                        </a:rPr>
                        <a:t>• </a:t>
                      </a:r>
                      <a:r>
                        <a:rPr lang="ko-KR" altLang="en-US" sz="1800" dirty="0" smtClean="0">
                          <a:solidFill>
                            <a:srgbClr val="0000CC"/>
                          </a:solidFill>
                        </a:rPr>
                        <a:t>기타자원제공자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 </a:t>
                      </a:r>
                    </a:p>
                    <a:p>
                      <a:pPr marL="285750" marR="0" lvl="0" indent="-28575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소유주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채권자 등</a:t>
                      </a:r>
                    </a:p>
                    <a:p>
                      <a:pPr marL="285750" marR="0" lvl="0" indent="-28575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종업원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납품업자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정부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 등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24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itchFamily="18" charset="-127"/>
                          <a:ea typeface="휴먼모음T" pitchFamily="18" charset="-127"/>
                          <a:cs typeface="신명 신명조"/>
                        </a:rPr>
                        <a:t>가치 </a:t>
                      </a:r>
                      <a:r>
                        <a:rPr kumimoji="1" lang="ko-KR" alt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itchFamily="18" charset="-127"/>
                          <a:ea typeface="휴먼모음T" pitchFamily="18" charset="-127"/>
                          <a:cs typeface="신명 신명조"/>
                        </a:rPr>
                        <a:t>창출자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itchFamily="18" charset="-127"/>
                        <a:ea typeface="휴먼모음T" pitchFamily="18" charset="-127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신명 신명조"/>
                          <a:cs typeface="신명 신명조"/>
                        </a:rPr>
                        <a:t>  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                               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신명 신명조"/>
                        <a:cs typeface="신명 신명조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800" b="1" dirty="0" smtClean="0">
                          <a:solidFill>
                            <a:srgbClr val="0000CC"/>
                          </a:solidFill>
                        </a:rPr>
                        <a:t>대가 </a:t>
                      </a:r>
                      <a:r>
                        <a:rPr lang="ko-KR" altLang="en-US" sz="1800" b="1" dirty="0" err="1" smtClean="0">
                          <a:solidFill>
                            <a:srgbClr val="0000CC"/>
                          </a:solidFill>
                        </a:rPr>
                        <a:t>수령자</a:t>
                      </a:r>
                      <a:endParaRPr lang="ko-KR" altLang="en-US" sz="1800" b="1" dirty="0" smtClean="0">
                        <a:solidFill>
                          <a:srgbClr val="0000CC"/>
                        </a:solidFill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소유주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이익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)</a:t>
                      </a:r>
                    </a:p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채권자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이자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)</a:t>
                      </a:r>
                    </a:p>
                    <a:p>
                      <a:pPr marL="285750" marR="0" lvl="0" indent="-28575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종업원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인건비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)</a:t>
                      </a:r>
                    </a:p>
                    <a:p>
                      <a:pPr marL="285750" marR="0" lvl="0" indent="-28575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납품업자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납품대가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)</a:t>
                      </a:r>
                    </a:p>
                    <a:p>
                      <a:pPr marL="285750" marR="0" lvl="0" indent="-28575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정부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(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세금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) </a:t>
                      </a: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등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9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휴먼모음T" pitchFamily="18" charset="-127"/>
                          <a:ea typeface="휴먼모음T" pitchFamily="18" charset="-127"/>
                          <a:cs typeface="휴먼고딕,한컴돋움"/>
                        </a:rPr>
                        <a:t>정보 제공자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itchFamily="18" charset="-127"/>
                        <a:ea typeface="휴먼모음T" pitchFamily="18" charset="-127"/>
                      </a:endParaRPr>
                    </a:p>
                  </a:txBody>
                  <a:tcPr anchor="ctr" horzOverflow="overflow">
                    <a:lnL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신명 신명조"/>
                          <a:cs typeface="신명 신명조"/>
                        </a:rPr>
                        <a:t>  </a:t>
                      </a: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                               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신명 신명조"/>
                        <a:cs typeface="신명 신명조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신명 신명조"/>
                          <a:cs typeface="신명 신명조"/>
                        </a:rPr>
                        <a:t> </a:t>
                      </a:r>
                      <a:endParaRPr kumimoji="1" lang="en-US" altLang="ko-K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800" b="1" dirty="0" smtClean="0">
                          <a:solidFill>
                            <a:srgbClr val="0000CC"/>
                          </a:solidFill>
                        </a:rPr>
                        <a:t>정보 수요자</a:t>
                      </a: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신명 신명조"/>
                        </a:rPr>
                        <a:t>재무정보 등</a:t>
                      </a:r>
                      <a:endParaRPr kumimoji="1" lang="ko-KR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F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265"/>
          <p:cNvSpPr>
            <a:spLocks noChangeArrowheads="1"/>
          </p:cNvSpPr>
          <p:nvPr/>
        </p:nvSpPr>
        <p:spPr bwMode="auto">
          <a:xfrm>
            <a:off x="767543" y="666501"/>
            <a:ext cx="5120073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just">
              <a:defRPr/>
            </a:pPr>
            <a:r>
              <a:rPr lang="en-US" altLang="ko-KR" sz="2000" b="1" dirty="0">
                <a:solidFill>
                  <a:srgbClr val="333300"/>
                </a:solidFill>
                <a:latin typeface="맑은 고딕" pitchFamily="50" charset="-127"/>
                <a:ea typeface="맑은 고딕" pitchFamily="50" charset="-127"/>
              </a:rPr>
              <a:t> </a:t>
            </a:r>
            <a:r>
              <a:rPr lang="ko-KR" altLang="en-US" sz="2400" b="1" dirty="0" smtClean="0">
                <a:solidFill>
                  <a:srgbClr val="333300"/>
                </a:solidFill>
                <a:latin typeface="맑은 고딕" pitchFamily="50" charset="-127"/>
                <a:ea typeface="맑은 고딕" pitchFamily="50" charset="-127"/>
              </a:rPr>
              <a:t>기업과 이해관계자 </a:t>
            </a:r>
            <a:r>
              <a:rPr lang="en-US" altLang="ko-KR" sz="2400" b="1" dirty="0" smtClean="0">
                <a:solidFill>
                  <a:srgbClr val="333300"/>
                </a:solidFill>
                <a:latin typeface="맑은 고딕" pitchFamily="50" charset="-127"/>
                <a:ea typeface="맑은 고딕" pitchFamily="50" charset="-127"/>
              </a:rPr>
              <a:t>(stakeholders)</a:t>
            </a:r>
            <a:endParaRPr lang="ko-KR" altLang="en-US" sz="2400" b="1" dirty="0">
              <a:solidFill>
                <a:srgbClr val="33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43230" t="54280" r="50155" b="36480"/>
          <a:stretch>
            <a:fillRect/>
          </a:stretch>
        </p:blipFill>
        <p:spPr bwMode="auto">
          <a:xfrm>
            <a:off x="3038018" y="5292953"/>
            <a:ext cx="1008112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l="43230" t="43360" r="50155" b="47400"/>
          <a:stretch>
            <a:fillRect/>
          </a:stretch>
        </p:blipFill>
        <p:spPr bwMode="auto">
          <a:xfrm>
            <a:off x="3038018" y="3839066"/>
            <a:ext cx="1008112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43230" t="31600" r="50155" b="59160"/>
          <a:stretch>
            <a:fillRect/>
          </a:stretch>
        </p:blipFill>
        <p:spPr bwMode="auto">
          <a:xfrm>
            <a:off x="2964219" y="2240745"/>
            <a:ext cx="1008112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23255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_x187492992"/>
          <p:cNvSpPr>
            <a:spLocks noChangeArrowheads="1"/>
          </p:cNvSpPr>
          <p:nvPr/>
        </p:nvSpPr>
        <p:spPr bwMode="auto">
          <a:xfrm>
            <a:off x="802226" y="2601040"/>
            <a:ext cx="5147345" cy="4444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                           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경영관리의 순환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_x187492272"/>
          <p:cNvSpPr>
            <a:spLocks noChangeArrowheads="1"/>
          </p:cNvSpPr>
          <p:nvPr/>
        </p:nvSpPr>
        <p:spPr bwMode="auto">
          <a:xfrm>
            <a:off x="972367" y="2670849"/>
            <a:ext cx="1317752" cy="304800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#태고딕"/>
              </a:rPr>
              <a:t>1-2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0"/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1825625"/>
            <a:ext cx="5513388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_x187882056"/>
          <p:cNvSpPr>
            <a:spLocks noChangeArrowheads="1"/>
          </p:cNvSpPr>
          <p:nvPr/>
        </p:nvSpPr>
        <p:spPr bwMode="auto">
          <a:xfrm>
            <a:off x="6516128" y="2601040"/>
            <a:ext cx="4986080" cy="4444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                             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경영관리의 구조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_x187881816"/>
          <p:cNvSpPr>
            <a:spLocks noChangeArrowheads="1"/>
          </p:cNvSpPr>
          <p:nvPr/>
        </p:nvSpPr>
        <p:spPr bwMode="auto">
          <a:xfrm>
            <a:off x="6649779" y="2670849"/>
            <a:ext cx="1472729" cy="298409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#태고딕"/>
              </a:rPr>
              <a:t>1-3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6521323" y="6132954"/>
            <a:ext cx="5255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(</a:t>
            </a:r>
            <a:r>
              <a:rPr kumimoji="0" lang="ko-KR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주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) </a:t>
            </a:r>
            <a:r>
              <a:rPr kumimoji="0" lang="ko-KR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경영관리의 구조를 일상적인 ‘집의 구조’로 비유한다면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회계정보는 주춧돌의 역할을 한다고 할 수 있다</a:t>
            </a:r>
            <a:r>
              <a:rPr kumimoji="0" lang="en-US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.</a:t>
            </a:r>
            <a:endParaRPr kumimoji="0" lang="en-US" alt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_x187492992"/>
          <p:cNvSpPr>
            <a:spLocks noChangeArrowheads="1"/>
          </p:cNvSpPr>
          <p:nvPr/>
        </p:nvSpPr>
        <p:spPr bwMode="auto">
          <a:xfrm>
            <a:off x="764047" y="239521"/>
            <a:ext cx="1080406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기업의 주요 활동 및 경영관리란 무엇일까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5" name="_x187492992"/>
          <p:cNvSpPr>
            <a:spLocks noChangeArrowheads="1"/>
          </p:cNvSpPr>
          <p:nvPr/>
        </p:nvSpPr>
        <p:spPr bwMode="auto">
          <a:xfrm>
            <a:off x="802226" y="811214"/>
            <a:ext cx="10765885" cy="17200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재무활동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주식발행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사채발행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금융기관 차입 등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투자활동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토지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건물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기계장치 등 영업용 자산 취득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영업활동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소비자시장        현금창출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경영관리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경영자가 행하는 일련의 의사결정 행위와 노력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1" name="오른쪽 화살표 20"/>
          <p:cNvSpPr/>
          <p:nvPr/>
        </p:nvSpPr>
        <p:spPr>
          <a:xfrm>
            <a:off x="3707028" y="1824036"/>
            <a:ext cx="238898" cy="17617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3643" t="28825" r="16500" b="17460"/>
          <a:stretch>
            <a:fillRect/>
          </a:stretch>
        </p:blipFill>
        <p:spPr bwMode="auto">
          <a:xfrm>
            <a:off x="756745" y="3348295"/>
            <a:ext cx="5097516" cy="3015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16143" t="18092" r="18500" b="14720"/>
          <a:stretch>
            <a:fillRect/>
          </a:stretch>
        </p:blipFill>
        <p:spPr bwMode="auto">
          <a:xfrm>
            <a:off x="6390302" y="3119173"/>
            <a:ext cx="5181600" cy="299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9672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706382" y="239521"/>
            <a:ext cx="1080406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j-ea"/>
                <a:ea typeface="+mj-ea"/>
              </a:rPr>
              <a:t>3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국제회계기준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ko-KR" sz="2400" b="1" dirty="0" smtClean="0">
                <a:solidFill>
                  <a:srgbClr val="FFFFFF"/>
                </a:solidFill>
                <a:latin typeface="+mj-ea"/>
                <a:ea typeface="+mj-ea"/>
              </a:rPr>
              <a:t>IFRS)</a:t>
            </a:r>
            <a:r>
              <a:rPr lang="ko-KR" altLang="en-US" sz="2400" b="1" dirty="0" smtClean="0">
                <a:solidFill>
                  <a:srgbClr val="FFFFFF"/>
                </a:solidFill>
                <a:latin typeface="+mj-ea"/>
                <a:ea typeface="+mj-ea"/>
              </a:rPr>
              <a:t>란 무엇이며 그 특징과 영향은</a:t>
            </a:r>
            <a:r>
              <a:rPr lang="en-US" altLang="ko-KR" sz="2400" b="1" dirty="0" smtClean="0">
                <a:solidFill>
                  <a:srgbClr val="FFFFFF"/>
                </a:solidFill>
                <a:latin typeface="+mj-ea"/>
                <a:ea typeface="+mj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706382" y="963826"/>
            <a:ext cx="10765885" cy="53134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(1) IFRS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의 도입현황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(2)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국제회계기준의 도입배경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(3) IFRS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의 주요특징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개별재무제표       연결재무제표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당기순손익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포괄손익 공시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비소유주와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관련된 거래결과도 포괄손익계산서에 집합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-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공정가치로 평가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구체적 회계처리      회계처리 기본원칙과 방법론 강조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공시정보의 속성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재무적정보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+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비재무적 정보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(4) IFRS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의 도입영향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연결범위와 지배회사 책임 확대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공정가치 적용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-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기업가치 평가와 관련된 정보의 변화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연결재무제표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-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그룹 전체의 연결결산시스템 구축 필요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2866767" y="2504302"/>
            <a:ext cx="230659" cy="197710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오른쪽 화살표 4"/>
          <p:cNvSpPr/>
          <p:nvPr/>
        </p:nvSpPr>
        <p:spPr>
          <a:xfrm>
            <a:off x="2636108" y="2930606"/>
            <a:ext cx="230659" cy="19359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3097426" y="3739977"/>
            <a:ext cx="230659" cy="19359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2158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 txBox="1">
            <a:spLocks/>
          </p:cNvSpPr>
          <p:nvPr/>
        </p:nvSpPr>
        <p:spPr>
          <a:xfrm>
            <a:off x="796644" y="1306082"/>
            <a:ext cx="10474736" cy="48054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20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원칙주의</a:t>
            </a:r>
            <a:r>
              <a:rPr lang="en-US" altLang="ko-KR" sz="2000" dirty="0" smtClean="0">
                <a:latin typeface="맑은 고딕" pitchFamily="50" charset="-127"/>
                <a:ea typeface="맑은 고딕" pitchFamily="50" charset="-127"/>
              </a:rPr>
              <a:t>(principles based approach)</a:t>
            </a:r>
          </a:p>
          <a:p>
            <a:pPr marL="1080000" lvl="2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전문가의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판단 중시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구체적 실무적용지침 지양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080000" lvl="2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산업별 회계처리기준 배제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1080000" lvl="2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해석서 발표 않음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marL="1080000" lvl="2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질의회신 축소</a:t>
            </a:r>
            <a:endParaRPr lang="en-US" altLang="ko-KR" sz="1800" dirty="0" smtClean="0">
              <a:latin typeface="맑은 고딕" pitchFamily="50" charset="-127"/>
              <a:ea typeface="맑은 고딕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20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연결재무제표</a:t>
            </a:r>
            <a:r>
              <a:rPr lang="ko-KR" altLang="en-US" sz="2000" dirty="0" smtClean="0">
                <a:latin typeface="맑은 고딕" pitchFamily="50" charset="-127"/>
                <a:ea typeface="맑은 고딕" pitchFamily="50" charset="-127"/>
              </a:rPr>
              <a:t> 중심 회계기준</a:t>
            </a:r>
            <a:endParaRPr lang="en-US" altLang="ko-KR" sz="2000" dirty="0" smtClean="0">
              <a:latin typeface="맑은 고딕" pitchFamily="50" charset="-127"/>
              <a:ea typeface="맑은 고딕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20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공시 강화</a:t>
            </a:r>
            <a:r>
              <a:rPr lang="ko-KR" altLang="en-US" sz="2000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2000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080000" lvl="1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국제회계기준 적용 유연성 허용</a:t>
            </a:r>
            <a:endParaRPr lang="en-US" altLang="ko-KR" sz="1800" dirty="0">
              <a:latin typeface="맑은 고딕" pitchFamily="50" charset="-127"/>
              <a:ea typeface="맑은 고딕" pitchFamily="50" charset="-127"/>
            </a:endParaRPr>
          </a:p>
          <a:p>
            <a:pPr marL="1080000" lvl="1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정보이용자 보호를 위한</a:t>
            </a:r>
            <a:r>
              <a:rPr lang="en-US" altLang="ko-KR" sz="1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공시 강화</a:t>
            </a: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u"/>
              <a:defRPr/>
            </a:pPr>
            <a:r>
              <a:rPr lang="ko-KR" altLang="en-US" sz="20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공정가치회계</a:t>
            </a:r>
            <a:r>
              <a:rPr lang="ko-KR" altLang="en-US" sz="20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의</a:t>
            </a:r>
            <a:r>
              <a:rPr lang="ko-KR" altLang="en-US" sz="2000" dirty="0" smtClean="0">
                <a:latin typeface="맑은 고딕" pitchFamily="50" charset="-127"/>
                <a:ea typeface="맑은 고딕" pitchFamily="50" charset="-127"/>
              </a:rPr>
              <a:t> 확대 적용</a:t>
            </a:r>
            <a:endParaRPr lang="en-US" altLang="ko-KR" sz="20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직사각형 4"/>
          <p:cNvSpPr>
            <a:spLocks noChangeArrowheads="1"/>
          </p:cNvSpPr>
          <p:nvPr/>
        </p:nvSpPr>
        <p:spPr bwMode="auto">
          <a:xfrm>
            <a:off x="796644" y="558010"/>
            <a:ext cx="3271503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defRPr/>
            </a:pPr>
            <a:r>
              <a:rPr lang="en-US" altLang="ko-KR" sz="2400" b="1" dirty="0" smtClean="0">
                <a:ln/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400" b="1" dirty="0">
                <a:ln/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국제회계기준의 </a:t>
            </a:r>
            <a:r>
              <a:rPr lang="ko-KR" altLang="en-US" sz="2400" b="1" dirty="0" smtClean="0">
                <a:ln/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특징</a:t>
            </a:r>
            <a:endParaRPr lang="ko-KR" altLang="en-US" sz="2400" b="1" dirty="0">
              <a:ln/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60949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028416"/>
          <p:cNvSpPr>
            <a:spLocks noChangeArrowheads="1"/>
          </p:cNvSpPr>
          <p:nvPr/>
        </p:nvSpPr>
        <p:spPr bwMode="auto">
          <a:xfrm>
            <a:off x="453005" y="527063"/>
            <a:ext cx="5368954" cy="5407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2002"/>
              </a:rPr>
              <a:t>                        IFRS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-2002"/>
              </a:rPr>
              <a:t>도입현황</a:t>
            </a:r>
            <a:endParaRPr kumimoji="0" lang="ko-KR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1604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54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_x187029536"/>
          <p:cNvSpPr>
            <a:spLocks noChangeArrowheads="1"/>
          </p:cNvSpPr>
          <p:nvPr/>
        </p:nvSpPr>
        <p:spPr bwMode="auto">
          <a:xfrm>
            <a:off x="6096000" y="527063"/>
            <a:ext cx="5547919" cy="5407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                       IFRS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의 도입영향</a:t>
            </a:r>
            <a:endParaRPr kumimoji="0" lang="ko-KR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_x187028816"/>
          <p:cNvSpPr>
            <a:spLocks noChangeArrowheads="1"/>
          </p:cNvSpPr>
          <p:nvPr/>
        </p:nvSpPr>
        <p:spPr bwMode="auto">
          <a:xfrm>
            <a:off x="6291494" y="662964"/>
            <a:ext cx="1434066" cy="319116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#태고딕"/>
              </a:rPr>
              <a:t>1-5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6050691" y="15927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6050691" y="25071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_x187028816"/>
          <p:cNvSpPr>
            <a:spLocks noChangeArrowheads="1"/>
          </p:cNvSpPr>
          <p:nvPr/>
        </p:nvSpPr>
        <p:spPr bwMode="auto">
          <a:xfrm>
            <a:off x="580690" y="637890"/>
            <a:ext cx="1434066" cy="319116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#태고딕"/>
              </a:rPr>
              <a:t>1-4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22801"/>
              </p:ext>
            </p:extLst>
          </p:nvPr>
        </p:nvGraphicFramePr>
        <p:xfrm>
          <a:off x="453005" y="1271500"/>
          <a:ext cx="5368955" cy="527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5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50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500" b="1" dirty="0" smtClean="0"/>
                        <a:t>EU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500" b="1" dirty="0" smtClean="0"/>
                        <a:t>EU</a:t>
                      </a:r>
                      <a:r>
                        <a:rPr lang="ko-KR" altLang="en-US" sz="1500" b="1" dirty="0" smtClean="0"/>
                        <a:t>상장기업</a:t>
                      </a:r>
                      <a:r>
                        <a:rPr lang="en-US" altLang="ko-KR" sz="1500" b="1" dirty="0" smtClean="0"/>
                        <a:t>(</a:t>
                      </a:r>
                      <a:r>
                        <a:rPr lang="ko-KR" altLang="en-US" sz="1500" b="1" dirty="0" smtClean="0"/>
                        <a:t>외국기업 제외</a:t>
                      </a:r>
                      <a:r>
                        <a:rPr lang="en-US" altLang="ko-KR" sz="1500" b="1" dirty="0" smtClean="0"/>
                        <a:t>)</a:t>
                      </a:r>
                      <a:r>
                        <a:rPr lang="ko-KR" altLang="en-US" sz="1500" b="1" dirty="0" smtClean="0"/>
                        <a:t>에 대해 </a:t>
                      </a:r>
                      <a:r>
                        <a:rPr lang="en-US" altLang="ko-KR" sz="1500" b="1" dirty="0" smtClean="0"/>
                        <a:t>2005</a:t>
                      </a:r>
                      <a:r>
                        <a:rPr lang="ko-KR" altLang="en-US" sz="1500" b="1" dirty="0" smtClean="0"/>
                        <a:t>년부터 </a:t>
                      </a:r>
                      <a:r>
                        <a:rPr lang="en-US" altLang="ko-KR" sz="1500" b="1" dirty="0" smtClean="0"/>
                        <a:t>IFRS</a:t>
                      </a:r>
                      <a:r>
                        <a:rPr lang="ko-KR" altLang="en-US" sz="1500" b="1" dirty="0" smtClean="0"/>
                        <a:t>적용 의무화</a:t>
                      </a:r>
                      <a:endParaRPr lang="en-US" altLang="ko-KR" sz="1500" b="1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500" b="1" dirty="0" smtClean="0"/>
                        <a:t>EU</a:t>
                      </a:r>
                      <a:r>
                        <a:rPr lang="ko-KR" altLang="en-US" sz="1500" b="1" dirty="0" smtClean="0"/>
                        <a:t>에 상장된</a:t>
                      </a:r>
                      <a:r>
                        <a:rPr lang="ko-KR" altLang="en-US" sz="1500" b="1" baseline="0" dirty="0" smtClean="0"/>
                        <a:t> 모든 외국기업은 </a:t>
                      </a:r>
                      <a:r>
                        <a:rPr lang="en-US" altLang="ko-KR" sz="1500" b="1" baseline="0" dirty="0" smtClean="0"/>
                        <a:t>2012</a:t>
                      </a:r>
                      <a:r>
                        <a:rPr lang="ko-KR" altLang="en-US" sz="1500" b="1" baseline="0" dirty="0" smtClean="0"/>
                        <a:t>년부터 의무적용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153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500" b="1" dirty="0" smtClean="0"/>
                        <a:t>미국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err="1" smtClean="0"/>
                        <a:t>미국내</a:t>
                      </a:r>
                      <a:r>
                        <a:rPr lang="ko-KR" altLang="en-US" sz="1500" b="1" dirty="0" smtClean="0"/>
                        <a:t> 상장된 외국기업에게 </a:t>
                      </a:r>
                      <a:r>
                        <a:rPr lang="en-US" altLang="ko-KR" sz="1500" b="1" dirty="0" smtClean="0"/>
                        <a:t>IFRS </a:t>
                      </a:r>
                      <a:r>
                        <a:rPr lang="ko-KR" altLang="en-US" sz="1500" b="1" dirty="0" smtClean="0"/>
                        <a:t>허용</a:t>
                      </a:r>
                      <a:endParaRPr lang="en-US" altLang="ko-KR" sz="1500" b="1" dirty="0" smtClean="0"/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500" b="1" dirty="0" smtClean="0"/>
                        <a:t>    (2007</a:t>
                      </a:r>
                      <a:r>
                        <a:rPr lang="ko-KR" altLang="en-US" sz="1500" b="1" dirty="0" smtClean="0"/>
                        <a:t>년 결정</a:t>
                      </a:r>
                      <a:r>
                        <a:rPr lang="en-US" altLang="ko-KR" sz="1500" b="1" dirty="0" smtClean="0"/>
                        <a:t>)</a:t>
                      </a:r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smtClean="0"/>
                        <a:t>자국기업은 </a:t>
                      </a:r>
                      <a:r>
                        <a:rPr lang="en-US" altLang="ko-KR" sz="1500" b="1" dirty="0" smtClean="0"/>
                        <a:t>2014~2016</a:t>
                      </a:r>
                      <a:r>
                        <a:rPr lang="ko-KR" altLang="en-US" sz="1500" b="1" dirty="0" smtClean="0"/>
                        <a:t>에 걸쳐 단계적으로</a:t>
                      </a:r>
                      <a:r>
                        <a:rPr lang="ko-KR" altLang="en-US" sz="1500" b="1" baseline="0" dirty="0" smtClean="0"/>
                        <a:t> </a:t>
                      </a:r>
                      <a:r>
                        <a:rPr lang="ko-KR" altLang="en-US" sz="1500" b="1" dirty="0" smtClean="0"/>
                        <a:t>도입예정이었으나</a:t>
                      </a:r>
                      <a:r>
                        <a:rPr lang="en-US" altLang="ko-KR" sz="1500" b="1" dirty="0" smtClean="0"/>
                        <a:t> </a:t>
                      </a:r>
                      <a:r>
                        <a:rPr lang="ko-KR" altLang="en-US" sz="1500" b="1" dirty="0" smtClean="0"/>
                        <a:t>현재 </a:t>
                      </a:r>
                      <a:r>
                        <a:rPr lang="ko-KR" altLang="en-US" sz="1500" b="1" dirty="0" err="1" smtClean="0"/>
                        <a:t>유보중</a:t>
                      </a:r>
                      <a:endParaRPr lang="en-US" altLang="ko-KR" sz="15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50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500" b="1" dirty="0" smtClean="0"/>
                        <a:t>한국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500" b="1" dirty="0" smtClean="0"/>
                        <a:t>2007</a:t>
                      </a:r>
                      <a:r>
                        <a:rPr lang="ko-KR" altLang="en-US" sz="1500" b="1" dirty="0" smtClean="0"/>
                        <a:t>년 한국채택국제회계기준</a:t>
                      </a:r>
                      <a:r>
                        <a:rPr lang="en-US" altLang="ko-KR" sz="1500" b="1" dirty="0" smtClean="0"/>
                        <a:t>(K-IFRS)</a:t>
                      </a:r>
                      <a:r>
                        <a:rPr lang="en-US" altLang="ko-KR" sz="1500" b="1" baseline="0" dirty="0" smtClean="0"/>
                        <a:t> </a:t>
                      </a:r>
                      <a:r>
                        <a:rPr lang="ko-KR" altLang="en-US" sz="1500" b="1" baseline="0" dirty="0" smtClean="0"/>
                        <a:t>제정 및 공표</a:t>
                      </a:r>
                      <a:endParaRPr lang="en-US" altLang="ko-KR" sz="1500" b="1" baseline="0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500" b="1" baseline="0" dirty="0" smtClean="0"/>
                        <a:t>2009</a:t>
                      </a:r>
                      <a:r>
                        <a:rPr lang="ko-KR" altLang="en-US" sz="1500" b="1" baseline="0" dirty="0" smtClean="0"/>
                        <a:t>년부터 조기적용 허용</a:t>
                      </a:r>
                      <a:r>
                        <a:rPr lang="en-US" altLang="ko-KR" sz="1500" b="1" baseline="0" dirty="0" smtClean="0"/>
                        <a:t>,</a:t>
                      </a:r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500" b="1" baseline="0" dirty="0" smtClean="0"/>
                        <a:t>2011</a:t>
                      </a:r>
                      <a:r>
                        <a:rPr lang="ko-KR" altLang="en-US" sz="1500" b="1" baseline="0" dirty="0" smtClean="0"/>
                        <a:t>년부터 상장</a:t>
                      </a:r>
                      <a:r>
                        <a:rPr lang="en-US" altLang="ko-KR" sz="1500" b="1" baseline="0" dirty="0" smtClean="0"/>
                        <a:t>,</a:t>
                      </a:r>
                      <a:r>
                        <a:rPr lang="ko-KR" altLang="en-US" sz="1500" b="1" baseline="0" dirty="0" smtClean="0"/>
                        <a:t>등록기업 일괄 적용</a:t>
                      </a:r>
                      <a:endParaRPr lang="en-US" altLang="ko-KR" sz="1500" b="1" dirty="0" smtClean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41264"/>
              </p:ext>
            </p:extLst>
          </p:nvPr>
        </p:nvGraphicFramePr>
        <p:xfrm>
          <a:off x="6096000" y="1271500"/>
          <a:ext cx="5623420" cy="5227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3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801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smtClean="0"/>
                        <a:t>연결</a:t>
                      </a:r>
                      <a:endParaRPr lang="en-US" altLang="ko-KR" sz="1500" b="1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smtClean="0"/>
                        <a:t>경영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smtClean="0"/>
                        <a:t>연결범위변동으로 기업지배구조 검토 필요</a:t>
                      </a:r>
                      <a:endParaRPr lang="en-US" altLang="ko-KR" sz="1500" b="1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baseline="0" dirty="0" smtClean="0"/>
                        <a:t>연결재무제표의 </a:t>
                      </a:r>
                      <a:r>
                        <a:rPr lang="ko-KR" altLang="en-US" sz="1500" b="1" baseline="0" dirty="0" err="1" smtClean="0"/>
                        <a:t>주재무제표화로</a:t>
                      </a:r>
                      <a:r>
                        <a:rPr lang="ko-KR" altLang="en-US" sz="1500" b="1" baseline="0" dirty="0" smtClean="0"/>
                        <a:t> 자회사에 대한 내부통제와 재무보고 책임 가중</a:t>
                      </a:r>
                      <a:endParaRPr lang="en-US" altLang="ko-KR" sz="1500" b="1" baseline="0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baseline="0" dirty="0" smtClean="0"/>
                        <a:t>그룹가치 창출을 위한 사업 포트폴리오 관리</a:t>
                      </a:r>
                      <a:r>
                        <a:rPr lang="en-US" altLang="ko-KR" sz="1500" b="1" baseline="0" dirty="0" smtClean="0"/>
                        <a:t>, </a:t>
                      </a:r>
                      <a:r>
                        <a:rPr lang="ko-KR" altLang="en-US" sz="1500" b="1" baseline="0" dirty="0" smtClean="0"/>
                        <a:t>그룹실적 및 위험관리방안</a:t>
                      </a:r>
                      <a:r>
                        <a:rPr lang="en-US" altLang="ko-KR" sz="1500" b="1" baseline="0" dirty="0" smtClean="0"/>
                        <a:t>, </a:t>
                      </a:r>
                      <a:r>
                        <a:rPr lang="ko-KR" altLang="en-US" sz="1500" b="1" baseline="0" dirty="0" smtClean="0"/>
                        <a:t>연결배당정책 필요</a:t>
                      </a:r>
                      <a:endParaRPr lang="en-US" altLang="ko-KR" sz="1500" b="1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53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smtClean="0"/>
                        <a:t>가치</a:t>
                      </a:r>
                      <a:endParaRPr lang="en-US" altLang="ko-KR" sz="1500" b="1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smtClean="0"/>
                        <a:t>평가</a:t>
                      </a:r>
                      <a:endParaRPr lang="ko-KR" altLang="en-US" sz="15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smtClean="0"/>
                        <a:t>공정가치 회계적용</a:t>
                      </a:r>
                      <a:r>
                        <a:rPr lang="en-US" altLang="ko-KR" sz="1500" b="1" dirty="0" smtClean="0"/>
                        <a:t>, </a:t>
                      </a:r>
                      <a:r>
                        <a:rPr lang="ko-KR" altLang="en-US" sz="1500" b="1" dirty="0" smtClean="0"/>
                        <a:t>기업선택사항 확대</a:t>
                      </a:r>
                      <a:r>
                        <a:rPr lang="en-US" altLang="ko-KR" sz="1500" b="1" dirty="0" smtClean="0"/>
                        <a:t>, </a:t>
                      </a:r>
                      <a:r>
                        <a:rPr lang="ko-KR" altLang="en-US" sz="1500" b="1" dirty="0" smtClean="0"/>
                        <a:t>공시정보 확대로 기업가치의 </a:t>
                      </a:r>
                      <a:r>
                        <a:rPr lang="ko-KR" altLang="en-US" sz="1500" b="1" dirty="0" err="1" smtClean="0"/>
                        <a:t>재측정</a:t>
                      </a:r>
                      <a:endParaRPr lang="en-US" altLang="ko-KR" sz="1500" b="1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smtClean="0"/>
                        <a:t>시장가치 실현을 위해 국제회계기준 적용으로 인한 </a:t>
                      </a:r>
                      <a:endParaRPr lang="en-US" altLang="ko-KR" sz="1500" b="1" dirty="0" smtClean="0"/>
                    </a:p>
                    <a:p>
                      <a:pPr marL="0" indent="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500" b="1" dirty="0" smtClean="0"/>
                        <a:t>     </a:t>
                      </a:r>
                      <a:r>
                        <a:rPr lang="ko-KR" altLang="en-US" sz="1500" b="1" dirty="0" smtClean="0"/>
                        <a:t>영향 및 분석정보 등 제공 필요</a:t>
                      </a:r>
                      <a:endParaRPr lang="en-US" altLang="ko-KR" sz="1500" b="1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dirty="0" smtClean="0"/>
                        <a:t>특히 그룹가치 실현을 위한 그룹차원의 </a:t>
                      </a:r>
                      <a:r>
                        <a:rPr lang="en-US" altLang="ko-KR" sz="1500" b="1" dirty="0" smtClean="0"/>
                        <a:t>IR</a:t>
                      </a:r>
                      <a:r>
                        <a:rPr lang="ko-KR" altLang="en-US" sz="1500" b="1" dirty="0" smtClean="0"/>
                        <a:t>활동이 중요</a:t>
                      </a:r>
                      <a:endParaRPr lang="en-US" altLang="ko-KR" sz="1500" b="1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07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b="1" dirty="0" smtClean="0"/>
                        <a:t>시스템변화</a:t>
                      </a:r>
                      <a:endParaRPr lang="ko-KR" altLang="en-US" sz="1500" b="1" dirty="0"/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baseline="0" dirty="0" smtClean="0"/>
                        <a:t>연결기업의 내부통제</a:t>
                      </a:r>
                      <a:r>
                        <a:rPr lang="en-US" altLang="ko-KR" sz="1500" b="1" baseline="0" dirty="0" smtClean="0"/>
                        <a:t>, </a:t>
                      </a:r>
                      <a:r>
                        <a:rPr lang="ko-KR" altLang="en-US" sz="1500" b="1" baseline="0" dirty="0" smtClean="0"/>
                        <a:t>재무보고를 위한 내부회계관리 시스템</a:t>
                      </a:r>
                      <a:r>
                        <a:rPr lang="en-US" altLang="ko-KR" sz="1500" b="1" baseline="0" dirty="0" smtClean="0"/>
                        <a:t>, </a:t>
                      </a:r>
                      <a:r>
                        <a:rPr lang="ko-KR" altLang="en-US" sz="1500" b="1" baseline="0" dirty="0" smtClean="0"/>
                        <a:t>그룹연결결산체제 구축</a:t>
                      </a:r>
                      <a:endParaRPr lang="en-US" altLang="ko-KR" sz="1500" b="1" baseline="0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baseline="0" dirty="0" smtClean="0"/>
                        <a:t>내부 경영관리를 위한 관리회계 시스템 및 성과평가  시스템 연계대응 필요 </a:t>
                      </a:r>
                      <a:endParaRPr lang="en-US" altLang="ko-KR" sz="1500" b="1" baseline="0" dirty="0" smtClean="0"/>
                    </a:p>
                    <a:p>
                      <a:pPr marL="285750" indent="-285750" latinLnBrk="1">
                        <a:lnSpc>
                          <a:spcPct val="12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500" b="1" baseline="0" dirty="0" smtClean="0"/>
                        <a:t>통합 공시체제 구축 및 새로운 </a:t>
                      </a:r>
                      <a:r>
                        <a:rPr lang="en-US" altLang="ko-KR" sz="1500" b="1" baseline="0" dirty="0" smtClean="0"/>
                        <a:t>Business Reporting </a:t>
                      </a:r>
                      <a:r>
                        <a:rPr lang="ko-KR" altLang="en-US" sz="1500" b="1" baseline="0" dirty="0" smtClean="0"/>
                        <a:t>수단</a:t>
                      </a:r>
                      <a:r>
                        <a:rPr lang="en-US" altLang="ko-KR" sz="1500" b="1" baseline="0" dirty="0" smtClean="0"/>
                        <a:t>(XBRL </a:t>
                      </a:r>
                      <a:r>
                        <a:rPr lang="ko-KR" altLang="en-US" sz="1500" b="1" baseline="0" dirty="0" smtClean="0"/>
                        <a:t>등</a:t>
                      </a:r>
                      <a:r>
                        <a:rPr lang="en-US" altLang="ko-KR" sz="1500" b="1" baseline="0" dirty="0" smtClean="0"/>
                        <a:t>)</a:t>
                      </a:r>
                      <a:r>
                        <a:rPr lang="ko-KR" altLang="en-US" sz="1500" b="1" baseline="0" dirty="0" smtClean="0"/>
                        <a:t>도입검토 필요</a:t>
                      </a:r>
                      <a:endParaRPr lang="en-US" altLang="ko-KR" sz="1500" b="1" dirty="0" smtClean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39195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059458" y="1062680"/>
            <a:ext cx="8180173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02.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현금흐름의 중요성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2059459" y="5244017"/>
            <a:ext cx="7760044" cy="17200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endParaRPr kumimoji="0" lang="ko-KR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_x187492992"/>
          <p:cNvSpPr>
            <a:spLocks noChangeArrowheads="1"/>
          </p:cNvSpPr>
          <p:nvPr/>
        </p:nvSpPr>
        <p:spPr bwMode="auto">
          <a:xfrm>
            <a:off x="2059457" y="2544430"/>
            <a:ext cx="8180173" cy="34444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왜 현금흐름이 중요할까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12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현금흐름을 통해 파악할 수 없는 정보는 무엇일까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kumimoji="0" lang="en-US" altLang="ko-KR" sz="12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3.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회계기간에 벌어들인 이익은 왜 현금과 같지 않을까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1200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4.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현금흐름의 정보는 재무상태를 나타낼까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2211859" y="1702773"/>
            <a:ext cx="8180173" cy="27053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24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88217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43697" y="239521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1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왜 현금흐름이 중요할까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543697" y="930875"/>
            <a:ext cx="10985456" cy="18288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재무관리의 목적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기업가치의 극대화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소유주 부의 극대화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수익성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(profitability)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이익의 극대화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생존능력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(viability)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위험의 회피      유동성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(liquidity)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과 지불능력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(solvency)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현금흐름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(cash flow)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유동성에 관한 정보를 제공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4662615" y="2001795"/>
            <a:ext cx="172995" cy="172994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_x187492992"/>
          <p:cNvSpPr>
            <a:spLocks noChangeArrowheads="1"/>
          </p:cNvSpPr>
          <p:nvPr/>
        </p:nvSpPr>
        <p:spPr bwMode="auto">
          <a:xfrm>
            <a:off x="543697" y="3091355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2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현금흐름을 통해 파악할 수 없는 정보는 무엇일까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_x187492992"/>
          <p:cNvSpPr>
            <a:spLocks noChangeArrowheads="1"/>
          </p:cNvSpPr>
          <p:nvPr/>
        </p:nvSpPr>
        <p:spPr bwMode="auto">
          <a:xfrm>
            <a:off x="543697" y="3880023"/>
            <a:ext cx="10985456" cy="23642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회계기간 동안에 벌어들인 기업의 이익과 손실의 크기</a:t>
            </a:r>
            <a:endParaRPr lang="en-US" altLang="ko-KR" b="1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포괄손익계산서</a:t>
            </a:r>
            <a:r>
              <a:rPr lang="en-US" altLang="ko-KR" sz="16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(statement of comprehensive income)</a:t>
            </a:r>
            <a:r>
              <a:rPr lang="ko-KR" altLang="en-US" sz="16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 기간의 경영성과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이익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or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손실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를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algn="just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</a:t>
            </a:r>
            <a:r>
              <a:rPr lang="ko-KR" altLang="en-US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이익창출을 </a:t>
            </a:r>
            <a:r>
              <a:rPr lang="ko-KR" altLang="en-US" b="1" dirty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위한 영업활동 현금흐름은 회계이익과 </a:t>
            </a:r>
            <a:r>
              <a:rPr lang="ko-KR" altLang="en-US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동일하지 않음</a:t>
            </a:r>
            <a:endParaRPr lang="en-US" altLang="ko-KR" b="1" dirty="0" smtClean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err="1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회계기간말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현재 시점에서의 기업 재무상태</a:t>
            </a:r>
            <a:endParaRPr lang="en-US" altLang="ko-KR" b="1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재무상태표</a:t>
            </a:r>
            <a:r>
              <a:rPr lang="en-US" altLang="ko-KR" sz="16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16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statement </a:t>
            </a:r>
            <a:r>
              <a:rPr lang="en-US" altLang="ko-KR" sz="16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of financial </a:t>
            </a:r>
            <a:r>
              <a:rPr lang="en-US" altLang="ko-KR" sz="16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position)</a:t>
            </a:r>
            <a:r>
              <a:rPr lang="ko-KR" altLang="en-US" sz="16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일정시점에서 기업의 재무상태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부채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를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1136822" y="4983892"/>
            <a:ext cx="172994" cy="20368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8557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892667" y="1169773"/>
            <a:ext cx="10434360" cy="52227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이익을 창출하는 영업활동 현금흐름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유입과 유출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           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매출로 인한 현금유입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일부는 전년도 매출액 중 현금유입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  :   10,225,000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판매된 제품의 제조를 위해 사용된 현금지출액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-7,130,000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영업활동을 위한 각종 현금지출액                 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-1,965,000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장단기 어음에 대한 이자지급액                    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   - 98,333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법인세비용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일부는 전년도 과세대상이익에 대한 지출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       :    - 490,860          </a:t>
            </a:r>
            <a:r>
              <a:rPr lang="en-US" altLang="ko-KR" b="1" u="sng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540,807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이익창출을 하지 않은 그 밖의 현금흐름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원천과 사용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        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이자부어음으로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인한 차입금                        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     175,000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신주발행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유상증자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                                                     :          50,000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빌딩 및 기계장치 등 구입                            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  - 750,000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주주들에게 현금배당                                             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    - 200,000      </a:t>
            </a:r>
            <a:r>
              <a:rPr lang="en-US" altLang="ko-KR" b="1" u="sng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- 725,000</a:t>
            </a:r>
            <a:endParaRPr lang="en-US" altLang="ko-KR" b="1" u="sng" dirty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24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회계연도 동안의 </a:t>
            </a:r>
            <a:r>
              <a:rPr lang="ko-KR" altLang="en-US" b="1" dirty="0" err="1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순현금</a:t>
            </a:r>
            <a:r>
              <a:rPr lang="ko-KR" altLang="en-US" b="1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증감                                           </a:t>
            </a:r>
            <a:r>
              <a:rPr lang="en-US" altLang="ko-KR" b="1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                       </a:t>
            </a:r>
            <a:r>
              <a:rPr lang="en-US" altLang="ko-KR" b="1" u="sng" dirty="0" smtClean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- 184,193</a:t>
            </a:r>
          </a:p>
        </p:txBody>
      </p:sp>
      <p:sp>
        <p:nvSpPr>
          <p:cNvPr id="3" name="_x187697480"/>
          <p:cNvSpPr>
            <a:spLocks noChangeArrowheads="1"/>
          </p:cNvSpPr>
          <p:nvPr/>
        </p:nvSpPr>
        <p:spPr bwMode="auto">
          <a:xfrm>
            <a:off x="2940908" y="481204"/>
            <a:ext cx="6219568" cy="47270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(</a:t>
            </a:r>
            <a:r>
              <a:rPr kumimoji="0" lang="ko-KR" altLang="en-US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표 </a:t>
            </a:r>
            <a:r>
              <a:rPr kumimoji="0" lang="en-US" altLang="ko-KR" sz="24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2-1)  </a:t>
            </a:r>
            <a:r>
              <a:rPr kumimoji="0" lang="ko-KR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기업활동에서의 회계정보의 역할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11677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93125" y="389345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j-ea"/>
                <a:ea typeface="+mj-ea"/>
              </a:rPr>
              <a:t>3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회계기간에 벌어들인 이익은 왜 </a:t>
            </a:r>
            <a:r>
              <a:rPr lang="ko-KR" altLang="en-US" sz="2400" b="1" dirty="0" smtClean="0">
                <a:solidFill>
                  <a:srgbClr val="FFFFFF"/>
                </a:solidFill>
                <a:latin typeface="+mj-ea"/>
                <a:ea typeface="+mj-ea"/>
              </a:rPr>
              <a:t>현금과 같지 않을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j-ea"/>
                <a:ea typeface="+mj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593125" y="996780"/>
            <a:ext cx="10985456" cy="28997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발생주의 회계 </a:t>
            </a:r>
            <a:r>
              <a:rPr lang="en-US" altLang="ko-KR" b="1" dirty="0" smtClean="0">
                <a:solidFill>
                  <a:srgbClr val="C0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(accrual basis of accounting)</a:t>
            </a:r>
          </a:p>
          <a:p>
            <a:pPr marL="46800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기업의 재무에 영향을 줄 수 있는 사건이 발생한 시점에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수익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·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비용을 인식하는 회계방법</a:t>
            </a:r>
            <a:endParaRPr lang="en-US" altLang="ko-KR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>
              <a:lnSpc>
                <a:spcPct val="150000"/>
              </a:lnSpc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현금이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수취되거나 지급되는 기간에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기록하지 않고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거래의 발생시점에 기록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>
              <a:lnSpc>
                <a:spcPct val="150000"/>
              </a:lnSpc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영업활동과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관련된 기록과 현금의 </a:t>
            </a:r>
            <a:r>
              <a:rPr lang="ko-KR" altLang="en-US" b="1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유출입과는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일치하지 않음</a:t>
            </a:r>
            <a:endParaRPr lang="en-US" altLang="ko-KR" b="1" dirty="0" smtClean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C0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현금주의 회계 </a:t>
            </a:r>
            <a:r>
              <a:rPr lang="en-US" altLang="ko-KR" b="1" dirty="0" smtClean="0">
                <a:solidFill>
                  <a:srgbClr val="C00000"/>
                </a:solidFill>
                <a:latin typeface="HY수평선M" panose="02030600000101010101" pitchFamily="18" charset="-127"/>
                <a:ea typeface="HY수평선M" panose="02030600000101010101" pitchFamily="18" charset="-127"/>
              </a:rPr>
              <a:t>(cash basis of accounting)</a:t>
            </a:r>
          </a:p>
          <a:p>
            <a:pPr marL="468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현금의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수입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·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지출이 발생하는 시점에 수익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·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비용을 인식하는 회계방법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재화나 용역의 인수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·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인도의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시점은 중요하지 않고 현금의 수취와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지급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시점만이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기준이 됨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593125" y="4082605"/>
          <a:ext cx="10871877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04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사  </a:t>
                      </a:r>
                      <a:r>
                        <a:rPr lang="ko-KR" altLang="en-US" dirty="0" err="1" smtClean="0"/>
                        <a:t>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발생주의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현금주의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비  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외상매출금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매출로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매출로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현금수입이 수반되지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외상매입금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매입으로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매입으로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현금지출이 수반되지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선 급 비 용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비용으로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비용으로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현금지출이 이루어짐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선 수 수 </a:t>
                      </a:r>
                      <a:r>
                        <a:rPr lang="ko-KR" altLang="en-US" sz="1600" b="1" dirty="0" err="1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익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수익으로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수익으로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현금수입이 이루어짐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미 지 급 금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비용으로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비용으로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현금지출이 수반되지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미   수   금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수익으로 인식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수익으로 인식하지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- </a:t>
                      </a:r>
                      <a:r>
                        <a:rPr lang="ko-KR" altLang="en-US" sz="1600" b="1" dirty="0" smtClean="0"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현금수입이 수반되지 않음</a:t>
                      </a: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792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93125" y="389345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4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현금흐름의 정보는 재무상태를 나타낼까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Picture 2" descr="http://www.se-sang.com/wp-content/uploads/2014/06/%EC%9E%AC%EB%AC%B4%EC%A0%9C%ED%91%9C-%EB%8F%84%EC%8B%9D%ED%99%94-%EC%B5%9C%EC%A2%85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25" y="1139950"/>
            <a:ext cx="11024414" cy="516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154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 l="21023" t="15640" r="19443" b="12121"/>
          <a:stretch>
            <a:fillRect/>
          </a:stretch>
        </p:blipFill>
        <p:spPr bwMode="auto">
          <a:xfrm>
            <a:off x="1070918" y="2388970"/>
            <a:ext cx="9852453" cy="4201298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</p:spPr>
      </p:pic>
      <p:sp>
        <p:nvSpPr>
          <p:cNvPr id="3" name="_x187697480"/>
          <p:cNvSpPr>
            <a:spLocks noChangeArrowheads="1"/>
          </p:cNvSpPr>
          <p:nvPr/>
        </p:nvSpPr>
        <p:spPr bwMode="auto">
          <a:xfrm>
            <a:off x="3641124" y="395414"/>
            <a:ext cx="5309284" cy="5667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(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그림 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1)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재무제표간의 연관관계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1070918" y="1067597"/>
            <a:ext cx="9852454" cy="11994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err="1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현금흐름표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기업이 현금흐름을 얼마나 창출하고 어떻게 사용하였는지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                 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현금이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부족시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어떻게 조달하였는지에 정보를 제공하는 보고서임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현금흐름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(cash flow)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은 그 기업의 재무상태나 영업성과를 나타내는 것은 아님</a:t>
            </a:r>
            <a:endParaRPr lang="en-US" altLang="ko-KR" b="1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09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93125" y="389345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800" b="1" dirty="0" smtClean="0">
                <a:solidFill>
                  <a:srgbClr val="FFFFFF"/>
                </a:solidFill>
                <a:latin typeface="+mn-ea"/>
              </a:rPr>
              <a:t>KEY WORD</a:t>
            </a:r>
            <a:endParaRPr kumimoji="0" lang="ko-KR" altLang="ko-K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593125" y="1230716"/>
            <a:ext cx="11024414" cy="5268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2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국제회계기준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(IFRS : International Financial Reporting Standards)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2.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회계정보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(Accounting Information)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3.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현금흐름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(Cash Flow)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4.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발생주의 회계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(Accrual Basis of Accounting)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5.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현금주의 회계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(Cash Basis of Accounting)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6.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인정된 회계원칙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(GAAP : Generally Accepted Accounting Principle)</a:t>
            </a:r>
          </a:p>
        </p:txBody>
      </p:sp>
    </p:spTree>
    <p:extLst>
      <p:ext uri="{BB962C8B-B14F-4D97-AF65-F5344CB8AC3E}">
        <p14:creationId xmlns:p14="http://schemas.microsoft.com/office/powerpoint/2010/main" val="1670586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059458" y="1062680"/>
            <a:ext cx="8180173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03.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회계처리절차와 재무제표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2059459" y="5244017"/>
            <a:ext cx="7760044" cy="17200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endParaRPr kumimoji="0" lang="ko-KR" altLang="ko-KR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_x187492992"/>
          <p:cNvSpPr>
            <a:spLocks noChangeArrowheads="1"/>
          </p:cNvSpPr>
          <p:nvPr/>
        </p:nvSpPr>
        <p:spPr bwMode="auto">
          <a:xfrm>
            <a:off x="2059458" y="2462913"/>
            <a:ext cx="8180173" cy="36092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재무상태 및 경영성과를 어디에 기록할까?</a:t>
            </a:r>
            <a:endParaRPr lang="en-US" altLang="ko-KR" sz="24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포괄손익계산서에서</a:t>
            </a:r>
            <a:r>
              <a:rPr kumimoji="0" lang="ko-KR" altLang="en-US" sz="24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어떤 정보를 찾을 수 있을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3.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재무상태표에서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어떤 정보를 찾을 수 있을까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4.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모든 거래는 회계장부에 기록해야 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5.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회계의 순환과정이란 무엇일까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6.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사례로 회계순환과정을 배워 보자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2211859" y="1702773"/>
            <a:ext cx="8180173" cy="270536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24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13241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43697" y="239521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1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재무상태 및 경영성과를 어디에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기록할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543697" y="930875"/>
            <a:ext cx="10985456" cy="51530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sz="2000" b="1" dirty="0" err="1" smtClean="0">
                <a:solidFill>
                  <a:srgbClr val="C00000"/>
                </a:solidFill>
                <a:latin typeface="+mj-ea"/>
                <a:ea typeface="+mj-ea"/>
              </a:rPr>
              <a:t>재무상태표</a:t>
            </a:r>
            <a:r>
              <a:rPr lang="en-US" altLang="ko-KR" sz="2000" b="1" dirty="0" smtClean="0">
                <a:solidFill>
                  <a:srgbClr val="C00000"/>
                </a:solidFill>
                <a:latin typeface="+mj-ea"/>
                <a:ea typeface="+mj-ea"/>
              </a:rPr>
              <a:t>(statement of financial position)</a:t>
            </a:r>
            <a:r>
              <a:rPr lang="en-US" altLang="ko-KR" sz="2000" b="1" dirty="0" smtClean="0">
                <a:latin typeface="+mj-ea"/>
                <a:ea typeface="+mj-ea"/>
              </a:rPr>
              <a:t> 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특정시점에서 기업의 </a:t>
            </a:r>
            <a:r>
              <a:rPr lang="ko-KR" altLang="en-US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재무상태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를 나타내는 회계보고서</a:t>
            </a:r>
            <a:endParaRPr lang="en-US" altLang="ko-KR" sz="20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(assets),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부채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(liabilities),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(capital)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을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기록</a:t>
            </a:r>
            <a:endParaRPr lang="en-US" altLang="ko-KR" sz="20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algn="just" latinLnBrk="0">
              <a:lnSpc>
                <a:spcPct val="150000"/>
              </a:lnSpc>
            </a:pP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*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 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미래의 경제적 </a:t>
            </a:r>
            <a:r>
              <a:rPr lang="ko-KR" altLang="en-US" sz="2000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효익</a:t>
            </a:r>
            <a:endParaRPr lang="en-US" altLang="ko-KR" sz="20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algn="just" latinLnBrk="0">
              <a:lnSpc>
                <a:spcPct val="150000"/>
              </a:lnSpc>
            </a:pPr>
            <a:endParaRPr lang="en-US" altLang="ko-KR" sz="8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sz="2000" b="1" dirty="0" smtClean="0">
                <a:solidFill>
                  <a:srgbClr val="C00000"/>
                </a:solidFill>
                <a:latin typeface="+mj-ea"/>
                <a:ea typeface="+mj-ea"/>
              </a:rPr>
              <a:t>손익계산서</a:t>
            </a:r>
            <a:r>
              <a:rPr lang="en-US" altLang="ko-KR" sz="2000" b="1" dirty="0" smtClean="0">
                <a:solidFill>
                  <a:srgbClr val="C00000"/>
                </a:solidFill>
                <a:latin typeface="+mj-ea"/>
                <a:ea typeface="+mj-ea"/>
              </a:rPr>
              <a:t>(statement of comprehensive income)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+mj-ea"/>
                <a:ea typeface="+mj-ea"/>
              </a:rPr>
              <a:t> 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+mj-ea"/>
              <a:ea typeface="+mj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일정기간 </a:t>
            </a:r>
            <a:r>
              <a:rPr lang="ko-KR" altLang="en-US" sz="20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동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안에 일어난 기업의 </a:t>
            </a:r>
            <a:r>
              <a:rPr lang="ko-KR" altLang="en-US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경영성과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를 나타내는 회계보고서</a:t>
            </a:r>
            <a:endParaRPr lang="en-US" altLang="ko-KR" sz="20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수익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income or revenues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),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비용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(expenses)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을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기록</a:t>
            </a:r>
            <a:endParaRPr lang="en-US" altLang="ko-KR" sz="2000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0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  * </a:t>
            </a:r>
            <a:r>
              <a:rPr kumimoji="0" lang="ko-KR" altLang="en-US" sz="20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수익 </a:t>
            </a:r>
            <a:r>
              <a:rPr kumimoji="0" lang="en-US" altLang="ko-KR" sz="20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sz="20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경제적 </a:t>
            </a:r>
            <a:r>
              <a:rPr kumimoji="0" lang="ko-KR" altLang="en-US" sz="2000" b="1" i="0" u="none" strike="noStrike" cap="none" normalizeH="0" dirty="0" err="1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효익을</a:t>
            </a:r>
            <a:r>
              <a:rPr kumimoji="0" lang="ko-KR" altLang="en-US" sz="2000" b="1" i="0" u="none" strike="noStrike" cap="none" normalizeH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20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제공한 대가로 받은 돈</a:t>
            </a:r>
            <a:endParaRPr lang="en-US" altLang="ko-KR" sz="20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 *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비용 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수익을 얻기 위해 희생한 가치</a:t>
            </a:r>
            <a:endParaRPr lang="en-US" altLang="ko-KR" sz="2000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&lt;</a:t>
            </a:r>
            <a:r>
              <a:rPr lang="ko-KR" altLang="en-US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참고</a:t>
            </a:r>
            <a:r>
              <a:rPr lang="en-US" altLang="ko-KR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&gt; </a:t>
            </a:r>
            <a:r>
              <a:rPr lang="ko-KR" altLang="en-US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현금흐름 </a:t>
            </a:r>
            <a:r>
              <a:rPr lang="en-US" altLang="ko-KR" sz="2000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기업의 생존능력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(viability)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에 초점을 맞추고 있음</a:t>
            </a:r>
            <a:endParaRPr kumimoji="0" lang="en-US" altLang="ko-KR" sz="20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10298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52748" y="81355"/>
            <a:ext cx="11126225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2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포괄손익계산서에서 어떤 정보를 찾을 수 있을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552747" y="642805"/>
          <a:ext cx="11126227" cy="5801772"/>
        </p:xfrm>
        <a:graphic>
          <a:graphicData uri="http://schemas.openxmlformats.org/drawingml/2006/table">
            <a:tbl>
              <a:tblPr/>
              <a:tblGrid>
                <a:gridCol w="281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3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1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33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320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손익계산서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보고식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손익계산서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계정식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0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○○회사              </a:t>
                      </a:r>
                      <a:r>
                        <a:rPr lang="en-US" altLang="ko-KR" sz="14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××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kern="0" spc="-1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~20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××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○○회사                  </a:t>
                      </a:r>
                      <a:r>
                        <a:rPr lang="en-US" altLang="ko-KR" sz="140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××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~20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××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Ⅰ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Ⅱ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Ⅰ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Ⅱ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Ⅲ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400" b="1" kern="0" spc="-30" baseline="0" dirty="0" smtClean="0">
                          <a:solidFill>
                            <a:schemeClr val="tx1"/>
                          </a:solidFill>
                          <a:effectLst/>
                          <a:ea typeface="신명 신명조"/>
                        </a:rPr>
                        <a:t>Ⅲ</a:t>
                      </a:r>
                      <a:r>
                        <a:rPr lang="en-US" altLang="ko-KR" sz="1400" b="1" kern="0" spc="-30" baseline="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baseline="0" dirty="0" err="1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endParaRPr lang="ko-KR" altLang="en-US" sz="1400" b="1" kern="0" spc="-30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Ⅳ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판매비와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관리비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33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Ⅳ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판매비와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관리비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Ⅵ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7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영업외수익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chemeClr val="tx1"/>
                          </a:solidFill>
                          <a:effectLst/>
                          <a:ea typeface="신명 신명조"/>
                        </a:rPr>
                        <a:t>Ⅴ</a:t>
                      </a:r>
                      <a:r>
                        <a:rPr lang="en-US" altLang="ko-KR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Ⅶ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3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Ⅵ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영업외수익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Ⅷ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경상이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Ⅸ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17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특별이</a:t>
                      </a:r>
                      <a:r>
                        <a:rPr lang="ko-KR" altLang="en-US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Ⅶ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Ⅹ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특별손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실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chemeClr val="tx1"/>
                          </a:solidFill>
                          <a:effectLst/>
                          <a:ea typeface="신명 신명조"/>
                        </a:rPr>
                        <a:t> Ⅷ</a:t>
                      </a:r>
                      <a:r>
                        <a:rPr lang="en-US" altLang="ko-KR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경상이</a:t>
                      </a:r>
                      <a:r>
                        <a:rPr lang="ko-KR" altLang="en-US" sz="1400" b="1" kern="0" spc="-30" dirty="0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Ⅺ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1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법인세비용차감전순이익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Ⅸ</a:t>
                      </a:r>
                      <a:r>
                        <a:rPr lang="en-US" altLang="ko-KR" sz="1400" b="1" kern="0" spc="-30" dirty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특별이</a:t>
                      </a:r>
                      <a:r>
                        <a:rPr lang="ko-KR" altLang="en-US" sz="14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Ⅻ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Ⅹ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특별손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실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45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    </a:t>
                      </a:r>
                      <a:r>
                        <a:rPr lang="en-US" altLang="ko-KR" sz="1400" b="1" kern="0" spc="-450" dirty="0" err="1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Ⅹ</a:t>
                      </a:r>
                      <a:r>
                        <a:rPr lang="en-US" altLang="ko-KR" sz="1400" b="1" kern="0" spc="-200" dirty="0" err="1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Ⅲ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r>
                        <a:rPr lang="ko-KR" altLang="en-US" sz="1400" b="1" kern="0" spc="-30" dirty="0" err="1">
                          <a:solidFill>
                            <a:srgbClr val="0066FF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66FF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chemeClr val="tx1"/>
                          </a:solidFill>
                          <a:effectLst/>
                          <a:ea typeface="신명 신명조"/>
                        </a:rPr>
                        <a:t> Ⅺ</a:t>
                      </a:r>
                      <a:r>
                        <a:rPr lang="en-US" altLang="ko-KR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100" dirty="0">
                          <a:solidFill>
                            <a:schemeClr val="tx1"/>
                          </a:solidFill>
                          <a:effectLst/>
                          <a:ea typeface="한양중고딕"/>
                        </a:rPr>
                        <a:t>법인세비용차감전순이익</a:t>
                      </a:r>
                      <a:endParaRPr lang="ko-KR" altLang="en-US" sz="1400" b="1" kern="0" spc="-3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66FF"/>
                          </a:solidFill>
                          <a:effectLst/>
                          <a:latin typeface="신명 신명조"/>
                          <a:ea typeface="한양중고딕"/>
                        </a:rPr>
                        <a:t>      기타포괄손익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Ⅻ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</a:t>
                      </a:r>
                      <a:r>
                        <a:rPr lang="ko-KR" altLang="en-US" sz="14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총포괄이익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450" dirty="0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       </a:t>
                      </a:r>
                      <a:r>
                        <a:rPr lang="en-US" altLang="ko-KR" sz="1400" b="1" kern="0" spc="-450" dirty="0" err="1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Ⅹ</a:t>
                      </a:r>
                      <a:r>
                        <a:rPr lang="en-US" altLang="ko-KR" sz="1400" b="1" kern="0" spc="-200" dirty="0" err="1" smtClean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Ⅲ</a:t>
                      </a:r>
                      <a:r>
                        <a:rPr lang="en-US" altLang="ko-KR" sz="1400" b="1" kern="0" spc="-30" dirty="0" smtClean="0">
                          <a:solidFill>
                            <a:srgbClr val="0000FF"/>
                          </a:solidFill>
                          <a:effectLst/>
                          <a:latin typeface="신명 신명조"/>
                        </a:rPr>
                        <a:t>. </a:t>
                      </a:r>
                      <a:r>
                        <a:rPr lang="ko-KR" altLang="en-US" sz="1400" b="1" kern="0" spc="-30" dirty="0" err="1" smtClean="0">
                          <a:solidFill>
                            <a:srgbClr val="0000FF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66FF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FF"/>
                          </a:solidFill>
                          <a:effectLst/>
                          <a:latin typeface="신명 신명조"/>
                          <a:ea typeface="한양중고딕"/>
                        </a:rPr>
                        <a:t>       기타포괄손익</a:t>
                      </a:r>
                      <a:endParaRPr lang="ko-KR" altLang="en-US" sz="1400" b="1" kern="0" spc="-30" dirty="0">
                        <a:solidFill>
                          <a:srgbClr val="0000FF"/>
                        </a:solidFill>
                        <a:effectLst/>
                        <a:latin typeface="신명 신명조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320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      </a:t>
                      </a:r>
                      <a:r>
                        <a:rPr lang="ko-KR" altLang="en-US" sz="14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총포괄이익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×××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350" marR="8350" marT="8350" marB="8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114925" y="16144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4187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594720" y="1056549"/>
          <a:ext cx="5208551" cy="4339313"/>
        </p:xfrm>
        <a:graphic>
          <a:graphicData uri="http://schemas.openxmlformats.org/drawingml/2006/table">
            <a:tbl>
              <a:tblPr/>
              <a:tblGrid>
                <a:gridCol w="3909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1E05D9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매출액</a:t>
                      </a:r>
                      <a:r>
                        <a:rPr lang="en-US" altLang="ko-KR" sz="1400" b="1" kern="0" spc="-30" dirty="0">
                          <a:solidFill>
                            <a:srgbClr val="1E05D9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1E05D9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sales revenue)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1E05D9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$10,400,000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매출원가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6,760,000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lang="ko-KR" altLang="en-US" sz="14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매출총이익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gross margin)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$3,640,000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2,080,000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감가상각비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260,000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영업이익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operating earnings)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$1,300,000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이자비용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103,000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법인세차감전이익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earnings before income tax)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$1,197,000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478,800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lang="ko-KR" altLang="en-US" sz="1400" b="1" kern="0" spc="-30" dirty="0" err="1" smtClean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당기순이익</a:t>
                      </a:r>
                      <a:r>
                        <a:rPr lang="en-US" altLang="ko-KR" sz="1400" b="1" kern="0" spc="-30" dirty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net income)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$718,200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4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주당순이익</a:t>
                      </a:r>
                      <a:r>
                        <a:rPr lang="en-US" altLang="ko-KR" sz="1400" b="1" kern="0" spc="-30" dirty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earnings per share)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$3.59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94721" y="442708"/>
            <a:ext cx="5208550" cy="4001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신명 신명조"/>
              </a:rPr>
              <a:t>  </a:t>
            </a: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신명 신명조"/>
              </a:rPr>
              <a:t>&lt;</a:t>
            </a:r>
            <a:r>
              <a:rPr kumimoji="0" lang="ko-KR" alt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ea typeface="#태고딕"/>
              </a:rPr>
              <a:t>표 </a:t>
            </a: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ea typeface="#태고딕"/>
              </a:rPr>
              <a:t>3-2</a:t>
            </a: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신명 신명조"/>
              </a:rPr>
              <a:t>&gt;</a:t>
            </a: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ea typeface="#태고딕"/>
              </a:rPr>
              <a:t> </a:t>
            </a:r>
            <a:r>
              <a:rPr kumimoji="0" lang="ko-KR" alt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ea typeface="#태고딕"/>
              </a:rPr>
              <a:t>한 회계기간 동안의 손익계산서</a:t>
            </a:r>
            <a:endParaRPr kumimoji="0" lang="ko-KR" altLang="en-US" sz="20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594719" y="5618084"/>
          <a:ext cx="5208551" cy="734240"/>
        </p:xfrm>
        <a:graphic>
          <a:graphicData uri="http://schemas.openxmlformats.org/drawingml/2006/table">
            <a:tbl>
              <a:tblPr/>
              <a:tblGrid>
                <a:gridCol w="144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6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2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1E05D9"/>
                          </a:solidFill>
                          <a:effectLst/>
                          <a:ea typeface="한양중고딕"/>
                        </a:rPr>
                        <a:t>수 </a:t>
                      </a:r>
                      <a:r>
                        <a:rPr lang="ko-KR" altLang="en-US" sz="1600" b="1" kern="0" spc="-30" dirty="0" err="1">
                          <a:solidFill>
                            <a:srgbClr val="1E05D9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600" b="1" kern="0" spc="-30" dirty="0">
                        <a:solidFill>
                          <a:srgbClr val="1E05D9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－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비 용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ea typeface="한양중고딕"/>
                        </a:rPr>
                        <a:t>이 </a:t>
                      </a: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한양중고딕"/>
                        </a:rPr>
                        <a:t>익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1E05D9"/>
                          </a:solidFill>
                          <a:effectLst/>
                          <a:latin typeface="신명 신명조"/>
                        </a:rPr>
                        <a:t>($10,400,000)</a:t>
                      </a:r>
                      <a:endParaRPr lang="en-US" sz="1600" b="1" kern="0" spc="-30" dirty="0">
                        <a:solidFill>
                          <a:srgbClr val="1E05D9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($9,681,800)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($718,200)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_x187492992"/>
          <p:cNvSpPr>
            <a:spLocks noChangeArrowheads="1"/>
          </p:cNvSpPr>
          <p:nvPr/>
        </p:nvSpPr>
        <p:spPr bwMode="auto">
          <a:xfrm>
            <a:off x="5975286" y="1056550"/>
            <a:ext cx="5869873" cy="53646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매출액 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고객에게 제품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판매후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받은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총금액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순액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 </a:t>
            </a:r>
            <a:endParaRPr lang="en-US" altLang="ko-KR" b="1" dirty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회계기간 동안 소비자에게 판매된 제품의 총비용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영업비용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이자비용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법인세를 제외한 모든 비용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감가상각비는 영업비용에 해당하나 별도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계상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감가상각비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유형자산의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상각비용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이자비용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차입금에 대한 금융비용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법인세비용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4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과세대상이익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맑은 고딕"/>
                <a:ea typeface="맑은 고딕"/>
              </a:rPr>
              <a:t>×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법인세율</a:t>
            </a:r>
            <a:endParaRPr lang="en-US" altLang="ko-KR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6417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52749" y="81355"/>
            <a:ext cx="1102441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3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재무상태표에서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 어떤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정보를 찾을 수 있을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552749" y="719355"/>
          <a:ext cx="11024416" cy="5732304"/>
        </p:xfrm>
        <a:graphic>
          <a:graphicData uri="http://schemas.openxmlformats.org/drawingml/2006/table">
            <a:tbl>
              <a:tblPr/>
              <a:tblGrid>
                <a:gridCol w="507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5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6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979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54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9541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702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50" dirty="0" err="1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재무상태표</a:t>
                      </a:r>
                      <a:r>
                        <a:rPr lang="en-US" altLang="ko-KR" sz="18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8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계정식</a:t>
                      </a:r>
                      <a:r>
                        <a:rPr lang="en-US" altLang="ko-KR" sz="18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8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○○</a:t>
                      </a:r>
                      <a:r>
                        <a:rPr lang="ko-KR" altLang="en-US" sz="1400" kern="0" spc="-100" dirty="0" smtClean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회사   </a:t>
                      </a:r>
                      <a:r>
                        <a:rPr lang="en-US" altLang="ko-KR" sz="1400" kern="0" spc="-100" dirty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20××</a:t>
                      </a:r>
                      <a:r>
                        <a:rPr lang="ko-KR" altLang="en-US" sz="1400" kern="0" spc="-100" dirty="0" smtClean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년  </a:t>
                      </a:r>
                      <a:r>
                        <a:rPr lang="en-US" altLang="ko-KR" sz="1400" kern="0" spc="-100" dirty="0" smtClean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12</a:t>
                      </a:r>
                      <a:r>
                        <a:rPr lang="ko-KR" altLang="en-US" sz="1400" kern="0" spc="-100" dirty="0" smtClean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월  </a:t>
                      </a:r>
                      <a:r>
                        <a:rPr lang="en-US" altLang="ko-KR" sz="1400" kern="0" spc="-100" dirty="0" smtClean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31</a:t>
                      </a:r>
                      <a:r>
                        <a:rPr lang="ko-KR" altLang="en-US" sz="1400" kern="0" spc="-100" dirty="0">
                          <a:solidFill>
                            <a:srgbClr val="000000"/>
                          </a:solidFill>
                          <a:effectLst/>
                          <a:latin typeface="HY중고딕" pitchFamily="18" charset="-127"/>
                          <a:ea typeface="HY중고딕" pitchFamily="18" charset="-127"/>
                        </a:rPr>
                        <a:t>일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HY중고딕" pitchFamily="18" charset="-127"/>
                        <a:ea typeface="HY중고딕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자 산</a:t>
                      </a:r>
                      <a:endParaRPr lang="ko-KR" altLang="en-US" sz="16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부 채</a:t>
                      </a:r>
                      <a:endParaRPr lang="ko-KR" altLang="en-US" sz="16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Ⅰ. </a:t>
                      </a:r>
                      <a:r>
                        <a:rPr lang="ko-KR" altLang="en-US" sz="1600" b="1" kern="0" spc="27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유동자산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Ⅰ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27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유동부채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당좌자산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Ⅱ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-50" dirty="0" err="1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비유동부채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매출채권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 smtClean="0"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부채 총계</a:t>
                      </a:r>
                      <a:endParaRPr lang="ko-KR" altLang="en-US" sz="1600" b="1" kern="0" spc="0" dirty="0"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3)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재고자산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Ⅱ. </a:t>
                      </a:r>
                      <a:r>
                        <a:rPr lang="ko-KR" altLang="en-US" sz="1600" b="1" kern="0" spc="-50" dirty="0" err="1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비유동자산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자 본</a:t>
                      </a:r>
                      <a:endParaRPr lang="ko-KR" altLang="en-US" sz="16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투자자산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Ⅰ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 본 금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유형자산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Ⅱ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자본잉여금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 (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3)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무형자산</a:t>
                      </a: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Ⅲ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27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자본조정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Ⅳ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</a:t>
                      </a:r>
                      <a:r>
                        <a:rPr lang="ko-KR" altLang="en-US" sz="1600" b="1" kern="0" spc="-210" dirty="0" err="1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기타포괄손익누계액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 dirty="0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5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Ⅴ</a:t>
                      </a:r>
                      <a:r>
                        <a:rPr lang="en-US" altLang="ko-KR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. </a:t>
                      </a:r>
                      <a:r>
                        <a:rPr lang="ko-KR" altLang="en-US" sz="1600" b="1" kern="0" spc="-5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이익잉여금</a:t>
                      </a: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600" b="1"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 smtClean="0">
                          <a:solidFill>
                            <a:schemeClr val="tx1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자본 총계</a:t>
                      </a:r>
                      <a:endParaRPr lang="ko-KR" altLang="en-US" sz="1600" b="1" kern="0" spc="0" dirty="0">
                        <a:solidFill>
                          <a:schemeClr val="tx1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428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자산 총계</a:t>
                      </a:r>
                      <a:endParaRPr lang="ko-KR" altLang="en-US" sz="16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50" dirty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부채와 </a:t>
                      </a:r>
                      <a:r>
                        <a:rPr lang="ko-KR" altLang="en-US" sz="1600" b="1" kern="0" spc="-50" dirty="0" smtClean="0">
                          <a:solidFill>
                            <a:srgbClr val="0000FF"/>
                          </a:solidFill>
                          <a:effectLst/>
                          <a:latin typeface="+mj-ea"/>
                          <a:ea typeface="+mj-ea"/>
                        </a:rPr>
                        <a:t>자본 총계</a:t>
                      </a:r>
                      <a:endParaRPr lang="ko-KR" altLang="en-US" sz="1600" b="1" kern="0" spc="0" dirty="0"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10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×××</a:t>
                      </a:r>
                      <a:endParaRPr lang="en-US" sz="1600" b="1" kern="0" spc="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6368" marR="6368" marT="6368" marB="6368">
                    <a:lnL>
                      <a:noFill/>
                    </a:lnL>
                    <a:lnR>
                      <a:noFill/>
                    </a:lnR>
                    <a:lnT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649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633743" y="479834"/>
            <a:ext cx="10918479" cy="59413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자 산 </a:t>
            </a:r>
            <a:endParaRPr lang="en-US" altLang="ko-KR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3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개념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미래의 경제적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효익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미소비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원가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3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배열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유동성 기준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9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유동자산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영업주기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(operating cycle)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기간 동안에 현금으로 전환될 수 있는 자산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9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비유동자산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유형자산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(property),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고정자산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(fixed assets)</a:t>
            </a:r>
          </a:p>
          <a:p>
            <a:pPr marL="360000" algn="just" latinLnBrk="0">
              <a:lnSpc>
                <a:spcPct val="150000"/>
              </a:lnSpc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* </a:t>
            </a: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감가상각</a:t>
            </a:r>
            <a:r>
              <a:rPr lang="en-US" altLang="ko-KR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(depreciation)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유형자산의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원가가 </a:t>
            </a: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내용연수</a:t>
            </a:r>
            <a:r>
              <a:rPr lang="en-US" altLang="ko-KR" b="1" dirty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(useful life</a:t>
            </a:r>
            <a:r>
              <a:rPr lang="en-US" altLang="ko-KR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에 걸쳐 배분되는 과정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부 채 </a:t>
            </a:r>
            <a:endParaRPr lang="en-US" altLang="ko-KR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3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개념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solidFill>
                  <a:srgbClr val="0066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채권자 청구권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자산의 원천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자금의 조달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43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배열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유동성 기준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9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유동부채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단기부채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만기일이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년 이내에 도래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79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비유동부채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장기성부채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만기일이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년 이후에 도래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자 본</a:t>
            </a:r>
            <a:endParaRPr lang="en-US" altLang="ko-KR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개념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소유주 청구권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자산의 원천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자금의 조달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구성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자본금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(capital stock),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이익잉여금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(retained earnings)</a:t>
            </a:r>
            <a:endParaRPr lang="en-US" altLang="ko-KR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86351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61803" y="298638"/>
            <a:ext cx="11024414" cy="570495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4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모든 거래는 회계장부에 기록해야 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" name="_x191282720"/>
          <p:cNvSpPr>
            <a:spLocks noChangeArrowheads="1"/>
          </p:cNvSpPr>
          <p:nvPr/>
        </p:nvSpPr>
        <p:spPr bwMode="auto">
          <a:xfrm>
            <a:off x="561804" y="1461664"/>
            <a:ext cx="4535297" cy="537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-2002"/>
              </a:rPr>
              <a:t>(</a:t>
            </a:r>
            <a:r>
              <a:rPr kumimoji="0" lang="ko-KR" altLang="en-US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-2002"/>
              </a:rPr>
              <a:t>그림 </a:t>
            </a:r>
            <a:r>
              <a:rPr kumimoji="0" lang="en-US" altLang="ko-K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-2002"/>
              </a:rPr>
              <a:t>3-2)   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-2002"/>
              </a:rPr>
              <a:t>일반거래와 회계거래의 차이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35802" y="394075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_x187492992"/>
          <p:cNvSpPr>
            <a:spLocks noChangeArrowheads="1"/>
          </p:cNvSpPr>
          <p:nvPr/>
        </p:nvSpPr>
        <p:spPr bwMode="auto">
          <a:xfrm>
            <a:off x="5988262" y="1346467"/>
            <a:ext cx="5576935" cy="26305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회계거래 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거래 중에서 기업의 재산에 변동을 가져오는 거래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회계장부에 기록하는 거래 </a:t>
            </a:r>
            <a:endParaRPr lang="en-US" altLang="ko-KR" b="1" dirty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재산이 변동하는 거래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금액으로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측정가능한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거래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_x187492992"/>
          <p:cNvSpPr>
            <a:spLocks noChangeArrowheads="1"/>
          </p:cNvSpPr>
          <p:nvPr/>
        </p:nvSpPr>
        <p:spPr bwMode="auto">
          <a:xfrm>
            <a:off x="5988262" y="4176383"/>
            <a:ext cx="5576935" cy="2011897"/>
          </a:xfrm>
          <a:prstGeom prst="rect">
            <a:avLst/>
          </a:prstGeom>
          <a:noFill/>
          <a:ln>
            <a:solidFill>
              <a:srgbClr val="00336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52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754063" algn="l"/>
              </a:tabLst>
            </a:pPr>
            <a:r>
              <a:rPr lang="ko-KR" altLang="en-US" b="1" dirty="0" smtClean="0">
                <a:solidFill>
                  <a:srgbClr val="1E05D9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예시 </a:t>
            </a:r>
            <a:endParaRPr lang="en-US" altLang="ko-KR" b="1" dirty="0" smtClean="0">
              <a:solidFill>
                <a:srgbClr val="1E05D9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8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월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01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영업에 사용하기 위해 자동차를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           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구입하기로 계약을 체결하다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(X)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8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월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15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자동차 대금으로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w20,000,000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을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           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지급하고 자동차를 수령하다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. (O)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1500" t="23295" r="27429" b="32199"/>
          <a:stretch>
            <a:fillRect/>
          </a:stretch>
        </p:blipFill>
        <p:spPr bwMode="auto">
          <a:xfrm>
            <a:off x="323193" y="2428956"/>
            <a:ext cx="4907305" cy="30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43427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61803" y="298638"/>
            <a:ext cx="11024414" cy="570495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5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회계의 순환과정이란 무엇일까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91281760"/>
          <p:cNvSpPr>
            <a:spLocks noChangeArrowheads="1"/>
          </p:cNvSpPr>
          <p:nvPr/>
        </p:nvSpPr>
        <p:spPr bwMode="auto">
          <a:xfrm>
            <a:off x="561803" y="1124372"/>
            <a:ext cx="5241468" cy="38755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회계순환과정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6905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_x187492992"/>
          <p:cNvSpPr>
            <a:spLocks noChangeArrowheads="1"/>
          </p:cNvSpPr>
          <p:nvPr/>
        </p:nvSpPr>
        <p:spPr bwMode="auto">
          <a:xfrm>
            <a:off x="6009282" y="1124372"/>
            <a:ext cx="5576935" cy="53435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(1)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회계거래의 식별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일반거래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회계거래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구분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(2)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분개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en-US" altLang="ko-KR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journalization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회계거래를 기록하는 것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발생한 회계거래의 계정을 결정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금액을 화폐로 측정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*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차변과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대변을 구분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(3)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전기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(posting) </a:t>
            </a: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해당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계정별로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분류하여 옮겨 적는 것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(4)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계정별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잔액 산출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(5)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수정전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시산표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작성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(6)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수정분개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결산정리분개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(7)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수정후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시산표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정산표 작성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(8)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 작성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5786" t="18391" r="44286" b="16015"/>
          <a:stretch>
            <a:fillRect/>
          </a:stretch>
        </p:blipFill>
        <p:spPr bwMode="auto">
          <a:xfrm>
            <a:off x="356224" y="1602582"/>
            <a:ext cx="5603139" cy="5177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622370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624690" y="1311093"/>
          <a:ext cx="10963746" cy="4773543"/>
        </p:xfrm>
        <a:graphic>
          <a:graphicData uri="http://schemas.openxmlformats.org/drawingml/2006/table">
            <a:tbl>
              <a:tblPr/>
              <a:tblGrid>
                <a:gridCol w="3658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4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994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①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중앙컴퓨터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A/S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 설립되었다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 기업은 주당 액면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의 주식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주를 발행하였다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 주식은 모두 인수되었으며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, 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현금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 납입되었다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②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부자은행으로부터 ￦</a:t>
                      </a:r>
                      <a:r>
                        <a:rPr lang="en-US" altLang="ko-KR" sz="160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r>
                        <a:rPr lang="ko-KR" altLang="en-US" sz="1600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차입하였다</a:t>
                      </a:r>
                      <a:r>
                        <a:rPr lang="en-US" altLang="ko-KR" sz="160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③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영업활동에 필요한 소모품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현금으로 구입하였다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④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서울의 컴퓨터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대에 대한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A/S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를 제공하고 서비스 </a:t>
                      </a:r>
                      <a:r>
                        <a:rPr lang="ko-KR" altLang="en-US" sz="16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용역대금으로</a:t>
                      </a:r>
                      <a:endParaRPr lang="en-US" altLang="ko-KR" sz="1600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r>
                        <a:rPr lang="ko-KR" altLang="en-US" sz="16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현금으로 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받았으며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, 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나머지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외상으로 처리하였다</a:t>
                      </a:r>
                      <a:r>
                        <a:rPr lang="en-US" altLang="ko-KR" sz="16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⑤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월에 외상으로 제공한 용역대금 중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회수하였다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⑥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서울의 컴퓨터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대에 대하여 바이러스 제거서비스를 제공하고 </a:t>
                      </a:r>
                      <a:r>
                        <a:rPr lang="ko-KR" altLang="en-US" sz="16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서비스대금</a:t>
                      </a:r>
                      <a:endParaRPr lang="en-US" altLang="ko-KR" sz="1600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1,500,000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모두 현금으로 받았다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⑦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년분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보험금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현금으로 지급하였다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⑧ </a:t>
                      </a:r>
                      <a:r>
                        <a:rPr lang="en-US" altLang="ko-KR" sz="160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</a:t>
                      </a:r>
                      <a:r>
                        <a:rPr lang="ko-KR" altLang="en-US" sz="1600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31</a:t>
                      </a:r>
                      <a:r>
                        <a:rPr lang="ko-KR" altLang="en-US" sz="1600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당기분에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해당하는 건물임차료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현금으로 지급하였다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41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⑨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31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직원들에게 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600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년분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급여 ￦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r>
                        <a:rPr lang="ko-KR" altLang="en-US" sz="16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지급하였다</a:t>
                      </a:r>
                      <a:r>
                        <a:rPr lang="en-US" altLang="ko-KR" sz="16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.</a:t>
                      </a:r>
                      <a:endParaRPr lang="ko-KR" altLang="en-US" sz="16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35413" y="22113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" name="_x191282720"/>
          <p:cNvSpPr>
            <a:spLocks noChangeArrowheads="1"/>
          </p:cNvSpPr>
          <p:nvPr/>
        </p:nvSpPr>
        <p:spPr bwMode="auto">
          <a:xfrm>
            <a:off x="4407791" y="458138"/>
            <a:ext cx="3397543" cy="537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적용</a:t>
            </a:r>
            <a:r>
              <a:rPr lang="ko-KR" altLang="en-US" sz="2400" b="1" dirty="0" smtClean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)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거래내역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3447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588475" y="1276537"/>
          <a:ext cx="11027123" cy="5174240"/>
        </p:xfrm>
        <a:graphic>
          <a:graphicData uri="http://schemas.openxmlformats.org/drawingml/2006/table">
            <a:tbl>
              <a:tblPr/>
              <a:tblGrid>
                <a:gridCol w="1744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7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07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 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①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0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금     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자 본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금 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②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차 입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③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0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소모품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④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용역매출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매출채권 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⑤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금        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매출채권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⑥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용역매출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07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⑦  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0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선급보험료    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8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429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⑧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31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임 차 </a:t>
                      </a:r>
                      <a:r>
                        <a:rPr lang="ko-KR" altLang="en-US" sz="1800" kern="0" spc="-30" dirty="0" err="1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료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429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⑨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월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31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일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급 여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8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800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</a:t>
                      </a:r>
                      <a:r>
                        <a:rPr lang="en-US" altLang="ko-KR" sz="1800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ko-KR" altLang="en-US" sz="18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_x191282720"/>
          <p:cNvSpPr>
            <a:spLocks noChangeArrowheads="1"/>
          </p:cNvSpPr>
          <p:nvPr/>
        </p:nvSpPr>
        <p:spPr bwMode="auto">
          <a:xfrm>
            <a:off x="4407791" y="458138"/>
            <a:ext cx="3397543" cy="537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(1)   </a:t>
            </a:r>
            <a:r>
              <a:rPr kumimoji="0" lang="ko-KR" altLang="en-US" sz="28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분   개</a:t>
            </a:r>
            <a:endParaRPr kumimoji="0" lang="ko-KR" altLang="ko-KR" sz="28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6364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684224" y="1182894"/>
          <a:ext cx="5019458" cy="199186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현    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1/01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자 본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금   </a:t>
                      </a:r>
                      <a:r>
                        <a:rPr lang="en-US" altLang="ko-KR" sz="1400" b="1" kern="0" spc="-30" baseline="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1/20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차 입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3/10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용역매출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5/15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매출채권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6/20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용역매출  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1,500,000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2/ 01 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소 모 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 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  <a:endParaRPr lang="en-US" altLang="ko-KR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7/ 01 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선급보험료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12/31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임 차 </a:t>
                      </a: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료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12/31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급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여       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_x191282720"/>
          <p:cNvSpPr>
            <a:spLocks noChangeArrowheads="1"/>
          </p:cNvSpPr>
          <p:nvPr/>
        </p:nvSpPr>
        <p:spPr bwMode="auto">
          <a:xfrm>
            <a:off x="4561699" y="226495"/>
            <a:ext cx="3397543" cy="537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(2)  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전    기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6383035" y="1182894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97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자본금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4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1/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01 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  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2,500,000</a:t>
                      </a:r>
                      <a:endParaRPr lang="en-US" altLang="ko-KR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684224" y="3977146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82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소  모  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81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2/01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684224" y="5736588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44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차  입  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1/20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/>
          </p:nvPr>
        </p:nvGraphicFramePr>
        <p:xfrm>
          <a:off x="684224" y="3240784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매출채권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3/10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용역매출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5/15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6362491" y="2206332"/>
          <a:ext cx="5060546" cy="1351788"/>
        </p:xfrm>
        <a:graphic>
          <a:graphicData uri="http://schemas.openxmlformats.org/drawingml/2006/table">
            <a:tbl>
              <a:tblPr/>
              <a:tblGrid>
                <a:gridCol w="2530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22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용역매출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7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3/10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  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en-US" altLang="ko-KR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         매출채권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6/20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 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ko-KR" altLang="en-US" sz="1400" b="1" kern="0" spc="-30" dirty="0" smtClean="0">
                          <a:solidFill>
                            <a:srgbClr val="000000"/>
                          </a:solidFill>
                          <a:effectLst/>
                        </a:rPr>
                        <a:t>        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1,500,000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684224" y="4903727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선급보험료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7/ </a:t>
                      </a:r>
                      <a:r>
                        <a:rPr lang="en-US" altLang="ko-KR" sz="14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01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6383035" y="3853701"/>
          <a:ext cx="5060546" cy="711708"/>
        </p:xfrm>
        <a:graphic>
          <a:graphicData uri="http://schemas.openxmlformats.org/drawingml/2006/table">
            <a:tbl>
              <a:tblPr/>
              <a:tblGrid>
                <a:gridCol w="2530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임차료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12/31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/>
          </p:nvPr>
        </p:nvGraphicFramePr>
        <p:xfrm>
          <a:off x="6383035" y="4903726"/>
          <a:ext cx="5019458" cy="711708"/>
        </p:xfrm>
        <a:graphic>
          <a:graphicData uri="http://schemas.openxmlformats.org/drawingml/2006/table">
            <a:tbl>
              <a:tblPr/>
              <a:tblGrid>
                <a:gridCol w="250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급 여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12/31 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6300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_x191282720"/>
          <p:cNvSpPr>
            <a:spLocks noChangeArrowheads="1"/>
          </p:cNvSpPr>
          <p:nvPr/>
        </p:nvSpPr>
        <p:spPr bwMode="auto">
          <a:xfrm>
            <a:off x="3340728" y="440030"/>
            <a:ext cx="5214795" cy="6192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(3) 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수정전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합계잔액시산표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941561" y="1553083"/>
          <a:ext cx="10293790" cy="4861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6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차  변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계정과목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대  변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잔액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잔액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8,200,000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10,500,000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현  금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2,300,000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매출채권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소 모 품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선급보험료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304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차입금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3,000,000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3,000,000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자본금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2,500,000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2,500,000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용역매출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5,500,000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5,500,000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600,000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600,000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임차료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8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급</a:t>
                      </a:r>
                      <a:r>
                        <a:rPr lang="en-US" altLang="ko-KR" baseline="0" dirty="0" smtClean="0"/>
                        <a:t>   </a:t>
                      </a:r>
                      <a:r>
                        <a:rPr lang="ko-KR" altLang="en-US" baseline="0" dirty="0" smtClean="0"/>
                        <a:t>여</a:t>
                      </a:r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808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11,000,000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13,800,000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13,800,000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11,000,000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4296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91282720"/>
          <p:cNvSpPr>
            <a:spLocks noChangeArrowheads="1"/>
          </p:cNvSpPr>
          <p:nvPr/>
        </p:nvSpPr>
        <p:spPr bwMode="auto">
          <a:xfrm>
            <a:off x="3906570" y="697274"/>
            <a:ext cx="4264182" cy="537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(4)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수정분개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및 전기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654796" y="1948764"/>
          <a:ext cx="5577329" cy="1350760"/>
        </p:xfrm>
        <a:graphic>
          <a:graphicData uri="http://schemas.openxmlformats.org/drawingml/2006/table">
            <a:tbl>
              <a:tblPr/>
              <a:tblGrid>
                <a:gridCol w="121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5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3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 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차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59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600" b="1" kern="0" spc="-3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보 험 </a:t>
                      </a:r>
                      <a:r>
                        <a:rPr lang="ko-KR" altLang="en-US" sz="1600" b="1" kern="0" spc="-30" dirty="0" err="1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료</a:t>
                      </a:r>
                      <a:r>
                        <a:rPr lang="ko-KR" altLang="en-US" sz="1600" b="1" kern="0" spc="-3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	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250,000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선급보험료	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250,000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59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600" b="1" kern="0" spc="-30" dirty="0" err="1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소모품비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600" b="1" kern="0" spc="-3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	</a:t>
                      </a:r>
                      <a:r>
                        <a:rPr lang="en-US" altLang="ko-KR" sz="1600" b="1" kern="0" spc="-30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150,000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소 모 품	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150,000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6450222" y="1834225"/>
          <a:ext cx="5173366" cy="959492"/>
        </p:xfrm>
        <a:graphic>
          <a:graphicData uri="http://schemas.openxmlformats.org/drawingml/2006/table">
            <a:tbl>
              <a:tblPr/>
              <a:tblGrid>
                <a:gridCol w="258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393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선급보험료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099"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7/1 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 금	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500,000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1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보 </a:t>
                      </a:r>
                      <a:r>
                        <a:rPr lang="ko-KR" altLang="en-US" sz="1600" b="1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험 </a:t>
                      </a:r>
                      <a:r>
                        <a:rPr lang="ko-KR" altLang="en-US" sz="1600" b="1" kern="0" spc="-30" dirty="0" err="1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료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6450226" y="3235817"/>
          <a:ext cx="5173362" cy="803148"/>
        </p:xfrm>
        <a:graphic>
          <a:graphicData uri="http://schemas.openxmlformats.org/drawingml/2006/table">
            <a:tbl>
              <a:tblPr/>
              <a:tblGrid>
                <a:gridCol w="258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소모품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2/1 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 금	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1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kern="0" spc="-30" dirty="0" err="1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소모품비</a:t>
                      </a:r>
                      <a:r>
                        <a:rPr lang="ko-KR" altLang="en-US" sz="1600" b="1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en-US" altLang="ko-KR" sz="1600" b="1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6450226" y="4339143"/>
          <a:ext cx="5173362" cy="803148"/>
        </p:xfrm>
        <a:graphic>
          <a:graphicData uri="http://schemas.openxmlformats.org/drawingml/2006/table">
            <a:tbl>
              <a:tblPr/>
              <a:tblGrid>
                <a:gridCol w="258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보험료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선급보험료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en-US" altLang="ko-KR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ko-KR" altLang="en-US" sz="14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6450226" y="5364649"/>
          <a:ext cx="5173362" cy="803148"/>
        </p:xfrm>
        <a:graphic>
          <a:graphicData uri="http://schemas.openxmlformats.org/drawingml/2006/table">
            <a:tbl>
              <a:tblPr/>
              <a:tblGrid>
                <a:gridCol w="258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소모품비</a:t>
                      </a:r>
                      <a:endParaRPr lang="ko-KR" altLang="en-US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소모품       </a:t>
                      </a:r>
                      <a:r>
                        <a:rPr lang="en-US" altLang="ko-KR" sz="1600" b="1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lang="en-US" altLang="ko-KR" sz="1600" b="1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ko-KR" altLang="en-US" sz="1400" b="1" kern="0" spc="-3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6418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91282720"/>
          <p:cNvSpPr>
            <a:spLocks noChangeArrowheads="1"/>
          </p:cNvSpPr>
          <p:nvPr/>
        </p:nvSpPr>
        <p:spPr bwMode="auto">
          <a:xfrm>
            <a:off x="3911097" y="349496"/>
            <a:ext cx="4300396" cy="5196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(5) 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수정후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합계잔액시산표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968722" y="1264676"/>
          <a:ext cx="10293790" cy="5235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8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97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차  변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계정과목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대  변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잔액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잔액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82,000,000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10,500,000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현  금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2,300,000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매출채권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소 모 품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선급보험료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차입금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3,000,000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3,000,000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자본금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2,500,000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2,500,000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용역매출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5,500,000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5,500,000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600,000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600,000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임차료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/>
                        <a:t>1,000,000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급</a:t>
                      </a:r>
                      <a:r>
                        <a:rPr lang="en-US" altLang="ko-KR" baseline="0" dirty="0" smtClean="0"/>
                        <a:t>   </a:t>
                      </a:r>
                      <a:r>
                        <a:rPr lang="ko-KR" altLang="en-US" baseline="0" dirty="0" smtClean="0"/>
                        <a:t>여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rgbClr val="FF0000"/>
                          </a:solidFill>
                        </a:rPr>
                        <a:t>보험료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solidFill>
                            <a:srgbClr val="FF0000"/>
                          </a:solidFill>
                        </a:rPr>
                        <a:t>소모품비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3979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11,000,000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14,200,000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계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14,200,000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11,000,000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1656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561311" y="1059253"/>
          <a:ext cx="10972804" cy="536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76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19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19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169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계정과목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수정전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시산표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수정사항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수정후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시산표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포괄손익계산서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재무상태표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차변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대변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차변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대변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차변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대변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차변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대변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</a:rPr>
                        <a:t>차변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대변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현   금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8,200,000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8,200,000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8,200,000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매출채권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소모품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선급보험료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250,000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250,000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차입금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3,000,000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3,000,000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3,000,000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자본금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2,500,000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2,500,000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2,500,000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용역매출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5,500,000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5,500,000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5,500,000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임차료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600,000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600,000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600,000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급   여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rgbClr val="FF0000"/>
                          </a:solidFill>
                        </a:rPr>
                        <a:t>보험료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250,000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rgbClr val="FF0000"/>
                          </a:solidFill>
                        </a:rPr>
                        <a:t>소모품비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</a:rPr>
                        <a:t>150,000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rgbClr val="0000FF"/>
                          </a:solidFill>
                        </a:rPr>
                        <a:t>당기순이익</a:t>
                      </a:r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0000FF"/>
                          </a:solidFill>
                        </a:rPr>
                        <a:t>3,500,000</a:t>
                      </a:r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>
                          <a:solidFill>
                            <a:srgbClr val="0000FF"/>
                          </a:solidFill>
                        </a:rPr>
                        <a:t>3,500,000</a:t>
                      </a:r>
                      <a:endParaRPr lang="ko-KR" altLang="en-US" sz="12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25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합   계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11,000,000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5,500,000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5,500,000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9,000,000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b="1" dirty="0" smtClean="0"/>
                        <a:t>9,000,000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" name="_x191282720"/>
          <p:cNvSpPr>
            <a:spLocks noChangeArrowheads="1"/>
          </p:cNvSpPr>
          <p:nvPr/>
        </p:nvSpPr>
        <p:spPr bwMode="auto">
          <a:xfrm>
            <a:off x="4300151" y="295175"/>
            <a:ext cx="3377514" cy="5196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(6)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정  산  표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197174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91282720"/>
          <p:cNvSpPr>
            <a:spLocks noChangeArrowheads="1"/>
          </p:cNvSpPr>
          <p:nvPr/>
        </p:nvSpPr>
        <p:spPr bwMode="auto">
          <a:xfrm>
            <a:off x="4300151" y="295175"/>
            <a:ext cx="3377514" cy="66865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(7)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마  감  분  개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873210" y="1276536"/>
          <a:ext cx="10379675" cy="4729730"/>
        </p:xfrm>
        <a:graphic>
          <a:graphicData uri="http://schemas.openxmlformats.org/drawingml/2006/table">
            <a:tbl>
              <a:tblPr/>
              <a:tblGrid>
                <a:gridCol w="1944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89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5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 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 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7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④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용역매출  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4,000,000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4,000,000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7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⑥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용역매출 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1,500,000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</a:t>
                      </a:r>
                      <a:r>
                        <a:rPr lang="ko-KR" altLang="en-US" sz="18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1,500,000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7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⑧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</a:t>
                      </a:r>
                      <a:r>
                        <a:rPr lang="ko-KR" altLang="en-US" sz="18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  차 </a:t>
                      </a:r>
                      <a:r>
                        <a:rPr lang="ko-KR" altLang="en-US" sz="18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료</a:t>
                      </a:r>
                      <a:r>
                        <a:rPr lang="ko-KR" altLang="en-US" sz="18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7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⑨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  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급     여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784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    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 험 </a:t>
                      </a:r>
                      <a:r>
                        <a:rPr lang="ko-KR" altLang="en-US" sz="18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료</a:t>
                      </a:r>
                      <a:r>
                        <a:rPr lang="ko-KR" altLang="en-US" sz="18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89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12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1790" algn="r"/>
                        </a:tabLst>
                      </a:pPr>
                      <a:r>
                        <a:rPr lang="ko-KR" altLang="en-US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집합손익         </a:t>
                      </a:r>
                      <a:r>
                        <a:rPr lang="en-US" altLang="ko-KR" sz="18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lang="ko-KR" altLang="en-US" sz="18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15770" algn="r"/>
                        </a:tabLst>
                      </a:pPr>
                      <a:r>
                        <a:rPr lang="ko-KR" altLang="en-US" sz="18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소모품비</a:t>
                      </a:r>
                      <a:r>
                        <a:rPr lang="ko-KR" altLang="en-US" sz="18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1800" b="1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lang="ko-KR" altLang="en-US" sz="18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94766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91282720"/>
          <p:cNvSpPr>
            <a:spLocks noChangeArrowheads="1"/>
          </p:cNvSpPr>
          <p:nvPr/>
        </p:nvSpPr>
        <p:spPr bwMode="auto">
          <a:xfrm>
            <a:off x="4250724" y="295174"/>
            <a:ext cx="3278660" cy="53684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(7) 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마  감  분  개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519466" y="1184313"/>
          <a:ext cx="5485918" cy="1534668"/>
        </p:xfrm>
        <a:graphic>
          <a:graphicData uri="http://schemas.openxmlformats.org/drawingml/2006/table">
            <a:tbl>
              <a:tblPr/>
              <a:tblGrid>
                <a:gridCol w="2742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2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07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용역매출</a:t>
                      </a:r>
                      <a:endParaRPr lang="ko-KR" altLang="en-US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716"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집합손익  </a:t>
                      </a:r>
                      <a:r>
                        <a:rPr lang="ko-KR" altLang="en-US" sz="1600" b="0" kern="0" spc="-3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5,500,000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en-US" altLang="ko-KR" sz="1600" b="0" kern="0" spc="-3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en-US" altLang="ko-KR" sz="1600" b="0" kern="0" spc="-3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3,000,000</a:t>
                      </a:r>
                      <a:endParaRPr lang="en-US" altLang="ko-KR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매출채권</a:t>
                      </a: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  <a:endParaRPr lang="ko-KR" altLang="en-US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1,500,000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519466" y="3043566"/>
          <a:ext cx="5593008" cy="803148"/>
        </p:xfrm>
        <a:graphic>
          <a:graphicData uri="http://schemas.openxmlformats.org/drawingml/2006/table">
            <a:tbl>
              <a:tblPr/>
              <a:tblGrid>
                <a:gridCol w="279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85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임차료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 금	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  <a:endParaRPr lang="ko-KR" altLang="en-US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집합손익     </a:t>
                      </a: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  <a:endParaRPr lang="ko-KR" altLang="en-US" sz="1600" b="0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19466" y="4076939"/>
          <a:ext cx="5593008" cy="803148"/>
        </p:xfrm>
        <a:graphic>
          <a:graphicData uri="http://schemas.openxmlformats.org/drawingml/2006/table">
            <a:tbl>
              <a:tblPr/>
              <a:tblGrid>
                <a:gridCol w="279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급 여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 금	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  <a:endParaRPr lang="ko-KR" altLang="en-US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집합손익   </a:t>
                      </a: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  <a:endParaRPr lang="ko-KR" altLang="en-US" sz="1600" b="0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519466" y="5308449"/>
          <a:ext cx="5593008" cy="803148"/>
        </p:xfrm>
        <a:graphic>
          <a:graphicData uri="http://schemas.openxmlformats.org/drawingml/2006/table">
            <a:tbl>
              <a:tblPr/>
              <a:tblGrid>
                <a:gridCol w="279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보험료</a:t>
                      </a:r>
                      <a:endParaRPr lang="ko-KR" altLang="en-US" sz="1600" b="0" kern="0" spc="-3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선급보험료   </a:t>
                      </a:r>
                      <a:r>
                        <a:rPr lang="en-US" altLang="ko-KR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en-US" altLang="ko-KR" sz="1600" b="0" kern="0" spc="-3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12/31</a:t>
                      </a:r>
                      <a:r>
                        <a:rPr lang="ko-KR" altLang="en-US" sz="1600" b="0" kern="0" spc="-3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집합손익      </a:t>
                      </a:r>
                      <a:r>
                        <a:rPr lang="en-US" altLang="ko-KR" sz="1600" b="0" kern="0" spc="-3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  <a:endParaRPr lang="ko-KR" altLang="en-US" sz="1600" b="0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6326656" y="1242859"/>
          <a:ext cx="5404022" cy="803148"/>
        </p:xfrm>
        <a:graphic>
          <a:graphicData uri="http://schemas.openxmlformats.org/drawingml/2006/table">
            <a:tbl>
              <a:tblPr/>
              <a:tblGrid>
                <a:gridCol w="2702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 err="1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소모품비</a:t>
                      </a:r>
                      <a:endParaRPr lang="ko-KR" altLang="en-US" sz="1600" b="0" kern="0" spc="-3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2"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993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소모품        </a:t>
                      </a:r>
                      <a:r>
                        <a:rPr lang="en-US" altLang="ko-KR" sz="1600" b="0" kern="0" spc="-30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  <a:endParaRPr lang="en-US" altLang="ko-KR" sz="1600" b="0" kern="0" spc="-3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FF0000"/>
                          </a:solidFill>
                          <a:effectLst/>
                        </a:rPr>
                        <a:t>집합손익    </a:t>
                      </a:r>
                      <a:r>
                        <a:rPr lang="en-US" altLang="ko-KR" sz="1600" b="0" kern="0" spc="-30" dirty="0" smtClean="0">
                          <a:solidFill>
                            <a:srgbClr val="FF0000"/>
                          </a:solidFill>
                          <a:effectLst/>
                        </a:rPr>
                        <a:t>150,000</a:t>
                      </a:r>
                      <a:endParaRPr lang="ko-KR" altLang="en-US" sz="1600" b="0" kern="0" spc="-3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6326654" y="2136782"/>
          <a:ext cx="5404024" cy="2522355"/>
        </p:xfrm>
        <a:graphic>
          <a:graphicData uri="http://schemas.openxmlformats.org/drawingml/2006/table">
            <a:tbl>
              <a:tblPr/>
              <a:tblGrid>
                <a:gridCol w="2702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4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0" kern="0" spc="-30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집합손익</a:t>
                      </a:r>
                      <a:endParaRPr lang="ko-KR" altLang="en-US" sz="1600" b="0" kern="0" spc="-3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5884"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임차료 </a:t>
                      </a:r>
                      <a:r>
                        <a:rPr lang="ko-KR" altLang="en-US" sz="1600" b="0" kern="0" spc="-30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급여 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1,000,000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보험료   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소모품비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1E05D9"/>
                          </a:solidFill>
                          <a:effectLst/>
                          <a:latin typeface="+mn-ea"/>
                          <a:ea typeface="+mn-ea"/>
                        </a:rPr>
                        <a:t>12/31 </a:t>
                      </a:r>
                      <a:r>
                        <a:rPr lang="ko-KR" altLang="en-US" sz="1600" b="0" kern="0" spc="-30" dirty="0" err="1" smtClean="0">
                          <a:solidFill>
                            <a:srgbClr val="1E05D9"/>
                          </a:solidFill>
                          <a:effectLst/>
                          <a:latin typeface="+mn-ea"/>
                          <a:ea typeface="+mn-ea"/>
                        </a:rPr>
                        <a:t>당기순이익</a:t>
                      </a:r>
                      <a:r>
                        <a:rPr lang="ko-KR" altLang="en-US" sz="1600" b="0" kern="0" spc="-30" dirty="0" smtClean="0">
                          <a:solidFill>
                            <a:srgbClr val="1E05D9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="0" kern="0" spc="-30" dirty="0" smtClean="0">
                          <a:solidFill>
                            <a:srgbClr val="1E05D9"/>
                          </a:solidFill>
                          <a:effectLst/>
                          <a:latin typeface="+mn-ea"/>
                          <a:ea typeface="+mn-ea"/>
                        </a:rPr>
                        <a:t>3,500,000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용역매출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4,000,000</a:t>
                      </a:r>
                      <a:endParaRPr lang="en-US" altLang="ko-KR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12/31  </a:t>
                      </a:r>
                      <a:r>
                        <a:rPr lang="ko-KR" altLang="en-US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용역매출 </a:t>
                      </a:r>
                      <a:r>
                        <a:rPr lang="en-US" altLang="ko-KR" sz="1600" b="0" kern="0" spc="-3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1,500,000</a:t>
                      </a: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en-US" altLang="ko-KR" sz="1600" b="0" kern="0" spc="-3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en-US" altLang="ko-KR" sz="1600" b="0" kern="0" spc="-3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8100" marR="38100" indent="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973580" algn="r"/>
                        </a:tabLst>
                      </a:pPr>
                      <a:endParaRPr lang="ko-KR" altLang="en-US" sz="1600" b="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_x191282720"/>
          <p:cNvSpPr>
            <a:spLocks noChangeArrowheads="1"/>
          </p:cNvSpPr>
          <p:nvPr/>
        </p:nvSpPr>
        <p:spPr bwMode="auto">
          <a:xfrm>
            <a:off x="6326654" y="4961908"/>
            <a:ext cx="5404024" cy="12988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+mj-ea"/>
                <a:ea typeface="+mj-ea"/>
              </a:rPr>
              <a:t>     </a:t>
            </a:r>
            <a:r>
              <a:rPr kumimoji="0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당기순이익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 발생         대차대조표 반영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rgbClr val="1E05D9"/>
              </a:solidFill>
              <a:effectLst/>
              <a:latin typeface="+mj-ea"/>
              <a:ea typeface="+mj-ea"/>
            </a:endParaRPr>
          </a:p>
          <a:p>
            <a:pPr marL="0" marR="0" lvl="0" indent="1270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(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차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) 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집합손익    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3,500,000  (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대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) </a:t>
            </a:r>
            <a:r>
              <a:rPr kumimoji="0" lang="ko-KR" altLang="en-US" sz="1600" b="1" i="0" u="none" strike="noStrike" cap="none" normalizeH="0" baseline="0" dirty="0" err="1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당기순이익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 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1E05D9"/>
                </a:solidFill>
                <a:effectLst/>
                <a:latin typeface="+mj-ea"/>
                <a:ea typeface="+mj-ea"/>
              </a:rPr>
              <a:t>3,500,000</a:t>
            </a:r>
          </a:p>
          <a:p>
            <a:pPr marL="0" marR="0" lvl="0" indent="1270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1600" b="1" dirty="0" smtClean="0">
                <a:solidFill>
                  <a:srgbClr val="1E05D9"/>
                </a:solidFill>
                <a:latin typeface="+mj-ea"/>
                <a:ea typeface="+mj-ea"/>
              </a:rPr>
              <a:t>(</a:t>
            </a:r>
            <a:r>
              <a:rPr lang="ko-KR" altLang="en-US" sz="1600" b="1" dirty="0" smtClean="0">
                <a:solidFill>
                  <a:srgbClr val="1E05D9"/>
                </a:solidFill>
                <a:latin typeface="+mj-ea"/>
                <a:ea typeface="+mj-ea"/>
              </a:rPr>
              <a:t>차</a:t>
            </a:r>
            <a:r>
              <a:rPr lang="en-US" altLang="ko-KR" sz="1600" b="1" dirty="0" smtClean="0">
                <a:solidFill>
                  <a:srgbClr val="1E05D9"/>
                </a:solidFill>
                <a:latin typeface="+mj-ea"/>
                <a:ea typeface="+mj-ea"/>
              </a:rPr>
              <a:t>) </a:t>
            </a:r>
            <a:r>
              <a:rPr lang="ko-KR" altLang="en-US" sz="1600" b="1" dirty="0" err="1" smtClean="0">
                <a:solidFill>
                  <a:srgbClr val="1E05D9"/>
                </a:solidFill>
                <a:latin typeface="+mj-ea"/>
                <a:ea typeface="+mj-ea"/>
              </a:rPr>
              <a:t>당기순이익</a:t>
            </a:r>
            <a:r>
              <a:rPr lang="ko-KR" altLang="en-US" sz="1600" b="1" dirty="0" smtClean="0">
                <a:solidFill>
                  <a:srgbClr val="1E05D9"/>
                </a:solidFill>
                <a:latin typeface="+mj-ea"/>
                <a:ea typeface="+mj-ea"/>
              </a:rPr>
              <a:t> </a:t>
            </a:r>
            <a:r>
              <a:rPr lang="en-US" altLang="ko-KR" sz="1600" b="1" dirty="0" smtClean="0">
                <a:solidFill>
                  <a:srgbClr val="1E05D9"/>
                </a:solidFill>
                <a:latin typeface="+mj-ea"/>
                <a:ea typeface="+mj-ea"/>
              </a:rPr>
              <a:t>3,500,000  (</a:t>
            </a:r>
            <a:r>
              <a:rPr lang="ko-KR" altLang="en-US" sz="1600" b="1" dirty="0" smtClean="0">
                <a:solidFill>
                  <a:srgbClr val="1E05D9"/>
                </a:solidFill>
                <a:latin typeface="+mj-ea"/>
                <a:ea typeface="+mj-ea"/>
              </a:rPr>
              <a:t>대</a:t>
            </a:r>
            <a:r>
              <a:rPr lang="en-US" altLang="ko-KR" sz="1600" b="1" dirty="0" smtClean="0">
                <a:solidFill>
                  <a:srgbClr val="1E05D9"/>
                </a:solidFill>
                <a:latin typeface="+mj-ea"/>
                <a:ea typeface="+mj-ea"/>
              </a:rPr>
              <a:t>) </a:t>
            </a:r>
            <a:r>
              <a:rPr lang="ko-KR" altLang="en-US" sz="1600" b="1" dirty="0" smtClean="0">
                <a:solidFill>
                  <a:srgbClr val="1E05D9"/>
                </a:solidFill>
                <a:latin typeface="+mj-ea"/>
                <a:ea typeface="+mj-ea"/>
              </a:rPr>
              <a:t>이익잉여금 </a:t>
            </a:r>
            <a:r>
              <a:rPr lang="en-US" altLang="ko-KR" sz="1600" b="1" dirty="0" smtClean="0">
                <a:solidFill>
                  <a:srgbClr val="1E05D9"/>
                </a:solidFill>
                <a:latin typeface="+mj-ea"/>
                <a:ea typeface="+mj-ea"/>
              </a:rPr>
              <a:t>3,500,000</a:t>
            </a: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rgbClr val="1E05D9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639696" y="5193802"/>
            <a:ext cx="172995" cy="1772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8610600" y="5308449"/>
            <a:ext cx="2883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30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85318" y="1062680"/>
            <a:ext cx="8287266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04.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재무제표간의 상호연결성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1985318" y="2528816"/>
            <a:ext cx="8287266" cy="32459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기업의 이익과 재무상태 그리고 현금흐름의 분석이란?</a:t>
            </a:r>
            <a:endParaRPr lang="en-US" altLang="ko-KR" sz="24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 공시는 정보이용자에게 어떤 이점을 제공할까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3.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재무제표간의 상호연결성을 이해하자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endParaRPr kumimoji="0" lang="en-US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4.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주석을 이해하자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회계정책의 요약 및 설명</a:t>
            </a:r>
            <a:endParaRPr kumimoji="0" lang="en-US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4051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43697" y="239520"/>
            <a:ext cx="11024414" cy="885087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기업의 이익과 재무상태 그리고 현금흐름의 분석이란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?</a:t>
            </a:r>
          </a:p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재무제표 공시는 정보이용자에게 어떤 이점을 제공할까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+mn-ea"/>
              </a:rPr>
              <a:t> 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78827" y="1218251"/>
            <a:ext cx="5891344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solidFill>
                  <a:srgbClr val="1E05D9"/>
                </a:solidFill>
                <a:latin typeface="+mj-ea"/>
              </a:rPr>
              <a:t>회계 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기업의 언어 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(language of business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lvl="0" indent="0" latinLnBrk="0">
              <a:lnSpc>
                <a:spcPct val="150000"/>
              </a:lnSpc>
            </a:pPr>
            <a:endParaRPr lang="en-US" altLang="ko-KR" sz="800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solidFill>
                  <a:srgbClr val="1E05D9"/>
                </a:solidFill>
                <a:latin typeface="+mj-ea"/>
              </a:rPr>
              <a:t>회계정보 </a:t>
            </a:r>
            <a:r>
              <a:rPr lang="en-US" altLang="ko-KR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기업의 활동을 측정하여 요약한 보고서</a:t>
            </a:r>
            <a:endParaRPr lang="en-US" altLang="ko-KR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외부이해관계자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주주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채권자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에게 전달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내부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경영자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및 중간관리자 등이 활용</a:t>
            </a:r>
            <a:endParaRPr lang="en-US" altLang="ko-KR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endParaRPr lang="en-US" altLang="ko-KR" sz="800" dirty="0" smtClean="0">
              <a:solidFill>
                <a:srgbClr val="1E05D9"/>
              </a:solidFill>
              <a:latin typeface="+mj-ea"/>
              <a:ea typeface="+mj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ko-KR" altLang="en-US" dirty="0" smtClean="0">
                <a:solidFill>
                  <a:srgbClr val="1E05D9"/>
                </a:solidFill>
                <a:latin typeface="+mj-ea"/>
                <a:ea typeface="+mj-ea"/>
              </a:rPr>
              <a:t>경영자의 </a:t>
            </a:r>
            <a:r>
              <a:rPr lang="en-US" altLang="ko-KR" dirty="0" smtClean="0">
                <a:solidFill>
                  <a:srgbClr val="1E05D9"/>
                </a:solidFill>
                <a:latin typeface="+mj-ea"/>
                <a:ea typeface="+mj-ea"/>
              </a:rPr>
              <a:t>3</a:t>
            </a:r>
            <a:r>
              <a:rPr lang="ko-KR" altLang="en-US" dirty="0" smtClean="0">
                <a:solidFill>
                  <a:srgbClr val="1E05D9"/>
                </a:solidFill>
                <a:latin typeface="+mj-ea"/>
                <a:ea typeface="+mj-ea"/>
              </a:rPr>
              <a:t>가지 과업</a:t>
            </a:r>
            <a:endParaRPr lang="en-US" altLang="ko-KR" dirty="0" smtClean="0">
              <a:latin typeface="+mj-ea"/>
              <a:ea typeface="+mj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 smtClean="0">
                <a:latin typeface="+mj-ea"/>
                <a:ea typeface="+mj-ea"/>
              </a:rPr>
              <a:t>  </a:t>
            </a:r>
            <a:r>
              <a:rPr lang="en-US" altLang="ko-KR" dirty="0" smtClean="0">
                <a:latin typeface="+mj-ea"/>
                <a:ea typeface="+mj-ea"/>
              </a:rPr>
              <a:t>(1) </a:t>
            </a:r>
            <a:r>
              <a:rPr lang="ko-KR" altLang="en-US" dirty="0" smtClean="0">
                <a:latin typeface="+mj-ea"/>
                <a:ea typeface="+mj-ea"/>
              </a:rPr>
              <a:t>이익창출 시현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기업의 생존을 위한 필수 요소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latin typeface="+mj-ea"/>
                <a:ea typeface="+mj-ea"/>
              </a:rPr>
              <a:t>  (2) </a:t>
            </a:r>
            <a:r>
              <a:rPr lang="ko-KR" altLang="en-US" dirty="0" smtClean="0">
                <a:latin typeface="+mj-ea"/>
                <a:ea typeface="+mj-ea"/>
              </a:rPr>
              <a:t>재무상태 관리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부채 및 자본에 관한 관리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smtClean="0">
                <a:latin typeface="+mj-ea"/>
                <a:ea typeface="+mj-ea"/>
              </a:rPr>
              <a:t> (3) </a:t>
            </a:r>
            <a:r>
              <a:rPr lang="ko-KR" altLang="en-US" dirty="0" smtClean="0">
                <a:latin typeface="+mj-ea"/>
                <a:ea typeface="+mj-ea"/>
              </a:rPr>
              <a:t>현금흐름 관리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현금부족을 예방할 수 있도록 관리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800" dirty="0" smtClean="0">
              <a:latin typeface="+mj-ea"/>
              <a:ea typeface="+mj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ko-KR" altLang="en-US" dirty="0" smtClean="0">
                <a:solidFill>
                  <a:srgbClr val="3333CC"/>
                </a:solidFill>
                <a:latin typeface="+mj-ea"/>
                <a:ea typeface="+mj-ea"/>
              </a:rPr>
              <a:t>참고</a:t>
            </a:r>
            <a:endParaRPr lang="en-US" altLang="ko-KR" dirty="0" smtClean="0">
              <a:solidFill>
                <a:srgbClr val="3333CC"/>
              </a:solidFill>
              <a:latin typeface="+mj-ea"/>
              <a:ea typeface="+mj-ea"/>
            </a:endParaRPr>
          </a:p>
          <a:p>
            <a:pPr lvl="0" indent="0" latinLnBrk="0">
              <a:lnSpc>
                <a:spcPct val="150000"/>
              </a:lnSpc>
            </a:pPr>
            <a:r>
              <a:rPr lang="en-US" altLang="ko-KR" dirty="0" smtClean="0">
                <a:latin typeface="+mj-ea"/>
                <a:ea typeface="+mj-ea"/>
              </a:rPr>
              <a:t>  (1) </a:t>
            </a:r>
            <a:r>
              <a:rPr lang="ko-KR" altLang="en-US" dirty="0" smtClean="0">
                <a:latin typeface="+mj-ea"/>
                <a:ea typeface="+mj-ea"/>
              </a:rPr>
              <a:t>최고경영자 </a:t>
            </a:r>
            <a:r>
              <a:rPr lang="en-US" altLang="ko-KR" dirty="0" smtClean="0">
                <a:latin typeface="+mj-ea"/>
                <a:ea typeface="+mj-ea"/>
              </a:rPr>
              <a:t>(CEO : </a:t>
            </a:r>
            <a:r>
              <a:rPr lang="en-US" altLang="ko-KR" dirty="0" smtClean="0"/>
              <a:t>Chief executive officer )</a:t>
            </a:r>
            <a:endParaRPr lang="en-US" altLang="ko-KR" dirty="0" smtClean="0">
              <a:latin typeface="+mj-ea"/>
              <a:ea typeface="+mj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latin typeface="+mj-ea"/>
                <a:ea typeface="+mj-ea"/>
              </a:rPr>
              <a:t>  (2) </a:t>
            </a:r>
            <a:r>
              <a:rPr lang="ko-KR" altLang="en-US" dirty="0" smtClean="0">
                <a:latin typeface="+mj-ea"/>
                <a:ea typeface="+mj-ea"/>
              </a:rPr>
              <a:t>재무총괄임원</a:t>
            </a:r>
            <a:r>
              <a:rPr lang="en-US" altLang="ko-KR" dirty="0" smtClean="0">
                <a:latin typeface="+mj-ea"/>
                <a:ea typeface="+mj-ea"/>
              </a:rPr>
              <a:t>(CFO : Chief financial officer)</a:t>
            </a:r>
          </a:p>
        </p:txBody>
      </p:sp>
      <p:sp>
        <p:nvSpPr>
          <p:cNvPr id="5" name="_x184450088"/>
          <p:cNvSpPr>
            <a:spLocks noChangeArrowheads="1"/>
          </p:cNvSpPr>
          <p:nvPr/>
        </p:nvSpPr>
        <p:spPr bwMode="auto">
          <a:xfrm>
            <a:off x="6874194" y="1422139"/>
            <a:ext cx="4006682" cy="4501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                  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ea typeface="-2002"/>
              </a:rPr>
              <a:t>회계정보의 측정 및 전달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_x179281144"/>
          <p:cNvSpPr>
            <a:spLocks noChangeArrowheads="1"/>
          </p:cNvSpPr>
          <p:nvPr/>
        </p:nvSpPr>
        <p:spPr bwMode="auto">
          <a:xfrm>
            <a:off x="6930804" y="1535340"/>
            <a:ext cx="1160355" cy="223751"/>
          </a:xfrm>
          <a:prstGeom prst="roundRect">
            <a:avLst>
              <a:gd name="adj" fmla="val 50000"/>
            </a:avLst>
          </a:prstGeom>
          <a:solidFill>
            <a:srgbClr val="D6D6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ea typeface="#태고딕"/>
              </a:rPr>
              <a:t>그림 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#태고딕"/>
              </a:rPr>
              <a:t>4-1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3650" t="22374" r="40075" b="15707"/>
          <a:stretch>
            <a:fillRect/>
          </a:stretch>
        </p:blipFill>
        <p:spPr bwMode="auto">
          <a:xfrm>
            <a:off x="6277153" y="2096430"/>
            <a:ext cx="5755011" cy="4527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553046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3.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재무제표간의 상호연결성을 이해하자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!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7554097" y="716696"/>
          <a:ext cx="4102443" cy="5807671"/>
        </p:xfrm>
        <a:graphic>
          <a:graphicData uri="http://schemas.openxmlformats.org/drawingml/2006/table">
            <a:tbl>
              <a:tblPr/>
              <a:tblGrid>
                <a:gridCol w="3190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2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4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손익계산서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매출액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sales revenue)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$10,400,000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6,760,000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매출총이익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gross margin)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$3,640,000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영업비용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(2,080,000)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감가상각비 ④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(260,000)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영업이익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operating earnings)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$1,300,000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이자비용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(103,000)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법인세차감전이익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before income tax)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$1,197,000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(478,800)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당기순이익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net income)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$718,200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819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주당순이익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per share)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$3.59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27222" y="861946"/>
          <a:ext cx="6590270" cy="5582705"/>
        </p:xfrm>
        <a:graphic>
          <a:graphicData uri="http://schemas.openxmlformats.org/drawingml/2006/table">
            <a:tbl>
              <a:tblPr/>
              <a:tblGrid>
                <a:gridCol w="118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17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8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38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2137"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재무상태표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 말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 초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 말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 초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∙유동자산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유동부채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현금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$565,807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$750,000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매입채무합계 ⑤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$640,000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$535,000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매출채권 ①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825,000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520,000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450,000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 ②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1,690,000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1,250,000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영업비용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85,000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선급비용 ③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160,000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185,000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미지급비용합계 ⑥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257,167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197,500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미지급영업비용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240,000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185,000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77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합 계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$3,415,807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$3,010,000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0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미지급이자비용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17,167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12,500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77"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4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미지급법인세 ⑦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23,940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36,000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단기지급어음 ⑨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625,000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600,000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단기부채 합계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$1,546,107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$1,368,500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∙</a:t>
                      </a:r>
                      <a:r>
                        <a:rPr lang="ko-KR" altLang="en-US" sz="1200" b="1" kern="0" spc="-100" dirty="0" err="1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비유동자산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장기매입채무 ⑩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$750,000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$600,000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유형자산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자본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기계장치 </a:t>
                      </a: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등 ⑧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$3,000,000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$2,250,000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자본금 ⑪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0503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감가상각누계액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(800,000)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 b="1" dirty="0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(540,000)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sz="1200" b="1" dirty="0"/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기초：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195,000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,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기말：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200,000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$775,000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$725,000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$2,200,000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$1,710,000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이익잉여금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2,544,700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2,026,500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59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dirty="0"/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자본합계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$3,319,700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$2,751,500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21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자산총계</a:t>
                      </a: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$4,720,000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부채와 자본총계</a:t>
                      </a:r>
                      <a:endParaRPr lang="ko-KR" altLang="en-US" sz="12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$4,720,000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866" marR="10866" marT="10866" marB="108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cxnSp>
        <p:nvCxnSpPr>
          <p:cNvPr id="8" name="직선 화살표 연결선 7"/>
          <p:cNvCxnSpPr/>
          <p:nvPr/>
        </p:nvCxnSpPr>
        <p:spPr>
          <a:xfrm flipH="1">
            <a:off x="7208108" y="5741773"/>
            <a:ext cx="2224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1616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840260" y="345990"/>
          <a:ext cx="10387915" cy="599384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761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3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232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-3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현금흐름표</a:t>
                      </a:r>
                      <a:endParaRPr lang="ko-KR" altLang="en-US" sz="20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영업활동 현금흐름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$540,807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당기순이익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$718,200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매출채권의 증가 ①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($175,000)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재고자산의 증가 ②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(440,000)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선급비용의 감소 ③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25,000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감가상각비 ④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260,000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매입채무의 증가 ⑤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105,000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미지급비용의 증가 ⑥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59,667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미지급법인세의 감소 ⑦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(12,060)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당기순이익에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현금흐름의 조정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($177,393)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투자활동 현금흐름</a:t>
                      </a: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(750,000)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ㅇ공장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, 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기계장치의 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구입 ⑧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(750,000)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재무활동 현금흐름</a:t>
                      </a: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$25,000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단기자금조달 ⑨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$25,000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장기자금조달 ⑩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150,000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주식발행 ⑪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50,000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176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ㅇ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 주주에게 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배당금지급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추가자료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  <a:ea typeface="HY신명조" panose="02030600000101010101" pitchFamily="18" charset="-127"/>
                        </a:rPr>
                        <a:t>(200,000)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1769">
                <a:tc rowSpan="2"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회계기간 동안 현금흐름의 증감</a:t>
                      </a:r>
                    </a:p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기초현금과 기말현금의 차이</a:t>
                      </a:r>
                      <a:r>
                        <a:rPr lang="en-US" altLang="ko-KR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503" marR="10503" marT="10503" marB="10503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($184,193)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17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(＝750,000－565,807)</a:t>
                      </a:r>
                    </a:p>
                  </a:txBody>
                  <a:tcPr marL="10503" marR="10503" marT="10503" marB="10503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2243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4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주석을 이해하자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! :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회계정책의 요약 및 설명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469556" y="765411"/>
            <a:ext cx="10985456" cy="56353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solidFill>
                  <a:srgbClr val="C00000"/>
                </a:solidFill>
                <a:latin typeface="+mj-ea"/>
                <a:ea typeface="+mj-ea"/>
              </a:rPr>
              <a:t>(1) </a:t>
            </a:r>
            <a:r>
              <a:rPr lang="ko-KR" altLang="en-US" b="1" dirty="0" smtClean="0">
                <a:solidFill>
                  <a:srgbClr val="C00000"/>
                </a:solidFill>
                <a:latin typeface="+mj-ea"/>
                <a:ea typeface="+mj-ea"/>
              </a:rPr>
              <a:t>기본재무제표</a:t>
            </a:r>
            <a:endParaRPr lang="en-US" altLang="ko-KR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재무상태표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(income statement)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특정시점의 자산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부채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자본의 상태를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2.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포괄손익계산서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(statement of financial condition)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일정기간 동안의 경영성과를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2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상장기업의 경우 손익계산서에 주당순이익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(EPS)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을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기록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3.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현금흐름표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(cash flow statement)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일정기간 기업의 현금흐름 변동내역을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2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영업활동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투자활동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재무활동을 통해 벌어들인 현금을 어디에 사용했는지를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72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비교재무제표를 활용하여 산출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4.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자본변동표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(statement of changes in equity) 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일정기간 동안의 자본의 변동내역을 표시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자본금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자본잉여금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자본조정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* </a:t>
            </a: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기타포괄손익누계액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  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*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이익잉여금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(2) </a:t>
            </a:r>
            <a:r>
              <a:rPr lang="ko-KR" altLang="en-US" b="1" dirty="0" smtClean="0">
                <a:solidFill>
                  <a:srgbClr val="C00000"/>
                </a:solidFill>
                <a:latin typeface="+mn-ea"/>
              </a:rPr>
              <a:t>주석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(footnotes)</a:t>
            </a: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 해당과목에 숫자나 기호를 붙이고 난외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별지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에 회계처리 방침이나 내역을 보충적으로 기재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재무제표의 충분공시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(adequate disclosure)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를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위한 필수적인 사항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기업경영자는 얼마나 상세하게 공시할 것인가에 대한 재량권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신축성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보유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5016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578531" y="547697"/>
            <a:ext cx="10985456" cy="55657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 latinLnBrk="0">
              <a:lnSpc>
                <a:spcPct val="150000"/>
              </a:lnSpc>
            </a:pP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 (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주석의 종류</a:t>
            </a: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)</a:t>
            </a:r>
          </a:p>
          <a:p>
            <a:pPr marL="540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기업의 주요 회계처리방법 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 평가방법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감가상각비 계산방법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재무제표의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연결 등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설명</a:t>
            </a:r>
            <a:endParaRPr lang="en-US" altLang="ko-KR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40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재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무제표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본문에 들어갈 수 없는 추가적인 사항</a:t>
            </a:r>
            <a:endParaRPr lang="en-US" altLang="ko-KR" b="1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4250" lvl="0" algn="just" latinLnBrk="0">
              <a:lnSpc>
                <a:spcPct val="150000"/>
              </a:lnSpc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  *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주식매입선택권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(stock option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254250" lvl="0" algn="just" latinLnBrk="0">
              <a:lnSpc>
                <a:spcPct val="150000"/>
              </a:lnSpc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*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종업원지주제도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(employee stock ownership plans)</a:t>
            </a:r>
          </a:p>
          <a:p>
            <a:pPr marL="254250" lvl="0" algn="just" latinLnBrk="0">
              <a:lnSpc>
                <a:spcPct val="150000"/>
              </a:lnSpc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  *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주당순이익에 대한 잠재적인 희석효과  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4250" lvl="0" algn="just" latinLnBrk="0">
              <a:lnSpc>
                <a:spcPct val="150000"/>
              </a:lnSpc>
            </a:pP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*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주요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소송사건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4250" lvl="0" algn="just" latinLnBrk="0">
              <a:lnSpc>
                <a:spcPct val="150000"/>
              </a:lnSpc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*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종업원 퇴직내용  및 연금제도 내용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(3) </a:t>
            </a:r>
            <a:r>
              <a:rPr lang="ko-KR" altLang="en-US" b="1" dirty="0" smtClean="0">
                <a:solidFill>
                  <a:srgbClr val="C00000"/>
                </a:solidFill>
                <a:latin typeface="+mn-ea"/>
              </a:rPr>
              <a:t>주기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b="1" dirty="0" smtClean="0">
                <a:solidFill>
                  <a:srgbClr val="C00000"/>
                </a:solidFill>
                <a:latin typeface="+mn-ea"/>
              </a:rPr>
              <a:t>註記</a:t>
            </a: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, parenthetical notes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)</a:t>
            </a:r>
          </a:p>
          <a:p>
            <a:pPr marL="540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해당 과목 다음에 괄호를 만들고</a:t>
            </a:r>
            <a:r>
              <a:rPr lang="en-US" altLang="ko-KR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그 안에 강조사항이나 회계적 사실에 대한 부연사항을 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54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자구 </a:t>
            </a:r>
            <a:r>
              <a:rPr lang="ko-KR" altLang="en-US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혹은 숫자로 기재하는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방법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(4) </a:t>
            </a:r>
            <a:r>
              <a:rPr lang="ko-KR" altLang="en-US" b="1" dirty="0" smtClean="0">
                <a:solidFill>
                  <a:srgbClr val="C00000"/>
                </a:solidFill>
                <a:latin typeface="+mn-ea"/>
              </a:rPr>
              <a:t>부속명세서</a:t>
            </a:r>
            <a:r>
              <a:rPr lang="en-US" altLang="ko-KR" b="1" dirty="0" smtClean="0">
                <a:solidFill>
                  <a:srgbClr val="C00000"/>
                </a:solidFill>
                <a:latin typeface="+mn-ea"/>
              </a:rPr>
              <a:t>(supporting schedules)</a:t>
            </a:r>
          </a:p>
          <a:p>
            <a:pPr marL="576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 계정과목 중에서 중요한 항목에 대해 구체적인 세부내역을 기술한 보고서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6871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3458</Words>
  <Application>Microsoft Office PowerPoint</Application>
  <PresentationFormat>와이드스크린</PresentationFormat>
  <Paragraphs>941</Paragraphs>
  <Slides>38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54" baseType="lpstr">
      <vt:lpstr>#태고딕</vt:lpstr>
      <vt:lpstr>-2002</vt:lpstr>
      <vt:lpstr>HY견고딕</vt:lpstr>
      <vt:lpstr>HY수평선B</vt:lpstr>
      <vt:lpstr>HY수평선M</vt:lpstr>
      <vt:lpstr>HY신명조</vt:lpstr>
      <vt:lpstr>HY중고딕</vt:lpstr>
      <vt:lpstr>굴림</vt:lpstr>
      <vt:lpstr>맑은 고딕</vt:lpstr>
      <vt:lpstr>신명 신명조</vt:lpstr>
      <vt:lpstr>한양중고딕</vt:lpstr>
      <vt:lpstr>휴먼고딕,한컴돋움</vt:lpstr>
      <vt:lpstr>휴먼모음T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</dc:creator>
  <cp:lastModifiedBy>LG</cp:lastModifiedBy>
  <cp:revision>42</cp:revision>
  <cp:lastPrinted>2017-03-10T06:38:35Z</cp:lastPrinted>
  <dcterms:created xsi:type="dcterms:W3CDTF">2017-02-19T09:37:34Z</dcterms:created>
  <dcterms:modified xsi:type="dcterms:W3CDTF">2021-08-04T17:30:35Z</dcterms:modified>
</cp:coreProperties>
</file>