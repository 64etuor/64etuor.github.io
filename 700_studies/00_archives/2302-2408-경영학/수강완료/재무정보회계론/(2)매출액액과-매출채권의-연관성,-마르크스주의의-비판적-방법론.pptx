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1"/>
  </p:notesMasterIdLst>
  <p:sldIdLst>
    <p:sldId id="258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C314D-717C-4B2E-BCA0-208847FB1A08}" type="datetimeFigureOut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9B912-C31E-4EF4-9223-76493809996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123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727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97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600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89B912-C31E-4EF4-9223-764938099962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41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9ACEC-9644-4B48-BF38-757F667FDB7E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765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D7338-8C96-455C-B202-E3091810C005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877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D809-6C29-4AFB-AAD5-38F3ED42BAED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3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49095-A833-41E9-AFA8-1418ED5FE169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538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5B793-A6F8-4E9E-B1AD-7365844E38C5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97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DD0F1-4E12-40A8-B687-0653752B5FF7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84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96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9E96-F644-42A7-8923-BACFC8FFFFB1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582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5F106-5CB7-487C-BDF9-019F95EC63EE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171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28CF7-9E31-449E-A3DE-59B5744BBDBB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78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614A1-B719-419A-AFAF-4679CB585C77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11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2C8DA-DB50-4060-B7F5-59DC2BD2F4F2}" type="datetime1">
              <a:rPr lang="ko-KR" altLang="en-US" smtClean="0"/>
              <a:pPr/>
              <a:t>2019-10-28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 smtClean="0"/>
              <a:t>중앙대 경영경제대학 지식경영학과 재무회계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A1D64-C697-4080-891E-C87EDEB2F97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7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789493" y="1135957"/>
            <a:ext cx="8613013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05.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매출액과 매출채권의 연관성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1789493" y="2865442"/>
            <a:ext cx="8613013" cy="253086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재무제표상에서 일련의 연관성을 찾아라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!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800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매출액과 매출채권은 어떤 연관성이 있을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544988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재무제표간의 상호연결성을 이해하자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!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756983"/>
              </p:ext>
            </p:extLst>
          </p:nvPr>
        </p:nvGraphicFramePr>
        <p:xfrm>
          <a:off x="390293" y="812131"/>
          <a:ext cx="4482790" cy="5004780"/>
        </p:xfrm>
        <a:graphic>
          <a:graphicData uri="http://schemas.openxmlformats.org/drawingml/2006/table">
            <a:tbl>
              <a:tblPr/>
              <a:tblGrid>
                <a:gridCol w="3311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한 회계기간 동안의 손익계산서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sales revenue)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C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$10,400,000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6,760,000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gross margin)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$3,640,000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2,080,000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감가상각비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260,000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operating earnings)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$1,300,000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이자비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103,000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법인세차감전이익</a:t>
                      </a:r>
                      <a:r>
                        <a:rPr lang="en-US" altLang="ko-KR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before income tax)</a:t>
                      </a:r>
                      <a:endParaRPr lang="en-US" sz="11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$1,197,000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478,800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net income)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$718,200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주당순이익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per share)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$3.59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701959"/>
              </p:ext>
            </p:extLst>
          </p:nvPr>
        </p:nvGraphicFramePr>
        <p:xfrm>
          <a:off x="7838982" y="796374"/>
          <a:ext cx="3817557" cy="5559983"/>
        </p:xfrm>
        <a:graphic>
          <a:graphicData uri="http://schemas.openxmlformats.org/drawingml/2006/table">
            <a:tbl>
              <a:tblPr/>
              <a:tblGrid>
                <a:gridCol w="24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9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회계기간말의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 </a:t>
                      </a: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재무상태표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$565,807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매출채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C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1,690,000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선급비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유형자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감가상각누계액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－기계장치 등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(800,000)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자산총계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부채와 자본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$520,000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미지급이자비용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17,167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23,940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단기지급어음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625,000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장기지급어음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750,000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자본금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(200,000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775,000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이익잉여금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2,544,700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부채와 자본총계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" name="_x182089472"/>
          <p:cNvSpPr>
            <a:spLocks noChangeArrowheads="1"/>
          </p:cNvSpPr>
          <p:nvPr/>
        </p:nvSpPr>
        <p:spPr bwMode="auto">
          <a:xfrm>
            <a:off x="5273622" y="1429023"/>
            <a:ext cx="2153090" cy="827137"/>
          </a:xfrm>
          <a:prstGeom prst="rect">
            <a:avLst/>
          </a:prstGeom>
          <a:solidFill>
            <a:srgbClr val="CCE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5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주 동안의 매출채권：</a:t>
            </a:r>
            <a:endParaRPr kumimoji="0" lang="ko-KR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5/52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Y신명조" panose="02030600000101010101" pitchFamily="18" charset="-127"/>
              </a:rPr>
              <a:t>×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신명 신명조"/>
              </a:rPr>
              <a:t>$10,400,000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＝ 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신명 신명조"/>
              </a:rPr>
              <a:t>$1,000,000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5" name="꺾인 연결선 14"/>
          <p:cNvCxnSpPr/>
          <p:nvPr/>
        </p:nvCxnSpPr>
        <p:spPr>
          <a:xfrm>
            <a:off x="4900527" y="1502645"/>
            <a:ext cx="356566" cy="339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7438023" y="1840524"/>
            <a:ext cx="284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71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매출액과 매출채권은 어떤 연관성이 있을까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472597" y="948004"/>
            <a:ext cx="5469690" cy="5111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j-ea"/>
                <a:ea typeface="+mj-ea"/>
              </a:rPr>
              <a:t>(1) </a:t>
            </a:r>
            <a:r>
              <a:rPr lang="ko-KR" altLang="en-US" sz="2000" b="1" dirty="0" smtClean="0">
                <a:solidFill>
                  <a:srgbClr val="C00000"/>
                </a:solidFill>
                <a:latin typeface="+mj-ea"/>
                <a:ea typeface="+mj-ea"/>
              </a:rPr>
              <a:t>매출</a:t>
            </a:r>
            <a:endParaRPr lang="en-US" altLang="ko-KR" sz="20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현금매출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외상매출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일정기간 신용을 공여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800" b="1" dirty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(2)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매출채권회전율</a:t>
            </a:r>
            <a:endParaRPr lang="en-US" altLang="ko-KR" sz="2000" b="1" dirty="0" smtClean="0">
              <a:solidFill>
                <a:srgbClr val="C00000"/>
              </a:solidFill>
              <a:latin typeface="+mn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매출채권회전율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매출액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매출채권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 (10.4)       = 10,400,000 / 1,000,000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sz="800" b="1" dirty="0" smtClean="0">
              <a:solidFill>
                <a:srgbClr val="C00000"/>
              </a:solidFill>
              <a:latin typeface="+mn-ea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(3)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매출채권회전기간</a:t>
            </a:r>
            <a:endParaRPr lang="en-US" altLang="ko-KR" sz="2000" b="1" dirty="0" smtClean="0">
              <a:solidFill>
                <a:srgbClr val="C00000"/>
              </a:solidFill>
              <a:latin typeface="+mn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매출채권회전기간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52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매출채권회전율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(5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           = 52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10.4</a:t>
            </a: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신용매출기간이 길면 외상매출 규모가 커짐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그러나 대손 </a:t>
            </a:r>
            <a:r>
              <a:rPr lang="ko-KR" altLang="en-US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리스크는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상대적으로 증가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085687" y="662744"/>
            <a:ext cx="5548215" cy="26314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2000" b="1" dirty="0" smtClean="0">
                <a:solidFill>
                  <a:srgbClr val="C00000"/>
                </a:solidFill>
                <a:latin typeface="신명 신명조"/>
              </a:rPr>
              <a:t>(</a:t>
            </a:r>
            <a:r>
              <a:rPr lang="ko-KR" altLang="en-US" sz="2000" b="1" dirty="0" smtClean="0">
                <a:solidFill>
                  <a:srgbClr val="C00000"/>
                </a:solidFill>
                <a:latin typeface="신명 신명조"/>
              </a:rPr>
              <a:t>수익의 인식</a:t>
            </a:r>
            <a:r>
              <a:rPr lang="en-US" altLang="ko-KR" sz="2000" b="1" dirty="0" smtClean="0">
                <a:solidFill>
                  <a:srgbClr val="C00000"/>
                </a:solidFill>
                <a:latin typeface="신명 신명조"/>
              </a:rPr>
              <a:t>)</a:t>
            </a:r>
          </a:p>
          <a:p>
            <a:pPr marL="28575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/>
              <a:t>연속적인 </a:t>
            </a:r>
            <a:r>
              <a:rPr lang="ko-KR" altLang="en-US" dirty="0"/>
              <a:t>수익획득과정 중에서 결정적인 </a:t>
            </a:r>
            <a:r>
              <a:rPr lang="ko-KR" altLang="en-US" dirty="0" smtClean="0"/>
              <a:t>사건 </a:t>
            </a:r>
            <a:r>
              <a:rPr lang="en-US" altLang="ko-KR" dirty="0" smtClean="0"/>
              <a:t>(</a:t>
            </a:r>
            <a:r>
              <a:rPr lang="en-US" altLang="ko-KR" dirty="0"/>
              <a:t>critical event)</a:t>
            </a:r>
            <a:r>
              <a:rPr lang="ko-KR" altLang="en-US" dirty="0"/>
              <a:t>이 발생된 시기에 </a:t>
            </a:r>
            <a:r>
              <a:rPr lang="ko-KR" altLang="en-US" dirty="0" smtClean="0"/>
              <a:t>인식</a:t>
            </a:r>
            <a:endParaRPr lang="en-US" altLang="ko-KR" dirty="0" smtClean="0"/>
          </a:p>
          <a:p>
            <a:pPr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</a:rPr>
              <a:t>  </a:t>
            </a:r>
            <a:r>
              <a:rPr lang="ko-KR" altLang="en-US" dirty="0" smtClean="0"/>
              <a:t> </a:t>
            </a:r>
            <a:r>
              <a:rPr lang="ko-KR" altLang="en-US" dirty="0"/>
              <a:t>① 수익획득과정이 거의 </a:t>
            </a:r>
            <a:r>
              <a:rPr lang="ko-KR" altLang="en-US" dirty="0" smtClean="0"/>
              <a:t>완료되거나</a:t>
            </a:r>
            <a:endParaRPr lang="en-US" altLang="ko-KR" dirty="0" smtClean="0"/>
          </a:p>
          <a:p>
            <a:pPr latinLnBrk="0">
              <a:lnSpc>
                <a:spcPct val="150000"/>
              </a:lnSpc>
            </a:pPr>
            <a:r>
              <a:rPr lang="en-US" altLang="ko-KR" dirty="0" smtClean="0"/>
              <a:t>   </a:t>
            </a:r>
            <a:r>
              <a:rPr lang="ko-KR" altLang="en-US" dirty="0" smtClean="0"/>
              <a:t>② </a:t>
            </a:r>
            <a:r>
              <a:rPr lang="ko-KR" altLang="en-US" dirty="0"/>
              <a:t>그 금액에 대한 합리적 추정이 </a:t>
            </a:r>
            <a:r>
              <a:rPr lang="ko-KR" altLang="en-US" dirty="0" smtClean="0"/>
              <a:t>가능하거나</a:t>
            </a:r>
            <a:endParaRPr lang="en-US" altLang="ko-KR" dirty="0" smtClean="0"/>
          </a:p>
          <a:p>
            <a:pPr latinLnBrk="0">
              <a:lnSpc>
                <a:spcPct val="150000"/>
              </a:lnSpc>
            </a:pPr>
            <a:r>
              <a:rPr lang="en-US" altLang="ko-KR" dirty="0" smtClean="0"/>
              <a:t>   </a:t>
            </a:r>
            <a:r>
              <a:rPr lang="ko-KR" altLang="en-US" dirty="0" smtClean="0"/>
              <a:t>③ 미래 </a:t>
            </a:r>
            <a:r>
              <a:rPr lang="ko-KR" altLang="en-US" dirty="0"/>
              <a:t>불확실성이 상당히 감소된 시점에서 </a:t>
            </a:r>
            <a:r>
              <a:rPr lang="ko-KR" altLang="en-US" dirty="0" smtClean="0"/>
              <a:t>인식</a:t>
            </a:r>
            <a:endParaRPr kumimoji="0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15825" t="31480" r="21100" b="34439"/>
          <a:stretch>
            <a:fillRect/>
          </a:stretch>
        </p:blipFill>
        <p:spPr bwMode="auto">
          <a:xfrm>
            <a:off x="6098294" y="3256158"/>
            <a:ext cx="5521277" cy="1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_x236055288"/>
          <p:cNvSpPr>
            <a:spLocks noChangeArrowheads="1"/>
          </p:cNvSpPr>
          <p:nvPr/>
        </p:nvSpPr>
        <p:spPr bwMode="auto">
          <a:xfrm>
            <a:off x="6108326" y="4862131"/>
            <a:ext cx="5502938" cy="1591671"/>
          </a:xfrm>
          <a:prstGeom prst="rect">
            <a:avLst/>
          </a:pr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41350" algn="l"/>
                <a:tab pos="1922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수익의 측정</a:t>
            </a: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현금판매 ➡ 현금수입액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외상판매 ➡ </a:t>
            </a:r>
            <a:r>
              <a:rPr lang="ko-KR" altLang="en-US" dirty="0"/>
              <a:t>외상매출금</a:t>
            </a:r>
            <a:r>
              <a:rPr lang="en-US" altLang="ko-KR" dirty="0"/>
              <a:t>(</a:t>
            </a:r>
            <a:r>
              <a:rPr lang="ko-KR" altLang="en-US" dirty="0"/>
              <a:t>매출채권</a:t>
            </a:r>
            <a:r>
              <a:rPr lang="en-US" altLang="ko-KR" dirty="0"/>
              <a:t>)</a:t>
            </a:r>
            <a:endParaRPr lang="ko-KR" alt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다른 </a:t>
            </a:r>
            <a:r>
              <a:rPr lang="ko-KR" altLang="en-US" dirty="0"/>
              <a:t>재화로 받는 </a:t>
            </a:r>
            <a:r>
              <a:rPr lang="ko-KR" altLang="en-US" dirty="0" smtClean="0"/>
              <a:t>경우➡ </a:t>
            </a:r>
            <a:r>
              <a:rPr lang="ko-KR" altLang="en-US" dirty="0"/>
              <a:t>해당 자산의 </a:t>
            </a:r>
            <a:r>
              <a:rPr lang="ko-KR" altLang="en-US" dirty="0" err="1"/>
              <a:t>현금등가액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91181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97874" y="1135957"/>
            <a:ext cx="916141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06.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매출원가와 재고자산의 연관성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1772075" y="2377762"/>
            <a:ext cx="8613013" cy="3272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매출원가와 재고자산은 어떤 연관성이 있을까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 2.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회계처리방법의 선택이 중요할까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3.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그렇다면 어떤 회계처리방법을 선택해야 하나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4.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재고자산과 관련된 기타 주요 이슈는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845746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매출원가와 재고자산은 어떤 연관성이 있을까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289933" y="812131"/>
          <a:ext cx="4499296" cy="5035699"/>
        </p:xfrm>
        <a:graphic>
          <a:graphicData uri="http://schemas.openxmlformats.org/drawingml/2006/table">
            <a:tbl>
              <a:tblPr/>
              <a:tblGrid>
                <a:gridCol w="3431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한 회계기간 동안의 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 손익계산서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sales revenue)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$10,400,000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6,760,000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gross margin)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$3,640,000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2,080,000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감가상각비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260,000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operating earnings)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$1,300,000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이자비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103,000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법인세차감전이익</a:t>
                      </a:r>
                      <a:r>
                        <a:rPr lang="en-US" altLang="ko-KR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before income tax)</a:t>
                      </a:r>
                      <a:endParaRPr lang="en-US" sz="11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$1,197,000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478,800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net income)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$718,200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주당순이익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per share)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$3.59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7838982" y="796374"/>
          <a:ext cx="3817557" cy="5596532"/>
        </p:xfrm>
        <a:graphic>
          <a:graphicData uri="http://schemas.openxmlformats.org/drawingml/2006/table">
            <a:tbl>
              <a:tblPr/>
              <a:tblGrid>
                <a:gridCol w="24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9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회계기간말의</a:t>
                      </a: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  </a:t>
                      </a: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재무상태표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$565,807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매출채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1,690,000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선급비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유형자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감가상각누계액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－기계장치 등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(800,000)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자산총계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부채와 자본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$520,000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미지급이자비용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17,167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23,940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단기지급어음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625,000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장기지급어음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750,000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자본금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(200,000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775,000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이익잉여금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2,544,700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부채와 자본총계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" name="_x182089472"/>
          <p:cNvSpPr>
            <a:spLocks noChangeArrowheads="1"/>
          </p:cNvSpPr>
          <p:nvPr/>
        </p:nvSpPr>
        <p:spPr bwMode="auto">
          <a:xfrm>
            <a:off x="5190187" y="1689015"/>
            <a:ext cx="2220157" cy="827137"/>
          </a:xfrm>
          <a:prstGeom prst="rect">
            <a:avLst/>
          </a:prstGeom>
          <a:solidFill>
            <a:srgbClr val="CCE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신명 신명조"/>
              </a:rPr>
              <a:t>13</a:t>
            </a:r>
            <a:r>
              <a:rPr kumimoji="0" lang="ko-KR" altLang="en-US" sz="1400" b="1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신명 신명조"/>
              </a:rPr>
              <a:t>주후의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신명 신명조"/>
              </a:rPr>
              <a:t> 기말재고자산：</a:t>
            </a:r>
            <a:endParaRPr kumimoji="0" lang="ko-KR" altLang="en-US" sz="1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 smtClean="0">
                <a:solidFill>
                  <a:srgbClr val="C00000"/>
                </a:solidFill>
                <a:latin typeface="Arial" panose="020B0604020202020204" pitchFamily="34" charset="0"/>
                <a:ea typeface="신명 신명조"/>
              </a:rPr>
              <a:t>13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신명 신명조"/>
              </a:rPr>
              <a:t>/52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HY신명조" panose="02030600000101010101" pitchFamily="18" charset="-127"/>
              </a:rPr>
              <a:t>×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신명 신명조"/>
              </a:rPr>
              <a:t>$6,760,000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신명 신명조"/>
              </a:rPr>
              <a:t>＝ 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신명 신명조"/>
              </a:rPr>
              <a:t>$1,690,000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4789228" y="1946932"/>
            <a:ext cx="284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/>
          <p:nvPr/>
        </p:nvCxnSpPr>
        <p:spPr>
          <a:xfrm>
            <a:off x="7498531" y="2091895"/>
            <a:ext cx="280950" cy="653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1839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1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매출원가와 재고자산은 어떤 연관성이 있을까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469556" y="815019"/>
            <a:ext cx="11183943" cy="5408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j-ea"/>
                <a:ea typeface="+mj-ea"/>
              </a:rPr>
              <a:t>(1) </a:t>
            </a:r>
            <a:r>
              <a:rPr lang="ko-KR" altLang="en-US" sz="2000" b="1" dirty="0" err="1" smtClean="0">
                <a:solidFill>
                  <a:srgbClr val="C00000"/>
                </a:solidFill>
                <a:latin typeface="+mj-ea"/>
                <a:ea typeface="+mj-ea"/>
              </a:rPr>
              <a:t>매출총이익률</a:t>
            </a:r>
            <a:endParaRPr lang="en-US" altLang="ko-KR" sz="20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매출총이익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(3,640,000)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매출액</a:t>
            </a:r>
            <a:r>
              <a:rPr lang="en-US" altLang="ko-KR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(10,400,000) = 35%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b="1" dirty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algn="just" latinLnBrk="0"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(2)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재고자산회전율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468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(6,760,000)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기말재고자산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(1,690,000) =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4.0</a:t>
            </a:r>
          </a:p>
          <a:p>
            <a:pPr marL="182250" lvl="0" algn="just" latinLnBrk="0">
              <a:lnSpc>
                <a:spcPct val="150000"/>
              </a:lnSpc>
            </a:pP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(3)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평균재고자산보유기간</a:t>
            </a: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52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(1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/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재고자산회전율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(4.0) = 13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endParaRPr lang="en-US" altLang="ko-KR" b="1" dirty="0" smtClean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(4)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기말재고자산잔액</a:t>
            </a:r>
            <a:endParaRPr lang="en-US" altLang="ko-KR" sz="2000" b="1" dirty="0" smtClean="0">
              <a:solidFill>
                <a:srgbClr val="C00000"/>
              </a:solidFill>
              <a:latin typeface="+mn-ea"/>
            </a:endParaRPr>
          </a:p>
          <a:p>
            <a:pPr marL="46800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13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평균재고자산보유기간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/ 52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(1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년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x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한해 동안의 매출원가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(6,760,000)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1,690,000</a:t>
            </a:r>
          </a:p>
          <a:p>
            <a:pPr marL="46800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한해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동안의 매출원가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(6,760,000) 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재고자산회전율</a:t>
            </a:r>
            <a:r>
              <a:rPr lang="en-US" altLang="ko-KR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(4.0) = 1,690,000</a:t>
            </a:r>
            <a:endParaRPr lang="en-US" altLang="ko-KR" b="1" dirty="0">
              <a:solidFill>
                <a:schemeClr val="tx1">
                  <a:lumMod val="95000"/>
                  <a:lumOff val="5000"/>
                </a:schemeClr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583" y="783772"/>
            <a:ext cx="3230878" cy="452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329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_x187492992"/>
          <p:cNvSpPr>
            <a:spLocks noChangeArrowheads="1"/>
          </p:cNvSpPr>
          <p:nvPr/>
        </p:nvSpPr>
        <p:spPr bwMode="auto">
          <a:xfrm>
            <a:off x="543697" y="239521"/>
            <a:ext cx="11024414" cy="518125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2.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회계처리방법의 선택이 중요할까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 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543698" y="852825"/>
            <a:ext cx="11024414" cy="54083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rgbClr val="C00000"/>
                </a:solidFill>
                <a:latin typeface="+mj-ea"/>
                <a:ea typeface="+mj-ea"/>
              </a:rPr>
              <a:t>(1) </a:t>
            </a:r>
            <a:r>
              <a:rPr lang="ko-KR" altLang="en-US" sz="2000" b="1" dirty="0" smtClean="0">
                <a:solidFill>
                  <a:srgbClr val="C00000"/>
                </a:solidFill>
                <a:latin typeface="+mj-ea"/>
                <a:ea typeface="+mj-ea"/>
              </a:rPr>
              <a:t>중요성</a:t>
            </a:r>
            <a:endParaRPr lang="en-US" altLang="ko-KR" sz="2000" b="1" dirty="0" smtClean="0">
              <a:solidFill>
                <a:srgbClr val="C00000"/>
              </a:solidFill>
              <a:latin typeface="+mj-ea"/>
              <a:ea typeface="+mj-ea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재고자산의 원가는 채택하는 </a:t>
            </a:r>
            <a:r>
              <a:rPr lang="ko-KR" altLang="en-US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원가흐름의 가정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에 따라 달라짐</a:t>
            </a:r>
            <a:endParaRPr lang="en-US" altLang="ko-KR" b="1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>
                <a:tab pos="754063" algn="l"/>
              </a:tabLst>
            </a:pPr>
            <a:r>
              <a:rPr lang="ko-KR" altLang="en-US" b="1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매출총이익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등 모든 이익은 매출원가를 측정하는 </a:t>
            </a:r>
            <a:r>
              <a:rPr lang="ko-KR" altLang="en-US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회계처리방법</a:t>
            </a:r>
            <a:r>
              <a:rPr lang="ko-KR" altLang="en-US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에 따라 달라짐</a:t>
            </a:r>
            <a:endParaRPr lang="en-US" altLang="ko-KR" sz="800" b="1" dirty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algn="just" latinLnBrk="0">
              <a:lnSpc>
                <a:spcPct val="150000"/>
              </a:lnSpc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(2) 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회계처리방법 </a:t>
            </a: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2000" b="1" dirty="0" smtClean="0">
                <a:solidFill>
                  <a:srgbClr val="C00000"/>
                </a:solidFill>
                <a:latin typeface="+mn-ea"/>
              </a:rPr>
              <a:t>원가흐름의 가정</a:t>
            </a:r>
            <a:r>
              <a:rPr lang="en-US" altLang="ko-KR" sz="2000" b="1" dirty="0" smtClean="0">
                <a:solidFill>
                  <a:srgbClr val="C00000"/>
                </a:solidFill>
                <a:latin typeface="+mn-ea"/>
              </a:rPr>
              <a:t>)</a:t>
            </a:r>
          </a:p>
          <a:p>
            <a:pPr marL="41085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평균원가법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(average cost method</a:t>
            </a:r>
            <a:r>
              <a:rPr lang="en-US" altLang="ko-KR" b="1" dirty="0" smtClean="0">
                <a:solidFill>
                  <a:srgbClr val="0000FF"/>
                </a:solidFill>
                <a:latin typeface="+mn-ea"/>
              </a:rPr>
              <a:t>)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재고자산은 평균원가로 산정하여 평가된다는 가정</a:t>
            </a:r>
            <a:endParaRPr lang="en-US" altLang="ko-KR" b="1" dirty="0" smtClean="0">
              <a:latin typeface="+mn-ea"/>
              <a:ea typeface="HY신명조" panose="02030600000101010101" pitchFamily="18" charset="-127"/>
            </a:endParaRPr>
          </a:p>
          <a:p>
            <a:pPr marL="125100" lvl="0" algn="just" latinLnBrk="0">
              <a:lnSpc>
                <a:spcPct val="150000"/>
              </a:lnSpc>
            </a:pPr>
            <a:r>
              <a:rPr lang="en-US" altLang="ko-KR" b="1" dirty="0">
                <a:latin typeface="+mn-ea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  *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이동평균법   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*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총평균법</a:t>
            </a:r>
            <a:endParaRPr lang="en-US" altLang="ko-KR" b="1" dirty="0" smtClean="0">
              <a:latin typeface="+mn-ea"/>
              <a:ea typeface="HY신명조" panose="02030600000101010101" pitchFamily="18" charset="-127"/>
            </a:endParaRPr>
          </a:p>
          <a:p>
            <a:pPr marL="468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err="1" smtClean="0">
                <a:solidFill>
                  <a:srgbClr val="3333CC"/>
                </a:solidFill>
                <a:latin typeface="+mn-ea"/>
              </a:rPr>
              <a:t>후입선출법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(LIFO : last-in, first-out method)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나중에 구입된 재고자산이 먼저 판매된 것으로 가정</a:t>
            </a:r>
            <a:endParaRPr lang="en-US" altLang="ko-KR" b="1" dirty="0" smtClean="0">
              <a:latin typeface="+mn-ea"/>
              <a:ea typeface="HY신명조" panose="02030600000101010101" pitchFamily="18" charset="-127"/>
            </a:endParaRPr>
          </a:p>
          <a:p>
            <a:pPr marL="612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기말재고자산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 가장 오래된 구입가격으로 평가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물가상승 시 기말재고자산 낮게 기록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)</a:t>
            </a:r>
          </a:p>
          <a:p>
            <a:pPr marL="612000" lvl="0" indent="-28575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매출원가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 가장 최근 구입가격을 반영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(</a:t>
            </a:r>
            <a:r>
              <a:rPr lang="ko-KR" altLang="en-US" b="1" dirty="0" err="1" smtClean="0">
                <a:latin typeface="+mn-ea"/>
                <a:ea typeface="HY신명조" panose="02030600000101010101" pitchFamily="18" charset="-127"/>
              </a:rPr>
              <a:t>물가상승시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 기업의 매출원가가 최대화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기업이익 최소화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)</a:t>
            </a:r>
          </a:p>
          <a:p>
            <a:pPr marL="468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선입선출법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(FIFO : first-in, first-out method)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먼저 구입된 재고자산이 먼저 판매된 것으로 가정</a:t>
            </a:r>
            <a:endParaRPr lang="en-US" altLang="ko-KR" b="1" dirty="0" smtClean="0">
              <a:latin typeface="+mn-ea"/>
              <a:ea typeface="HY신명조" panose="02030600000101010101" pitchFamily="18" charset="-127"/>
            </a:endParaRPr>
          </a:p>
          <a:p>
            <a:pPr marL="612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기말재고자산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가장 최근 구입가격으로 평가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물가상승 시 기말재고자산 높게 기록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)</a:t>
            </a:r>
          </a:p>
          <a:p>
            <a:pPr marL="612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매출원가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가장 오래된 구입가격 반영 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물가상승 시 매출원가 최소화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, </a:t>
            </a:r>
            <a:r>
              <a:rPr lang="ko-KR" altLang="en-US" b="1" dirty="0" smtClean="0">
                <a:latin typeface="+mn-ea"/>
                <a:ea typeface="HY신명조" panose="02030600000101010101" pitchFamily="18" charset="-127"/>
              </a:rPr>
              <a:t>기업이익 최대화</a:t>
            </a:r>
            <a:r>
              <a:rPr lang="en-US" altLang="ko-KR" b="1" dirty="0" smtClean="0">
                <a:latin typeface="+mn-ea"/>
                <a:ea typeface="HY신명조" panose="02030600000101010101" pitchFamily="18" charset="-127"/>
              </a:rPr>
              <a:t>)</a:t>
            </a:r>
          </a:p>
          <a:p>
            <a:pPr marL="468000" lvl="0" indent="-342900" algn="just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err="1" smtClean="0">
                <a:solidFill>
                  <a:srgbClr val="3333CC"/>
                </a:solidFill>
                <a:latin typeface="+mn-ea"/>
              </a:rPr>
              <a:t>개별법</a:t>
            </a: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 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(specific identification method) </a:t>
            </a:r>
          </a:p>
        </p:txBody>
      </p:sp>
    </p:spTree>
    <p:extLst>
      <p:ext uri="{BB962C8B-B14F-4D97-AF65-F5344CB8AC3E}">
        <p14:creationId xmlns:p14="http://schemas.microsoft.com/office/powerpoint/2010/main" val="16478920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622399" y="1571847"/>
          <a:ext cx="5147345" cy="4270123"/>
        </p:xfrm>
        <a:graphic>
          <a:graphicData uri="http://schemas.openxmlformats.org/drawingml/2006/table">
            <a:tbl>
              <a:tblPr/>
              <a:tblGrid>
                <a:gridCol w="2662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4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제 품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양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(</a:t>
                      </a: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개수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)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원 가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기초재고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첫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두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세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네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 계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$550,000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회계기간에 판매된 제품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baseline="300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242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기말재고자산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baseline="300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55957">
                <a:tc gridSpan="3">
                  <a:txBody>
                    <a:bodyPr/>
                    <a:lstStyle/>
                    <a:p>
                      <a:pPr marL="317500" marR="254000" indent="-167640" algn="just" fontAlgn="base" latinLnBrk="1">
                        <a:lnSpc>
                          <a:spcPct val="14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298950" y="265271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622400" y="496857"/>
            <a:ext cx="5147345" cy="5595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표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6-2)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매출원가와 기말재고가액 예시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7" name="_x187492992"/>
          <p:cNvSpPr>
            <a:spLocks noChangeArrowheads="1"/>
          </p:cNvSpPr>
          <p:nvPr/>
        </p:nvSpPr>
        <p:spPr bwMode="auto">
          <a:xfrm>
            <a:off x="6494465" y="496857"/>
            <a:ext cx="5147345" cy="5595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표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6-3)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평균원가법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6494464" y="1571842"/>
          <a:ext cx="5147345" cy="4686808"/>
        </p:xfrm>
        <a:graphic>
          <a:graphicData uri="http://schemas.openxmlformats.org/drawingml/2006/table">
            <a:tbl>
              <a:tblPr/>
              <a:tblGrid>
                <a:gridCol w="2637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01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제 품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양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(</a:t>
                      </a: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개수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)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원 가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기초재고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첫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두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세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네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 계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$550,000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3333CC"/>
                          </a:solidFill>
                          <a:effectLst/>
                          <a:ea typeface="신명 신명조"/>
                        </a:rPr>
                        <a:t>회계기간에 판매된 제품</a:t>
                      </a:r>
                      <a:endParaRPr lang="ko-KR" alt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4,000</a:t>
                      </a:r>
                      <a:endParaRPr 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440,000</a:t>
                      </a:r>
                      <a:r>
                        <a:rPr lang="en-US" sz="1600" b="1" kern="0" spc="-30" baseline="3000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*</a:t>
                      </a:r>
                      <a:endParaRPr 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015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기말재고자산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778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$110,000</a:t>
                      </a:r>
                      <a:r>
                        <a:rPr lang="en-US" sz="1600" b="1" kern="0" spc="-30" baseline="3000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5242">
                <a:tc gridSpan="3">
                  <a:txBody>
                    <a:bodyPr/>
                    <a:lstStyle/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 4,000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</a:t>
                      </a:r>
                      <a:r>
                        <a:rPr lang="en-US" sz="1600" b="1" kern="0" spc="-30" baseline="300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$440,000</a:t>
                      </a:r>
                    </a:p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 1,000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 $550,000/5,000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9066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6888" y="1582955"/>
          <a:ext cx="5408232" cy="4615613"/>
        </p:xfrm>
        <a:graphic>
          <a:graphicData uri="http://schemas.openxmlformats.org/drawingml/2006/table">
            <a:tbl>
              <a:tblPr/>
              <a:tblGrid>
                <a:gridCol w="2792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6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9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제 품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양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(</a:t>
                      </a: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개수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)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원 가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기초재고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첫 번째 구입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두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세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네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 계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$550,000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3333CC"/>
                          </a:solidFill>
                          <a:effectLst/>
                          <a:ea typeface="신명 신명조"/>
                        </a:rPr>
                        <a:t>회계기간에 판매된 제품</a:t>
                      </a:r>
                      <a:endParaRPr lang="ko-KR" alt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4,000</a:t>
                      </a:r>
                      <a:endParaRPr lang="en-US" sz="1600" b="1" kern="0" spc="-3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450,000</a:t>
                      </a:r>
                      <a:r>
                        <a:rPr lang="en-US" sz="1600" b="1" kern="0" spc="-30" baseline="3000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*</a:t>
                      </a:r>
                      <a:endParaRPr 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999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기말재고자산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778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r>
                        <a:rPr lang="en-US" sz="1600" b="1" kern="0" spc="-30" baseline="3000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18622">
                <a:tc gridSpan="3">
                  <a:txBody>
                    <a:bodyPr/>
                    <a:lstStyle/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 $120,000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$115,000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$105,000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$450,000</a:t>
                      </a:r>
                    </a:p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 $550,000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－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$450,000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466888" y="552840"/>
            <a:ext cx="5364743" cy="5595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표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6-4)  </a:t>
            </a:r>
            <a:r>
              <a:rPr lang="ko-KR" altLang="en-US" sz="2000" b="1" dirty="0" err="1" smtClean="0">
                <a:solidFill>
                  <a:schemeClr val="bg1"/>
                </a:solidFill>
              </a:rPr>
              <a:t>후입선출법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(LIFO)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6204857" y="1589245"/>
          <a:ext cx="5411757" cy="4717980"/>
        </p:xfrm>
        <a:graphic>
          <a:graphicData uri="http://schemas.openxmlformats.org/drawingml/2006/table">
            <a:tbl>
              <a:tblPr/>
              <a:tblGrid>
                <a:gridCol w="2772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14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제 품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양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(</a:t>
                      </a: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개수</a:t>
                      </a:r>
                      <a:r>
                        <a:rPr lang="en-US" altLang="ko-KR" sz="16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)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원 가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기초재고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첫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두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세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네 번째 구입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1270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총 계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2540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$550,000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3333CC"/>
                          </a:solidFill>
                          <a:effectLst/>
                          <a:ea typeface="신명 신명조"/>
                        </a:rPr>
                        <a:t>회계기간에 판매된 제품</a:t>
                      </a:r>
                      <a:endParaRPr lang="ko-KR" alt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4,000</a:t>
                      </a:r>
                      <a:endParaRPr 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905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430,000</a:t>
                      </a:r>
                      <a:r>
                        <a:rPr lang="en-US" sz="1600" b="1" kern="0" spc="-30" baseline="30000" dirty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*</a:t>
                      </a:r>
                      <a:endParaRPr lang="en-US" sz="1600" b="1" kern="0" spc="-30" dirty="0">
                        <a:solidFill>
                          <a:srgbClr val="3333CC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9730">
                <a:tc>
                  <a:txBody>
                    <a:bodyPr/>
                    <a:lstStyle/>
                    <a:p>
                      <a:pPr marL="3175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기말재고자산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77800" indent="0" algn="r" fontAlgn="base" latinLnBrk="0">
                        <a:lnSpc>
                          <a:spcPct val="15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$120,000</a:t>
                      </a:r>
                      <a:r>
                        <a:rPr lang="en-US" sz="1600" b="1" kern="0" spc="-30" baseline="3000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3607">
                <a:tc gridSpan="3">
                  <a:txBody>
                    <a:bodyPr/>
                    <a:lstStyle/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 $100,000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$105,000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＋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$115,000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$430,000</a:t>
                      </a:r>
                    </a:p>
                    <a:p>
                      <a:pPr marL="127000" marR="76200" indent="-114300" algn="just" fontAlgn="base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 $550,000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－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$430,000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$120,000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_x187492992"/>
          <p:cNvSpPr>
            <a:spLocks noChangeArrowheads="1"/>
          </p:cNvSpPr>
          <p:nvPr/>
        </p:nvSpPr>
        <p:spPr bwMode="auto">
          <a:xfrm>
            <a:off x="6204857" y="552839"/>
            <a:ext cx="5364743" cy="5595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표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6-5)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선입선출법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(FIFO)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643823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543697" y="239521"/>
            <a:ext cx="11091576" cy="518125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3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그렇다면 어떤 회계처리방법을 선택해야 하나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 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543696" y="1672508"/>
          <a:ext cx="5364742" cy="1168908"/>
        </p:xfrm>
        <a:graphic>
          <a:graphicData uri="http://schemas.openxmlformats.org/drawingml/2006/table">
            <a:tbl>
              <a:tblPr/>
              <a:tblGrid>
                <a:gridCol w="362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640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(&lt;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표 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6-3&gt;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을 참조할 것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$645,000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440,000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511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매출총이익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$205,000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543696" y="3509884"/>
          <a:ext cx="5364742" cy="1168908"/>
        </p:xfrm>
        <a:graphic>
          <a:graphicData uri="http://schemas.openxmlformats.org/drawingml/2006/table">
            <a:tbl>
              <a:tblPr/>
              <a:tblGrid>
                <a:gridCol w="362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(&lt;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표 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6-4&gt;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를 참조할 것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$645,000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450,000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매출총이익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$195,000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/>
          </p:nvPr>
        </p:nvGraphicFramePr>
        <p:xfrm>
          <a:off x="543696" y="5308740"/>
          <a:ext cx="5364743" cy="1168908"/>
        </p:xfrm>
        <a:graphic>
          <a:graphicData uri="http://schemas.openxmlformats.org/drawingml/2006/table">
            <a:tbl>
              <a:tblPr/>
              <a:tblGrid>
                <a:gridCol w="3626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5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(&lt;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표 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6-5&gt;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를 참조할 것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$645,000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430,000</a:t>
                      </a:r>
                      <a:endParaRPr 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3810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매출총이익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63500" marR="63500" indent="0" algn="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$215,000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337333" y="4138942"/>
          <a:ext cx="5297939" cy="2266188"/>
        </p:xfrm>
        <a:graphic>
          <a:graphicData uri="http://schemas.openxmlformats.org/drawingml/2006/table">
            <a:tbl>
              <a:tblPr/>
              <a:tblGrid>
                <a:gridCol w="353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선입선출법 사용시</a:t>
                      </a:r>
                      <a:r>
                        <a:rPr lang="en-US" altLang="ko-KR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en-US" sz="1600" b="1" kern="0" spc="-30" dirty="0" smtClean="0">
                        <a:solidFill>
                          <a:srgbClr val="3333CC"/>
                        </a:solidFill>
                        <a:effectLst/>
                        <a:latin typeface="신명 신명조"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$100,000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105,000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kern="0" spc="-30" dirty="0" smtClean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$157,500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$165,000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$172,500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38100" marR="0" indent="0" algn="ctr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총매출액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$645,000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_x187492992"/>
          <p:cNvSpPr>
            <a:spLocks noChangeArrowheads="1"/>
          </p:cNvSpPr>
          <p:nvPr/>
        </p:nvSpPr>
        <p:spPr bwMode="auto">
          <a:xfrm>
            <a:off x="543697" y="1076093"/>
            <a:ext cx="5364743" cy="3888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(1)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평균원가법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_x187492992"/>
          <p:cNvSpPr>
            <a:spLocks noChangeArrowheads="1"/>
          </p:cNvSpPr>
          <p:nvPr/>
        </p:nvSpPr>
        <p:spPr bwMode="auto">
          <a:xfrm>
            <a:off x="543696" y="3037171"/>
            <a:ext cx="5364743" cy="3888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(2)  </a:t>
            </a:r>
            <a:r>
              <a:rPr lang="ko-KR" altLang="en-US" sz="2000" b="1" dirty="0" err="1" smtClean="0">
                <a:solidFill>
                  <a:schemeClr val="bg1"/>
                </a:solidFill>
              </a:rPr>
              <a:t>후입선출법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(LIFO)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7" name="_x187492992"/>
          <p:cNvSpPr>
            <a:spLocks noChangeArrowheads="1"/>
          </p:cNvSpPr>
          <p:nvPr/>
        </p:nvSpPr>
        <p:spPr bwMode="auto">
          <a:xfrm>
            <a:off x="543696" y="4834328"/>
            <a:ext cx="5364743" cy="3888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(3)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선입선출법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(LIFO)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8" name="_x187492992"/>
          <p:cNvSpPr>
            <a:spLocks noChangeArrowheads="1"/>
          </p:cNvSpPr>
          <p:nvPr/>
        </p:nvSpPr>
        <p:spPr bwMode="auto">
          <a:xfrm>
            <a:off x="6337334" y="1076093"/>
            <a:ext cx="5297939" cy="38881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(4)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판매가격의 결정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/>
          </p:nvPr>
        </p:nvGraphicFramePr>
        <p:xfrm>
          <a:off x="6337333" y="1742230"/>
          <a:ext cx="5297939" cy="2266188"/>
        </p:xfrm>
        <a:graphic>
          <a:graphicData uri="http://schemas.openxmlformats.org/drawingml/2006/table">
            <a:tbl>
              <a:tblPr/>
              <a:tblGrid>
                <a:gridCol w="3539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600" b="1" kern="0" spc="-30" dirty="0" err="1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후입선출법</a:t>
                      </a:r>
                      <a:r>
                        <a:rPr lang="ko-KR" altLang="en-US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 사용시</a:t>
                      </a:r>
                      <a:r>
                        <a:rPr lang="en-US" altLang="ko-KR" sz="1600" b="1" kern="0" spc="-30" dirty="0" smtClean="0">
                          <a:solidFill>
                            <a:srgbClr val="3333CC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en-US" sz="1600" b="1" kern="0" spc="-30" dirty="0" smtClean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$105,000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110,000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6350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115,000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</a:p>
                    <a:p>
                      <a:pPr marL="6350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$120,000 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HY신명조" panose="02030600000101010101" pitchFamily="18" charset="-127"/>
                        </a:rPr>
                        <a:t>× 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150% </a:t>
                      </a: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＝</a:t>
                      </a: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$157,500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165,000</a:t>
                      </a: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172,500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180,000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38100" marR="0" indent="0" algn="ctr" fontAlgn="base" latinLnBrk="1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총매출액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5400" indent="0" algn="ctr" fontAlgn="base" latinLnBrk="0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</a:t>
                      </a:r>
                      <a:r>
                        <a:rPr lang="en-US" sz="1600" b="1" kern="0" spc="-30" dirty="0" smtClean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675,000</a:t>
                      </a:r>
                      <a:endParaRPr lang="en-US" sz="16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614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46134" y="1112644"/>
            <a:ext cx="5291668" cy="1754326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이익분배 최소화 가능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노사문제 및 단체협상 시 유리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과세소득 최소화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법인세 </a:t>
            </a:r>
            <a:r>
              <a:rPr lang="ko-KR" altLang="en-US" dirty="0" err="1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이연효과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발생</a:t>
            </a:r>
            <a:endParaRPr lang="en-US" altLang="ko-KR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6218826" y="1195340"/>
            <a:ext cx="5297939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(1) 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선적지 인도기준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(F.O.B shipping point)</a:t>
            </a: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상품의 소유권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선적과 동시에 이전</a:t>
            </a:r>
            <a:endParaRPr lang="en-US" altLang="ko-KR" b="1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미착상품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매입자의 재고자산에 포함</a:t>
            </a:r>
            <a:endParaRPr lang="en-US" altLang="ko-KR" b="1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운임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err="1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매입자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부담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취득원가에 포함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* F.O.B : Free On Board</a:t>
            </a:r>
          </a:p>
          <a:p>
            <a:pPr marL="182250" lvl="0" indent="0" latinLnBrk="0">
              <a:lnSpc>
                <a:spcPct val="150000"/>
              </a:lnSpc>
            </a:pPr>
            <a:endParaRPr lang="en-US" altLang="ko-KR" b="1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(2) 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도착지 인도기준</a:t>
            </a: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(F.O.B destination) </a:t>
            </a: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상품의 소유권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도착지에서 이전</a:t>
            </a:r>
            <a:endParaRPr lang="en-US" altLang="ko-KR" b="1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미착상품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판매자의 재고자산에 포함</a:t>
            </a:r>
            <a:endParaRPr lang="en-US" altLang="ko-KR" b="1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운임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판매자 부담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b="1" dirty="0" err="1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판매비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처리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</a:t>
            </a:r>
            <a:r>
              <a:rPr lang="ko-KR" altLang="en-US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소유권 이전 시점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에 따라 결정됨</a:t>
            </a:r>
            <a:endParaRPr lang="en-US" altLang="ko-KR" b="1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7" name="_x187492992"/>
          <p:cNvSpPr>
            <a:spLocks noChangeArrowheads="1"/>
          </p:cNvSpPr>
          <p:nvPr/>
        </p:nvSpPr>
        <p:spPr bwMode="auto">
          <a:xfrm>
            <a:off x="6218827" y="506800"/>
            <a:ext cx="5297939" cy="5102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000" b="1" dirty="0" smtClean="0">
                <a:solidFill>
                  <a:schemeClr val="bg1"/>
                </a:solidFill>
              </a:rPr>
              <a:t>(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참고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) 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미착상품의 재고자산 기록방법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8" name="_x187492992"/>
          <p:cNvSpPr>
            <a:spLocks noChangeArrowheads="1"/>
          </p:cNvSpPr>
          <p:nvPr/>
        </p:nvSpPr>
        <p:spPr bwMode="auto">
          <a:xfrm>
            <a:off x="546135" y="506799"/>
            <a:ext cx="5297939" cy="5102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ko-KR" altLang="en-US" sz="2000" b="1" dirty="0" smtClean="0">
                <a:solidFill>
                  <a:schemeClr val="bg1"/>
                </a:solidFill>
              </a:rPr>
              <a:t>기업의 </a:t>
            </a:r>
            <a:r>
              <a:rPr lang="en-US" altLang="ko-KR" sz="2000" b="1" dirty="0" smtClean="0">
                <a:solidFill>
                  <a:schemeClr val="bg1"/>
                </a:solidFill>
              </a:rPr>
              <a:t>LIFO </a:t>
            </a:r>
            <a:r>
              <a:rPr lang="ko-KR" altLang="en-US" sz="2000" b="1" dirty="0" smtClean="0">
                <a:solidFill>
                  <a:schemeClr val="bg1"/>
                </a:solidFill>
              </a:rPr>
              <a:t>선호이유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9" name="_x187492992"/>
          <p:cNvSpPr>
            <a:spLocks noChangeArrowheads="1"/>
          </p:cNvSpPr>
          <p:nvPr/>
        </p:nvSpPr>
        <p:spPr bwMode="auto">
          <a:xfrm>
            <a:off x="546134" y="3128652"/>
            <a:ext cx="5297939" cy="510237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(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참고</a:t>
            </a:r>
            <a:r>
              <a:rPr kumimoji="0" lang="en-US" altLang="ko-KR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) 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재고자산 매매거래 기록방법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46134" y="3734497"/>
            <a:ext cx="5291668" cy="258532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(1) </a:t>
            </a:r>
            <a:r>
              <a:rPr lang="ko-KR" altLang="en-US" b="1" dirty="0" err="1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계속기록법</a:t>
            </a:r>
            <a:endParaRPr lang="en-US" altLang="ko-KR" b="1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기초재고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+ </a:t>
            </a:r>
            <a:r>
              <a:rPr lang="ko-KR" altLang="en-US" b="1" dirty="0" err="1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당기매입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- </a:t>
            </a:r>
            <a:r>
              <a:rPr lang="ko-KR" altLang="en-US" b="1" dirty="0" err="1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당기판매</a:t>
            </a:r>
            <a:r>
              <a:rPr lang="en-US" altLang="ko-KR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ko-KR" altLang="en-US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기말재고</a:t>
            </a:r>
            <a:endParaRPr lang="en-US" altLang="ko-KR" b="1" dirty="0" smtClean="0">
              <a:solidFill>
                <a:srgbClr val="0000FF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                           (</a:t>
            </a:r>
            <a:r>
              <a:rPr lang="ko-KR" altLang="en-US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en-US" altLang="ko-KR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 </a:t>
            </a:r>
          </a:p>
          <a:p>
            <a:pPr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(2) </a:t>
            </a:r>
            <a:r>
              <a:rPr lang="ko-KR" altLang="en-US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실지재고조사법</a:t>
            </a:r>
            <a:endParaRPr lang="en-US" altLang="ko-KR" b="1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기초재고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+ </a:t>
            </a:r>
            <a:r>
              <a:rPr lang="ko-KR" altLang="en-US" b="1" dirty="0" err="1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당기매입</a:t>
            </a:r>
            <a:r>
              <a:rPr lang="ko-KR" altLang="en-US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</a:t>
            </a:r>
            <a:r>
              <a:rPr lang="en-US" altLang="ko-KR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– </a:t>
            </a:r>
            <a:r>
              <a:rPr lang="ko-KR" altLang="en-US" b="1" dirty="0" smtClean="0">
                <a:solidFill>
                  <a:srgbClr val="0000FF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기말재고 </a:t>
            </a:r>
            <a:r>
              <a:rPr lang="en-US" altLang="ko-KR" b="1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ko-KR" altLang="en-US" b="1" dirty="0" err="1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당기판매</a:t>
            </a:r>
            <a:endParaRPr lang="en-US" altLang="ko-KR" b="1" dirty="0" smtClean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                                           (</a:t>
            </a:r>
            <a:r>
              <a:rPr lang="ko-KR" altLang="en-US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en-US" altLang="ko-KR" b="1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en-US" altLang="ko-KR" b="1" dirty="0">
              <a:solidFill>
                <a:srgbClr val="FF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6578082" y="5894741"/>
            <a:ext cx="186612" cy="2332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59067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15291" y="1284003"/>
            <a:ext cx="916141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07.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재고자산과 매입채무의 연관성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1754657" y="3231201"/>
            <a:ext cx="8613013" cy="17152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재고자산은 항상 외상으로 구입될</a:t>
            </a:r>
            <a:r>
              <a:rPr lang="ko-KR" altLang="en-US" sz="2400" b="1" dirty="0">
                <a:latin typeface="HY신명조" panose="02030600000101010101" pitchFamily="18" charset="-127"/>
                <a:ea typeface="HY신명조" panose="02030600000101010101" pitchFamily="18" charset="-127"/>
              </a:rPr>
              <a:t>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  <a:endParaRPr kumimoji="0" lang="en-US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74992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096460" y="94613"/>
            <a:ext cx="3575542" cy="518125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재고자산의 구매와 판매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 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/>
          </p:nvPr>
        </p:nvGraphicFramePr>
        <p:xfrm>
          <a:off x="1525295" y="637034"/>
          <a:ext cx="9268286" cy="5903148"/>
        </p:xfrm>
        <a:graphic>
          <a:graphicData uri="http://schemas.openxmlformats.org/drawingml/2006/table">
            <a:tbl>
              <a:tblPr/>
              <a:tblGrid>
                <a:gridCol w="1699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6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3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3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226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FF0000"/>
                          </a:solidFill>
                          <a:effectLst/>
                          <a:ea typeface="휴먼고딕" panose="02010504000101010101" pitchFamily="2" charset="-127"/>
                        </a:rPr>
                        <a:t>외상매출금</a:t>
                      </a:r>
                      <a:r>
                        <a:rPr lang="en-US" altLang="ko-KR" sz="1200" b="1" kern="0" spc="-30" dirty="0">
                          <a:solidFill>
                            <a:srgbClr val="FF0000"/>
                          </a:solidFill>
                          <a:effectLst/>
                          <a:latin typeface="휴먼고딕" panose="02010504000101010101" pitchFamily="2" charset="-127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FF0000"/>
                          </a:solidFill>
                          <a:effectLst/>
                          <a:latin typeface="휴먼고딕" panose="02010504000101010101" pitchFamily="2" charset="-127"/>
                        </a:rPr>
                        <a:t>A/R)</a:t>
                      </a:r>
                      <a:endParaRPr lang="en-US" sz="1200" b="1" kern="0" spc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6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 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A/R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당기 현금회수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&lt;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산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&gt;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현 금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FF0000"/>
                          </a:solidFill>
                          <a:effectLst/>
                          <a:ea typeface="신명 신명조"/>
                        </a:rPr>
                        <a:t>매출채권</a:t>
                      </a:r>
                      <a:endParaRPr lang="ko-KR" altLang="en-US" sz="1200" b="1" kern="0" spc="-3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․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A/R</a:t>
                      </a:r>
                      <a:r>
                        <a:rPr lang="en-US" altLang="ko-KR" sz="1200" b="1" kern="0" spc="-30" baseline="300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․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B/R</a:t>
                      </a:r>
                      <a:r>
                        <a:rPr lang="en-US" altLang="ko-KR" sz="1200" b="1" kern="0" spc="-30" baseline="3000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##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FF"/>
                          </a:solidFill>
                          <a:effectLst/>
                          <a:ea typeface="신명 신명조"/>
                        </a:rPr>
                        <a:t>제 품</a:t>
                      </a:r>
                      <a:endParaRPr lang="ko-KR" altLang="en-US" sz="1200" b="1" kern="0" spc="-3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6928" marR="16928" marT="16928" marB="16928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&lt;</a:t>
                      </a: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부 채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&gt;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매입채무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․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A/P</a:t>
                      </a:r>
                      <a:r>
                        <a:rPr lang="ko-KR" altLang="en-US" sz="1200" b="1" kern="0" spc="-30" baseline="300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․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B/P</a:t>
                      </a:r>
                      <a:r>
                        <a:rPr lang="ko-KR" altLang="en-US" sz="1200" b="1" kern="0" spc="-30" baseline="3000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채권자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932">
                <a:tc rowSpan="4">
                  <a:txBody>
                    <a:bodyPr/>
                    <a:lstStyle/>
                    <a:p>
                      <a:pPr marL="381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당기매출채권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38100" marR="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수익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(revenue</a:t>
                      </a:r>
                      <a:r>
                        <a:rPr lang="en-US" altLang="ko-KR" sz="12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r>
                        <a:rPr lang="ko-KR" altLang="en-US" sz="12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에</a:t>
                      </a:r>
                      <a:r>
                        <a:rPr lang="ko-KR" altLang="en-US" sz="1200" b="1" kern="0" spc="-30" baseline="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12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해당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판매가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구매가</a:t>
                      </a:r>
                      <a:endParaRPr lang="en-US" altLang="ko-KR" sz="12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&lt;</a:t>
                      </a: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본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&gt;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투자자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0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기말 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A/R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8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5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&lt;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수 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&gt;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고 객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14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&lt;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비 용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&gt;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26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FF"/>
                          </a:solidFill>
                          <a:effectLst/>
                          <a:ea typeface="휴먼고딕" panose="02010504000101010101" pitchFamily="2" charset="-127"/>
                        </a:rPr>
                        <a:t>재고자산</a:t>
                      </a:r>
                      <a:r>
                        <a:rPr lang="en-US" altLang="ko-KR" sz="1200" b="1" kern="0" spc="-30" dirty="0">
                          <a:solidFill>
                            <a:srgbClr val="0000FF"/>
                          </a:solidFill>
                          <a:effectLst/>
                          <a:latin typeface="휴먼고딕" panose="02010504000101010101" pitchFamily="2" charset="-127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FF"/>
                          </a:solidFill>
                          <a:effectLst/>
                          <a:latin typeface="휴먼고딕" panose="02010504000101010101" pitchFamily="2" charset="-127"/>
                        </a:rPr>
                        <a:t>I)</a:t>
                      </a:r>
                      <a:endParaRPr lang="en-US" sz="1200" b="1" kern="0" spc="0" dirty="0">
                        <a:solidFill>
                          <a:srgbClr val="0000FF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26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6140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기초재고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BI)</a:t>
                      </a:r>
                      <a:endParaRPr 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매출원가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(CGS)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판매된 재고자산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gridSpan="4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*A/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Accounts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Payable(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외상매입금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**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B/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Bills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Payable(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지급어음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A/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R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Accounts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Receivable(</a:t>
                      </a: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외상매출금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##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B/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R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Bills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Receivable(</a:t>
                      </a:r>
                      <a:r>
                        <a:rPr lang="ko-KR" alt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받을어음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1) 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I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Inventory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BI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Beginning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Inventory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EI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Ending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Inventory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2) 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purchase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1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</a:t>
                      </a: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3) 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CGS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：</a:t>
                      </a:r>
                      <a:r>
                        <a:rPr lang="en-US" sz="12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Cost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 of Goods Sold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379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당기매입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(P)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ko-KR" altLang="en-US" sz="12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매입한 재고자산</a:t>
                      </a:r>
                      <a:r>
                        <a:rPr lang="en-US" altLang="ko-KR" sz="12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  <a:endParaRPr lang="ko-KR" altLang="en-US" sz="12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053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기말재고</a:t>
                      </a:r>
                      <a:endParaRPr lang="ko-KR" alt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2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EI)</a:t>
                      </a:r>
                      <a:endParaRPr lang="en-US" sz="12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928" marR="16928" marT="16928" marB="16928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4038600" y="12832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_x182002536"/>
          <p:cNvSpPr>
            <a:spLocks noChangeArrowheads="1"/>
          </p:cNvSpPr>
          <p:nvPr/>
        </p:nvSpPr>
        <p:spPr bwMode="auto">
          <a:xfrm>
            <a:off x="2034467" y="3903777"/>
            <a:ext cx="2539014" cy="2536161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4038600" y="17404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_x182002536"/>
          <p:cNvSpPr>
            <a:spLocks noChangeArrowheads="1"/>
          </p:cNvSpPr>
          <p:nvPr/>
        </p:nvSpPr>
        <p:spPr bwMode="auto">
          <a:xfrm>
            <a:off x="1997476" y="878889"/>
            <a:ext cx="2476870" cy="2476870"/>
          </a:xfrm>
          <a:prstGeom prst="ellipse">
            <a:avLst/>
          </a:prstGeom>
          <a:noFill/>
          <a:ln w="127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cxnSp>
        <p:nvCxnSpPr>
          <p:cNvPr id="21" name="꺾인 연결선 20"/>
          <p:cNvCxnSpPr/>
          <p:nvPr/>
        </p:nvCxnSpPr>
        <p:spPr>
          <a:xfrm rot="10800000" flipV="1">
            <a:off x="5884232" y="1844063"/>
            <a:ext cx="797327" cy="2835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/>
          <p:nvPr/>
        </p:nvCxnSpPr>
        <p:spPr>
          <a:xfrm rot="10800000" flipV="1">
            <a:off x="5048065" y="2461562"/>
            <a:ext cx="1594652" cy="2396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꺾인 연결선 1023"/>
          <p:cNvCxnSpPr/>
          <p:nvPr/>
        </p:nvCxnSpPr>
        <p:spPr>
          <a:xfrm flipV="1">
            <a:off x="3851799" y="2970302"/>
            <a:ext cx="2840855" cy="834501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화살표 연결선 1028"/>
          <p:cNvCxnSpPr/>
          <p:nvPr/>
        </p:nvCxnSpPr>
        <p:spPr>
          <a:xfrm flipH="1" flipV="1">
            <a:off x="5734975" y="2513102"/>
            <a:ext cx="976545" cy="452038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직선 연결선 1036"/>
          <p:cNvCxnSpPr/>
          <p:nvPr/>
        </p:nvCxnSpPr>
        <p:spPr>
          <a:xfrm>
            <a:off x="6282895" y="2127636"/>
            <a:ext cx="295458" cy="3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연결선 1039"/>
          <p:cNvCxnSpPr/>
          <p:nvPr/>
        </p:nvCxnSpPr>
        <p:spPr>
          <a:xfrm>
            <a:off x="5884231" y="2701259"/>
            <a:ext cx="75848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0328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재고자산은 항상 외상으로 구입될까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532661" y="812131"/>
          <a:ext cx="4449032" cy="5119096"/>
        </p:xfrm>
        <a:graphic>
          <a:graphicData uri="http://schemas.openxmlformats.org/drawingml/2006/table">
            <a:tbl>
              <a:tblPr/>
              <a:tblGrid>
                <a:gridCol w="339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한 회계기간 동안의 손익계산서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sales revenue)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$10,400,000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6,760,000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gross margin)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$3,640,000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영업비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2,080,000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감가상각비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operating earnings)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$1,300,000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이자비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103,000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법인세차감전이익</a:t>
                      </a:r>
                      <a:r>
                        <a:rPr lang="en-US" altLang="ko-KR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before income tax)</a:t>
                      </a:r>
                      <a:endParaRPr lang="en-US" sz="11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$1,197,000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478,800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net income)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$718,200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주당순이익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per share)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$3.59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7838982" y="796374"/>
          <a:ext cx="3817557" cy="5559983"/>
        </p:xfrm>
        <a:graphic>
          <a:graphicData uri="http://schemas.openxmlformats.org/drawingml/2006/table">
            <a:tbl>
              <a:tblPr/>
              <a:tblGrid>
                <a:gridCol w="24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9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회계기간말의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 </a:t>
                      </a: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재무상태표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$565,807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매출채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1,690,000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선급비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유형자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감가상각누계액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－기계장치 등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(800,000)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자산총계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부채와 자본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$520,000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미지급이자비용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17,167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23,940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단기지급어음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625,000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장기지급어음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750,000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자본금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(200,000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775,000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이익잉여금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2,544,700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부채와 자본총계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0" name="_x182089472"/>
          <p:cNvSpPr>
            <a:spLocks noChangeArrowheads="1"/>
          </p:cNvSpPr>
          <p:nvPr/>
        </p:nvSpPr>
        <p:spPr bwMode="auto">
          <a:xfrm>
            <a:off x="5025041" y="2523131"/>
            <a:ext cx="2664823" cy="980437"/>
          </a:xfrm>
          <a:prstGeom prst="rect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0" lang="ko-KR" altLang="en-US" sz="1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주동안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제조활동과 </a:t>
            </a:r>
            <a:r>
              <a:rPr lang="ko-KR" altLang="en-US" sz="1400" b="1" dirty="0" smtClean="0">
                <a:solidFill>
                  <a:srgbClr val="000000"/>
                </a:solidFill>
                <a:latin typeface="+mn-ea"/>
              </a:rPr>
              <a:t>관련된 매입채무</a:t>
            </a:r>
            <a:endParaRPr kumimoji="0" lang="ko-KR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4/13×$1,690,000</a:t>
            </a:r>
            <a:r>
              <a:rPr kumimoji="0" lang="ko-KR" altLang="en-US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＝ </a:t>
            </a:r>
            <a:r>
              <a:rPr kumimoji="0" lang="en-US" altLang="ko-KR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$520,000</a:t>
            </a:r>
            <a:endParaRPr kumimoji="0" lang="en-US" altLang="ko-KR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3" name="꺾인 연결선 12"/>
          <p:cNvCxnSpPr>
            <a:endCxn id="10" idx="0"/>
          </p:cNvCxnSpPr>
          <p:nvPr/>
        </p:nvCxnSpPr>
        <p:spPr>
          <a:xfrm rot="10800000" flipV="1">
            <a:off x="6357453" y="2107473"/>
            <a:ext cx="1419106" cy="41565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6314104" y="377952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0" idx="2"/>
          </p:cNvCxnSpPr>
          <p:nvPr/>
        </p:nvCxnSpPr>
        <p:spPr>
          <a:xfrm flipH="1">
            <a:off x="6357452" y="3503568"/>
            <a:ext cx="1" cy="197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6357452" y="3762103"/>
            <a:ext cx="13324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1014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29962" y="665361"/>
            <a:ext cx="554359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1E05D9"/>
                </a:solidFill>
                <a:latin typeface="+mj-ea"/>
              </a:rPr>
              <a:t>매출채권회전율 </a:t>
            </a:r>
            <a:endParaRPr lang="en-US" altLang="ko-KR" b="1" dirty="0" smtClean="0">
              <a:solidFill>
                <a:srgbClr val="1E05D9"/>
              </a:solidFill>
              <a:latin typeface="+mj-ea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매출액 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매출채권잔액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=10,400,000 / 1,000,000 = 10.4</a:t>
            </a:r>
          </a:p>
          <a:p>
            <a:pPr marL="182250" lvl="0" indent="0" latinLnBrk="0">
              <a:lnSpc>
                <a:spcPct val="150000"/>
              </a:lnSpc>
            </a:pPr>
            <a:endParaRPr lang="en-US" altLang="ko-KR" sz="800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매출채권회전기간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 </a:t>
            </a:r>
            <a:endParaRPr lang="en-US" altLang="ko-KR" b="1" dirty="0">
              <a:solidFill>
                <a:srgbClr val="3333CC"/>
              </a:solidFill>
              <a:latin typeface="+mn-ea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365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(52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매출채권회전율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(10.4)</a:t>
            </a: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= 35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(5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endParaRPr lang="en-US" altLang="ko-KR" sz="800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tabLst/>
            </a:pPr>
            <a:r>
              <a:rPr lang="ko-KR" altLang="en-US" b="1" dirty="0" smtClean="0">
                <a:solidFill>
                  <a:srgbClr val="3333CC"/>
                </a:solidFill>
                <a:latin typeface="+mj-ea"/>
                <a:ea typeface="+mj-ea"/>
              </a:rPr>
              <a:t>재고자산회전율</a:t>
            </a:r>
            <a:endParaRPr lang="en-US" altLang="ko-KR" dirty="0">
              <a:solidFill>
                <a:srgbClr val="3333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매출원가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재고자산잔액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= 6,760,000 / 1,690,000 = 4.0</a:t>
            </a:r>
          </a:p>
          <a:p>
            <a:pPr marL="182250" lvl="0" indent="0" latinLnBrk="0">
              <a:lnSpc>
                <a:spcPct val="150000"/>
              </a:lnSpc>
            </a:pPr>
            <a:endParaRPr lang="en-US" altLang="ko-KR" sz="800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3600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재고자산회전기간</a:t>
            </a:r>
            <a:endParaRPr lang="en-US" altLang="ko-KR" b="1" dirty="0" smtClean="0">
              <a:solidFill>
                <a:srgbClr val="3333CC"/>
              </a:solidFill>
              <a:latin typeface="+mn-ea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365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(52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 /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재고자산회전율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(4.0)</a:t>
            </a: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= 91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일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(13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주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endParaRPr lang="en-US" altLang="ko-KR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444478" y="665361"/>
            <a:ext cx="520117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1E05D9"/>
                </a:solidFill>
                <a:latin typeface="+mj-ea"/>
              </a:rPr>
              <a:t>매입채무회전율 </a:t>
            </a:r>
            <a:endParaRPr lang="en-US" altLang="ko-KR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매입액 </a:t>
            </a:r>
            <a:r>
              <a:rPr lang="en-US" altLang="ko-KR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</a:t>
            </a:r>
            <a:r>
              <a:rPr lang="ko-KR" altLang="en-US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기말재고 </a:t>
            </a:r>
            <a:r>
              <a:rPr lang="en-US" altLang="ko-KR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– </a:t>
            </a:r>
            <a:r>
              <a:rPr lang="ko-KR" altLang="en-US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기초재고 </a:t>
            </a:r>
            <a:r>
              <a:rPr lang="en-US" altLang="ko-KR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+ </a:t>
            </a:r>
            <a:r>
              <a:rPr lang="ko-KR" altLang="en-US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endParaRPr lang="en-US" altLang="ko-KR" sz="1600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     = 1,690,000-1,250,000+6,760,000</a:t>
            </a: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          = 7,200,000</a:t>
            </a: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sz="1600" dirty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 </a:t>
            </a:r>
            <a:r>
              <a:rPr lang="en-US" altLang="ko-KR" sz="16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  </a:t>
            </a:r>
            <a:r>
              <a:rPr lang="en-US" altLang="ko-KR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* </a:t>
            </a:r>
            <a:r>
              <a:rPr lang="ko-KR" altLang="en-US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기초재고 </a:t>
            </a:r>
            <a:r>
              <a:rPr lang="en-US" altLang="ko-KR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+ </a:t>
            </a:r>
            <a:r>
              <a:rPr lang="ko-KR" altLang="en-US" sz="1400" dirty="0" err="1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당기매입</a:t>
            </a:r>
            <a:r>
              <a:rPr lang="ko-KR" altLang="en-US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–</a:t>
            </a:r>
            <a:r>
              <a:rPr lang="ko-KR" altLang="en-US" sz="1400" dirty="0" err="1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당기판매</a:t>
            </a:r>
            <a:r>
              <a:rPr lang="en-US" altLang="ko-KR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(</a:t>
            </a:r>
            <a:r>
              <a:rPr lang="ko-KR" altLang="en-US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매출원가</a:t>
            </a:r>
            <a:r>
              <a:rPr lang="en-US" altLang="ko-KR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)=</a:t>
            </a:r>
            <a:r>
              <a:rPr lang="ko-KR" altLang="en-US" sz="1400" dirty="0" smtClean="0">
                <a:solidFill>
                  <a:srgbClr val="000000"/>
                </a:solidFill>
                <a:latin typeface="HY궁서" panose="02030600000101010101" pitchFamily="18" charset="-127"/>
                <a:ea typeface="HY궁서" panose="02030600000101010101" pitchFamily="18" charset="-127"/>
              </a:rPr>
              <a:t>기말재고</a:t>
            </a:r>
            <a:endParaRPr lang="en-US" altLang="ko-KR" sz="1400" dirty="0" smtClean="0">
              <a:solidFill>
                <a:srgbClr val="000000"/>
              </a:solidFill>
              <a:latin typeface="HY궁서" panose="02030600000101010101" pitchFamily="18" charset="-127"/>
              <a:ea typeface="HY궁서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매입액 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매입채무잔액 </a:t>
            </a:r>
            <a:endParaRPr lang="en-US" altLang="ko-KR" dirty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= 7,200,000 / 520,000 = 13.8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회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endParaRPr lang="en-US" altLang="ko-KR" sz="800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매입채무회전기간 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365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 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/ 13.8</a:t>
            </a:r>
            <a:r>
              <a:rPr lang="ko-KR" altLang="en-US" dirty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= 26.4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일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74163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15291" y="1284003"/>
            <a:ext cx="9161417" cy="7694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txBody>
          <a:bodyPr wrap="square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08. </a:t>
            </a:r>
            <a:r>
              <a:rPr lang="ko-KR" altLang="en-US" sz="4400" dirty="0" smtClean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Y수평선B" panose="02030600000101010101" pitchFamily="18" charset="-127"/>
                <a:ea typeface="HY수평선B" panose="02030600000101010101" pitchFamily="18" charset="-127"/>
              </a:rPr>
              <a:t>영업비용과 선급비용의 연관성</a:t>
            </a:r>
            <a:endParaRPr lang="ko-KR" altLang="en-US" sz="4400" dirty="0">
              <a:ln w="0"/>
              <a:solidFill>
                <a:srgbClr val="C0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HY수평선B" panose="02030600000101010101" pitchFamily="18" charset="-127"/>
              <a:ea typeface="HY수평선B" panose="02030600000101010101" pitchFamily="18" charset="-127"/>
            </a:endParaRPr>
          </a:p>
        </p:txBody>
      </p:sp>
      <p:sp>
        <p:nvSpPr>
          <p:cNvPr id="3" name="_x187492992"/>
          <p:cNvSpPr>
            <a:spLocks noChangeArrowheads="1"/>
          </p:cNvSpPr>
          <p:nvPr/>
        </p:nvSpPr>
        <p:spPr bwMode="auto">
          <a:xfrm>
            <a:off x="1754657" y="3039291"/>
            <a:ext cx="8613013" cy="20987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C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1. </a:t>
            </a:r>
            <a:r>
              <a:rPr lang="ko-KR" altLang="en-US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영업비용은 비용으로 기록하기 전에 지급될 수 있을까</a:t>
            </a:r>
            <a:r>
              <a:rPr lang="en-US" altLang="ko-KR" sz="2400" b="1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?</a:t>
            </a:r>
          </a:p>
          <a:p>
            <a:pPr marR="0" lvl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754063" algn="l"/>
              </a:tabLst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 2. </a:t>
            </a:r>
            <a:r>
              <a:rPr kumimoji="0" lang="ko-KR" altLang="en-US" sz="2400" b="1" i="0" u="none" strike="noStrike" cap="none" normalizeH="0" baseline="0" dirty="0" err="1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이연항목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 회계처리의 도해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선급비용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effectLst/>
                <a:latin typeface="HY신명조" panose="02030600000101010101" pitchFamily="18" charset="-127"/>
                <a:ea typeface="HY신명조" panose="02030600000101010101" pitchFamily="18" charset="-127"/>
              </a:rPr>
              <a:t>선수수익</a:t>
            </a:r>
            <a:endParaRPr kumimoji="0" lang="en-US" altLang="ko-KR" sz="2400" b="1" i="0" u="none" strike="noStrike" cap="none" normalizeH="0" baseline="0" dirty="0" smtClean="0">
              <a:ln>
                <a:noFill/>
              </a:ln>
              <a:effectLst/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1794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63143" y="940078"/>
            <a:ext cx="5543594" cy="53553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  <a:latin typeface="+mj-ea"/>
              </a:rPr>
              <a:t>원가와 비용의 차이 </a:t>
            </a:r>
            <a:endParaRPr lang="en-US" altLang="ko-KR" sz="2000" b="1" dirty="0" smtClean="0">
              <a:solidFill>
                <a:srgbClr val="C00000"/>
              </a:solidFill>
              <a:latin typeface="+mj-ea"/>
            </a:endParaRPr>
          </a:p>
          <a:p>
            <a:pPr marL="74250" lvl="0" indent="0" latinLnBrk="0">
              <a:lnSpc>
                <a:spcPct val="150000"/>
              </a:lnSpc>
            </a:pPr>
            <a:endParaRPr lang="en-US" altLang="ko-KR" sz="1000" b="1" dirty="0">
              <a:solidFill>
                <a:srgbClr val="C00000"/>
              </a:solidFill>
              <a:latin typeface="+mj-ea"/>
            </a:endParaRPr>
          </a:p>
          <a:p>
            <a:pPr marL="360000" lvl="0" indent="-285750" latin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 smtClean="0">
                <a:solidFill>
                  <a:srgbClr val="1E05D9"/>
                </a:solidFill>
                <a:latin typeface="+mj-ea"/>
              </a:rPr>
              <a:t>원가</a:t>
            </a:r>
            <a:r>
              <a:rPr lang="en-US" altLang="ko-KR" b="1" dirty="0" smtClean="0">
                <a:solidFill>
                  <a:srgbClr val="1E05D9"/>
                </a:solidFill>
                <a:latin typeface="+mj-ea"/>
              </a:rPr>
              <a:t>(cost)</a:t>
            </a: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어떤 기간 동안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매출과 연동되는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비용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 발생 시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로 인식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매출 </a:t>
            </a:r>
            <a:r>
              <a:rPr lang="ko-KR" altLang="en-US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미발생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시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: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재고자산으로 인식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해당 </a:t>
            </a:r>
            <a:r>
              <a:rPr lang="ko-KR" altLang="en-US" dirty="0">
                <a:latin typeface="HY신명조" panose="02030600000101010101" pitchFamily="18" charset="-127"/>
                <a:ea typeface="HY신명조" panose="02030600000101010101" pitchFamily="18" charset="-127"/>
              </a:rPr>
              <a:t>제품의 재료비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err="1">
                <a:latin typeface="HY신명조" panose="02030600000101010101" pitchFamily="18" charset="-127"/>
                <a:ea typeface="HY신명조" panose="02030600000101010101" pitchFamily="18" charset="-127"/>
              </a:rPr>
              <a:t>노무비</a:t>
            </a: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각종 경비의 합</a:t>
            </a:r>
          </a:p>
          <a:p>
            <a:pPr marL="182250" lvl="0" indent="0" latinLnBrk="0">
              <a:lnSpc>
                <a:spcPct val="150000"/>
              </a:lnSpc>
            </a:pPr>
            <a:endParaRPr lang="en-US" altLang="ko-KR" sz="1000" b="1" dirty="0" smtClean="0">
              <a:solidFill>
                <a:srgbClr val="1E05D9"/>
              </a:solidFill>
              <a:latin typeface="+mj-ea"/>
            </a:endParaRPr>
          </a:p>
          <a:p>
            <a:pPr marL="360000" lvl="0" indent="-285750" latin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 smtClean="0">
                <a:solidFill>
                  <a:srgbClr val="1E05D9"/>
                </a:solidFill>
                <a:latin typeface="+mj-ea"/>
              </a:rPr>
              <a:t>비용</a:t>
            </a:r>
            <a:r>
              <a:rPr lang="en-US" altLang="ko-KR" b="1" dirty="0" smtClean="0">
                <a:solidFill>
                  <a:srgbClr val="1E05D9"/>
                </a:solidFill>
                <a:latin typeface="+mj-ea"/>
              </a:rPr>
              <a:t>(expense)</a:t>
            </a:r>
            <a:endParaRPr lang="en-US" altLang="ko-KR" b="1" dirty="0">
              <a:solidFill>
                <a:srgbClr val="3333CC"/>
              </a:solidFill>
              <a:latin typeface="+mn-ea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수익을 얻기 위해 소비</a:t>
            </a:r>
            <a:r>
              <a:rPr lang="en-US" altLang="ko-KR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(</a:t>
            </a:r>
            <a:r>
              <a:rPr lang="ko-KR" altLang="en-US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지출</a:t>
            </a:r>
            <a:r>
              <a:rPr lang="en-US" altLang="ko-KR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)</a:t>
            </a:r>
            <a:r>
              <a:rPr lang="ko-KR" altLang="en-US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된 영업상의 원가</a:t>
            </a:r>
            <a:endParaRPr lang="en-US" altLang="ko-KR" dirty="0" smtClean="0">
              <a:solidFill>
                <a:srgbClr val="3333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ko-KR" altLang="en-US" dirty="0" smtClean="0">
                <a:solidFill>
                  <a:srgbClr val="3333CC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또는 소비액</a:t>
            </a:r>
            <a:endParaRPr lang="en-US" altLang="ko-KR" dirty="0">
              <a:solidFill>
                <a:srgbClr val="3333CC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468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FF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매출원가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err="1" smtClean="0">
                <a:latin typeface="HY신명조" panose="02030600000101010101" pitchFamily="18" charset="-127"/>
                <a:ea typeface="HY신명조" panose="02030600000101010101" pitchFamily="18" charset="-127"/>
              </a:rPr>
              <a:t>판매비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및 일반관리비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영업외비용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182250" lvl="0" indent="0" latinLnBrk="0">
              <a:lnSpc>
                <a:spcPct val="150000"/>
              </a:lnSpc>
            </a:pPr>
            <a:r>
              <a:rPr lang="en-US" altLang="ko-KR" dirty="0">
                <a:latin typeface="HY신명조" panose="02030600000101010101" pitchFamily="18" charset="-127"/>
                <a:ea typeface="HY신명조" panose="02030600000101010101" pitchFamily="18" charset="-127"/>
              </a:rPr>
              <a:t> 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  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법인세비용 등</a:t>
            </a:r>
            <a:endParaRPr lang="en-US" altLang="ko-KR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96000" y="940078"/>
            <a:ext cx="5560540" cy="53553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15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lvl="0" indent="-285750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>
                <a:solidFill>
                  <a:srgbClr val="C00000"/>
                </a:solidFill>
                <a:latin typeface="+mj-ea"/>
              </a:rPr>
              <a:t> </a:t>
            </a:r>
            <a:r>
              <a:rPr lang="ko-KR" altLang="en-US" sz="2000" b="1" dirty="0" err="1" smtClean="0">
                <a:solidFill>
                  <a:srgbClr val="C00000"/>
                </a:solidFill>
                <a:latin typeface="+mj-ea"/>
              </a:rPr>
              <a:t>이연항목</a:t>
            </a:r>
            <a:r>
              <a:rPr lang="en-US" altLang="ko-KR" sz="2000" b="1" dirty="0" smtClean="0">
                <a:solidFill>
                  <a:srgbClr val="C00000"/>
                </a:solidFill>
                <a:latin typeface="+mj-ea"/>
              </a:rPr>
              <a:t>(deferrals)</a:t>
            </a:r>
          </a:p>
          <a:p>
            <a:pPr lvl="0" indent="0" latinLnBrk="0">
              <a:lnSpc>
                <a:spcPct val="150000"/>
              </a:lnSpc>
            </a:pPr>
            <a:endParaRPr lang="en-US" altLang="ko-KR" sz="1000" b="1" dirty="0" smtClean="0">
              <a:solidFill>
                <a:srgbClr val="C00000"/>
              </a:solidFill>
              <a:latin typeface="+mj-ea"/>
            </a:endParaRPr>
          </a:p>
          <a:p>
            <a:pPr marL="468000" lvl="0" indent="-342900" latin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비용의 이연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</a:t>
            </a: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선급비용 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: prepaid expenses)</a:t>
            </a:r>
          </a:p>
          <a:p>
            <a:pPr marL="612000" lvl="0" indent="-3429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당기에 지급한 비용 중 당기에 인식하는 것이 아니라 차기에 비용으로 인식하는 금액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12000" lvl="0" indent="-3429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보험료</a:t>
            </a:r>
            <a:r>
              <a:rPr lang="en-US" altLang="ko-KR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임차료 등</a:t>
            </a:r>
            <a:endParaRPr lang="en-US" altLang="ko-KR" dirty="0" smtClean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12000" lvl="0" indent="-3429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latin typeface="HY신명조" panose="02030600000101010101" pitchFamily="18" charset="-127"/>
                <a:ea typeface="HY신명조" panose="02030600000101010101" pitchFamily="18" charset="-127"/>
              </a:rPr>
              <a:t>자산계정</a:t>
            </a:r>
            <a:endParaRPr lang="en-US" altLang="ko-KR" dirty="0"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12000" lvl="0" indent="-34290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000" dirty="0" smtClean="0">
              <a:solidFill>
                <a:srgbClr val="C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525150" lvl="0" indent="-342900" latinLnBrk="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수익의 이연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(</a:t>
            </a:r>
            <a:r>
              <a:rPr lang="ko-KR" altLang="en-US" b="1" dirty="0" smtClean="0">
                <a:solidFill>
                  <a:srgbClr val="3333CC"/>
                </a:solidFill>
                <a:latin typeface="+mn-ea"/>
              </a:rPr>
              <a:t>선수수익 </a:t>
            </a:r>
            <a:r>
              <a:rPr lang="en-US" altLang="ko-KR" b="1" dirty="0" smtClean="0">
                <a:solidFill>
                  <a:srgbClr val="3333CC"/>
                </a:solidFill>
                <a:latin typeface="+mn-ea"/>
              </a:rPr>
              <a:t>: unearned revenue)</a:t>
            </a:r>
          </a:p>
          <a:p>
            <a:pPr marL="612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수익계정에 기입된 금액 중 당기 이후에 속하는 금액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12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이자수익</a:t>
            </a:r>
            <a:r>
              <a:rPr lang="en-US" altLang="ko-KR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, </a:t>
            </a: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임대수익 등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  <a:p>
            <a:pPr marL="612000" lvl="0" indent="-285750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 smtClean="0">
                <a:solidFill>
                  <a:srgbClr val="000000"/>
                </a:solidFill>
                <a:latin typeface="HY신명조" panose="02030600000101010101" pitchFamily="18" charset="-127"/>
                <a:ea typeface="HY신명조" panose="02030600000101010101" pitchFamily="18" charset="-127"/>
              </a:rPr>
              <a:t>부채계정</a:t>
            </a:r>
            <a:endParaRPr lang="en-US" altLang="ko-KR" dirty="0" smtClean="0">
              <a:solidFill>
                <a:srgbClr val="000000"/>
              </a:solidFill>
              <a:latin typeface="HY신명조" panose="02030600000101010101" pitchFamily="18" charset="-127"/>
              <a:ea typeface="HY신명조" panose="02030600000101010101" pitchFamily="18" charset="-127"/>
            </a:endParaRPr>
          </a:p>
        </p:txBody>
      </p:sp>
      <p:sp>
        <p:nvSpPr>
          <p:cNvPr id="6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영업비용은 비용으로 기록하기 전에 지급될 수 있을까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93135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469556" y="148904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1.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영업비용은 비용으로 기록하기 전에 지급될 수 있을까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?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/>
          </p:nvPr>
        </p:nvGraphicFramePr>
        <p:xfrm>
          <a:off x="312234" y="796374"/>
          <a:ext cx="4606354" cy="5004780"/>
        </p:xfrm>
        <a:graphic>
          <a:graphicData uri="http://schemas.openxmlformats.org/drawingml/2006/table">
            <a:tbl>
              <a:tblPr/>
              <a:tblGrid>
                <a:gridCol w="3512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66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한 회계기간 동안의 손익계산서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 출 액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sales revenue)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$10,400,000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매출원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가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6,760,000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매출총이익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gross margin)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$3,640,000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영업비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2,080,000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감가상각비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260,000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영업이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operating earnings)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$1,300,000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이자비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103,000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5857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법인세차감전이익</a:t>
                      </a:r>
                      <a:r>
                        <a:rPr lang="en-US" altLang="ko-KR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1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before income tax)</a:t>
                      </a:r>
                      <a:endParaRPr lang="en-US" sz="11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$1,197,000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478,800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당기순이익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net income)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한양중고딕"/>
                        </a:rPr>
                        <a:t>$718,200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7669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주당순이익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earnings per share)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$3.59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6414" marR="16414" marT="16414" marB="164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7838982" y="796374"/>
          <a:ext cx="3817557" cy="5559983"/>
        </p:xfrm>
        <a:graphic>
          <a:graphicData uri="http://schemas.openxmlformats.org/drawingml/2006/table">
            <a:tbl>
              <a:tblPr/>
              <a:tblGrid>
                <a:gridCol w="248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8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79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회계기간말의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 </a:t>
                      </a: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재무상태표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자 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254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현 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$565,807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매출채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chemeClr val="tx1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</a:t>
                      </a:r>
                      <a:r>
                        <a:rPr lang="ko-KR" altLang="en-US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chemeClr val="tx1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1,690,000</a:t>
                      </a:r>
                      <a:endParaRPr lang="en-US" sz="1400" b="1" kern="0" spc="-3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선급비</a:t>
                      </a:r>
                      <a:r>
                        <a:rPr lang="ko-KR" alt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용</a:t>
                      </a:r>
                      <a:endParaRPr lang="ko-KR" altLang="en-US" sz="1400" b="1" kern="0" spc="-30" dirty="0">
                        <a:solidFill>
                          <a:srgbClr val="C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C00000"/>
                          </a:solidFill>
                          <a:effectLst/>
                          <a:latin typeface="신명 신명조"/>
                        </a:rPr>
                        <a:t>160,000</a:t>
                      </a:r>
                      <a:endParaRPr lang="en-US" sz="1400" b="1" kern="0" spc="-3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28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유형자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산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3,000,000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 err="1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감가상각누계액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－기계장치 등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(800,000)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자산총계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부채와 자본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  <a:ea typeface="신명 신명조"/>
                        </a:rPr>
                        <a:t>재고자산</a:t>
                      </a:r>
                      <a:endParaRPr lang="ko-KR" altLang="en-US" sz="1400" b="1" kern="0" spc="-30" dirty="0">
                        <a:solidFill>
                          <a:schemeClr val="tx1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chemeClr val="tx1"/>
                          </a:solidFill>
                          <a:effectLst/>
                          <a:latin typeface="신명 신명조"/>
                        </a:rPr>
                        <a:t>$520,000</a:t>
                      </a:r>
                      <a:endParaRPr lang="en-US" sz="1400" b="1" kern="0" spc="-3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매입채무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_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120,000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미지급영업비용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240,000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미지급이자비용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17,167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미지급법인세비용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23,940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단기지급어음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625,000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장기지급어음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750,000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자본금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(200,000</a:t>
                      </a: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주</a:t>
                      </a:r>
                      <a:r>
                        <a:rPr lang="en-US" altLang="ko-KR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)</a:t>
                      </a: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775,000</a:t>
                      </a:r>
                      <a:endParaRPr lang="en-US" sz="14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이익잉여금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2,544,700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73852">
                <a:tc>
                  <a:txBody>
                    <a:bodyPr/>
                    <a:lstStyle/>
                    <a:p>
                      <a:pPr marL="2540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  <a:ea typeface="신명 신명조"/>
                        </a:rPr>
                        <a:t>부채와 자본총계</a:t>
                      </a:r>
                      <a:endParaRPr lang="ko-KR" altLang="en-US" sz="1400" b="1" kern="0" spc="-30" dirty="0">
                        <a:solidFill>
                          <a:srgbClr val="000000"/>
                        </a:solidFill>
                        <a:effectLst/>
                        <a:latin typeface="신명 신명조"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38100" indent="0" algn="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$5,615,807</a:t>
                      </a:r>
                      <a:endParaRPr lang="en-US" sz="14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3792" marR="13792" marT="13792" marB="13792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_x182089472"/>
          <p:cNvSpPr>
            <a:spLocks noChangeArrowheads="1"/>
          </p:cNvSpPr>
          <p:nvPr/>
        </p:nvSpPr>
        <p:spPr bwMode="auto">
          <a:xfrm>
            <a:off x="5338353" y="2105121"/>
            <a:ext cx="2116183" cy="1221554"/>
          </a:xfrm>
          <a:prstGeom prst="rect">
            <a:avLst/>
          </a:prstGeom>
          <a:solidFill>
            <a:srgbClr val="FFC000"/>
          </a:solidFill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3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0" lang="ko-KR" altLang="en-US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주 동안 영업비용 중 선급비용</a:t>
            </a:r>
            <a:endParaRPr kumimoji="0" lang="ko-KR" altLang="en-US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4/52×$2,080,000</a:t>
            </a:r>
            <a:r>
              <a:rPr kumimoji="0" lang="ko-KR" altLang="en-US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＝ </a:t>
            </a:r>
            <a:r>
              <a:rPr kumimoji="0" lang="en-US" altLang="ko-KR" sz="13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$160,000</a:t>
            </a:r>
            <a:endParaRPr kumimoji="0" lang="en-US" altLang="ko-KR" sz="1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6314104" y="377952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/>
          <p:nvPr/>
        </p:nvCxnSpPr>
        <p:spPr>
          <a:xfrm flipV="1">
            <a:off x="4918588" y="2570935"/>
            <a:ext cx="384446" cy="227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9" idx="3"/>
          </p:cNvCxnSpPr>
          <p:nvPr/>
        </p:nvCxnSpPr>
        <p:spPr>
          <a:xfrm flipV="1">
            <a:off x="7454536" y="2415452"/>
            <a:ext cx="384447" cy="3004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1958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_x187492992"/>
          <p:cNvSpPr>
            <a:spLocks noChangeArrowheads="1"/>
          </p:cNvSpPr>
          <p:nvPr/>
        </p:nvSpPr>
        <p:spPr bwMode="auto">
          <a:xfrm>
            <a:off x="502508" y="318801"/>
            <a:ext cx="11186984" cy="501883"/>
          </a:xfrm>
          <a:prstGeom prst="rect">
            <a:avLst/>
          </a:prstGeom>
          <a:solidFill>
            <a:srgbClr val="333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540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1270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54063" algn="l"/>
              </a:tabLst>
            </a:pPr>
            <a:r>
              <a:rPr lang="en-US" altLang="ko-KR" sz="2400" b="1" dirty="0">
                <a:solidFill>
                  <a:srgbClr val="FFFFFF"/>
                </a:solidFill>
                <a:latin typeface="+mn-ea"/>
              </a:rPr>
              <a:t>2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. </a:t>
            </a:r>
            <a:r>
              <a:rPr lang="ko-KR" altLang="en-US" sz="2400" b="1" dirty="0" err="1" smtClean="0">
                <a:solidFill>
                  <a:srgbClr val="FFFFFF"/>
                </a:solidFill>
                <a:latin typeface="+mn-ea"/>
              </a:rPr>
              <a:t>이연항목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 회계처리의 도해 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: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선급비용</a:t>
            </a:r>
            <a:r>
              <a:rPr lang="en-US" altLang="ko-KR" sz="2400" b="1" dirty="0" smtClean="0">
                <a:solidFill>
                  <a:srgbClr val="FFFFFF"/>
                </a:solidFill>
                <a:latin typeface="+mn-ea"/>
              </a:rPr>
              <a:t>, </a:t>
            </a:r>
            <a:r>
              <a:rPr lang="ko-KR" altLang="en-US" sz="2400" b="1" dirty="0" smtClean="0">
                <a:solidFill>
                  <a:srgbClr val="FFFFFF"/>
                </a:solidFill>
                <a:latin typeface="+mn-ea"/>
              </a:rPr>
              <a:t>선수수익</a:t>
            </a:r>
            <a:endParaRPr kumimoji="0" lang="ko-KR" altLang="ko-KR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1031" name="_x185474200" descr="DRW000010b44e8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75" y="2209542"/>
            <a:ext cx="5190307" cy="2115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_x185474440"/>
          <p:cNvSpPr>
            <a:spLocks noChangeArrowheads="1"/>
          </p:cNvSpPr>
          <p:nvPr/>
        </p:nvSpPr>
        <p:spPr bwMode="auto">
          <a:xfrm>
            <a:off x="803703" y="2142794"/>
            <a:ext cx="1530212" cy="400962"/>
          </a:xfrm>
          <a:prstGeom prst="rect">
            <a:avLst/>
          </a:prstGeom>
          <a:solidFill>
            <a:srgbClr val="CCE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현금흐름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(P</a:t>
            </a:r>
            <a:r>
              <a:rPr kumimoji="0" lang="ko-KR" altLang="en-US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형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)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_x185475640"/>
          <p:cNvSpPr>
            <a:spLocks noChangeArrowheads="1"/>
          </p:cNvSpPr>
          <p:nvPr/>
        </p:nvSpPr>
        <p:spPr bwMode="auto">
          <a:xfrm>
            <a:off x="2327047" y="2137896"/>
            <a:ext cx="1500369" cy="41965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수익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(rev</a:t>
            </a:r>
            <a:r>
              <a:rPr lang="en-US" altLang="ko-KR" sz="1600" b="1" dirty="0" smtClean="0">
                <a:solidFill>
                  <a:srgbClr val="000000"/>
                </a:solidFill>
                <a:latin typeface="Arial" panose="020B0604020202020204" pitchFamily="34" charset="0"/>
                <a:ea typeface="한양중고딕"/>
              </a:rPr>
              <a:t>enue</a:t>
            </a:r>
            <a:r>
              <a:rPr kumimoji="0" lang="en-US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한양중고딕"/>
              </a:rPr>
              <a:t>)</a:t>
            </a:r>
            <a:endParaRPr kumimoji="0" lang="en-US" altLang="ko-KR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/>
          </p:nvPr>
        </p:nvGraphicFramePr>
        <p:xfrm>
          <a:off x="6096000" y="1258875"/>
          <a:ext cx="5593490" cy="3106486"/>
        </p:xfrm>
        <a:graphic>
          <a:graphicData uri="http://schemas.openxmlformats.org/drawingml/2006/table">
            <a:tbl>
              <a:tblPr/>
              <a:tblGrid>
                <a:gridCol w="605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45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39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구 분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형 태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① 시점에서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한양중고딕"/>
                        </a:rPr>
                        <a:t>② 시점에서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25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수 </a:t>
                      </a:r>
                      <a:r>
                        <a:rPr lang="ko-KR" altLang="en-US" sz="1600" b="1" kern="0" spc="-30" dirty="0" err="1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익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선수형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pre-received)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부채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 smtClean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선수수익</a:t>
                      </a:r>
                      <a:r>
                        <a:rPr lang="en-US" altLang="ko-KR" sz="1600" b="1" kern="0" spc="-30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➡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이미 벌어놓은 것을 수익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(revenue)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으로 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인식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45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비 용</a:t>
                      </a:r>
                      <a:endParaRPr lang="ko-KR" altLang="en-US" sz="1600" b="1" kern="0" spc="-3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err="1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선급형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 smtClean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</a:t>
                      </a:r>
                      <a:r>
                        <a:rPr lang="en-US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pre-paid)</a:t>
                      </a:r>
                      <a:endParaRPr 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자산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b="1" kern="0" spc="-30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선급비용</a:t>
                      </a:r>
                      <a:r>
                        <a:rPr lang="en-US" altLang="ko-KR" sz="1600" b="1" kern="0" spc="-30" dirty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kern="0" spc="-30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➡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소진된 것을 비용</a:t>
                      </a:r>
                      <a:r>
                        <a:rPr lang="en-US" altLang="ko-KR" sz="1600" b="1" kern="0" spc="-30" dirty="0">
                          <a:solidFill>
                            <a:srgbClr val="000000"/>
                          </a:solidFill>
                          <a:effectLst/>
                          <a:latin typeface="신명 신명조"/>
                        </a:rPr>
                        <a:t>(expense)</a:t>
                      </a:r>
                      <a:r>
                        <a:rPr lang="ko-KR" altLang="en-US" sz="1600" b="1" kern="0" spc="-30" dirty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으로 </a:t>
                      </a:r>
                      <a:endParaRPr lang="en-US" altLang="ko-KR" sz="1600" b="1" kern="0" spc="-30" dirty="0" smtClean="0">
                        <a:solidFill>
                          <a:srgbClr val="000000"/>
                        </a:solidFill>
                        <a:effectLst/>
                        <a:ea typeface="신명 신명조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kern="0" spc="-30" dirty="0" smtClean="0">
                          <a:solidFill>
                            <a:srgbClr val="000000"/>
                          </a:solidFill>
                          <a:effectLst/>
                          <a:ea typeface="신명 신명조"/>
                        </a:rPr>
                        <a:t>인식</a:t>
                      </a:r>
                      <a:endParaRPr lang="ko-KR" altLang="en-US" sz="1600" b="1" kern="0" spc="-3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_x185475640"/>
          <p:cNvSpPr>
            <a:spLocks noChangeArrowheads="1"/>
          </p:cNvSpPr>
          <p:nvPr/>
        </p:nvSpPr>
        <p:spPr bwMode="auto">
          <a:xfrm>
            <a:off x="2327046" y="4365361"/>
            <a:ext cx="1500369" cy="3846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비용</a:t>
            </a:r>
            <a:r>
              <a:rPr kumimoji="0" lang="en-US" altLang="ko-KR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(e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xp</a:t>
            </a:r>
            <a:r>
              <a:rPr kumimoji="0" lang="en-US" altLang="ko-KR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ense)</a:t>
            </a:r>
          </a:p>
        </p:txBody>
      </p:sp>
      <p:sp>
        <p:nvSpPr>
          <p:cNvPr id="24" name="_x185474440"/>
          <p:cNvSpPr>
            <a:spLocks noChangeArrowheads="1"/>
          </p:cNvSpPr>
          <p:nvPr/>
        </p:nvSpPr>
        <p:spPr bwMode="auto">
          <a:xfrm>
            <a:off x="1715589" y="3155386"/>
            <a:ext cx="707254" cy="31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선수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F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_x185474440"/>
          <p:cNvSpPr>
            <a:spLocks noChangeArrowheads="1"/>
          </p:cNvSpPr>
          <p:nvPr/>
        </p:nvSpPr>
        <p:spPr bwMode="auto">
          <a:xfrm>
            <a:off x="1695677" y="3602965"/>
            <a:ext cx="707254" cy="319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선급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_x185474440"/>
          <p:cNvSpPr>
            <a:spLocks noChangeArrowheads="1"/>
          </p:cNvSpPr>
          <p:nvPr/>
        </p:nvSpPr>
        <p:spPr bwMode="auto">
          <a:xfrm>
            <a:off x="2133600" y="5188177"/>
            <a:ext cx="1828800" cy="4691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ko-KR" altLang="en-US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손익인식시기</a:t>
            </a:r>
            <a:r>
              <a:rPr lang="en-US" altLang="ko-KR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kumimoji="0" lang="en-US" altLang="ko-KR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_x185474440"/>
          <p:cNvSpPr>
            <a:spLocks noChangeArrowheads="1"/>
          </p:cNvSpPr>
          <p:nvPr/>
        </p:nvSpPr>
        <p:spPr bwMode="auto">
          <a:xfrm>
            <a:off x="6096000" y="4557673"/>
            <a:ext cx="5593490" cy="17037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선수수익</a:t>
            </a:r>
            <a:r>
              <a:rPr lang="en-US" altLang="ko-KR" sz="1600" b="1" dirty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  <a:endParaRPr lang="en-US" altLang="ko-KR" sz="1600" b="1" dirty="0" smtClean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 * 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수익발생시점</a:t>
            </a:r>
            <a:r>
              <a:rPr lang="en-US" altLang="ko-KR" sz="1600" dirty="0">
                <a:solidFill>
                  <a:srgbClr val="C00000"/>
                </a:solidFill>
              </a:rPr>
              <a:t>(②</a:t>
            </a:r>
            <a:r>
              <a:rPr lang="en-US" altLang="ko-KR" sz="1600" dirty="0" smtClean="0">
                <a:solidFill>
                  <a:srgbClr val="C00000"/>
                </a:solidFill>
              </a:rPr>
              <a:t>)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보다 현금이 먼저 유입</a:t>
            </a:r>
            <a:r>
              <a:rPr lang="en-US" altLang="ko-KR" sz="1600" dirty="0">
                <a:solidFill>
                  <a:srgbClr val="C00000"/>
                </a:solidFill>
              </a:rPr>
              <a:t>(P</a:t>
            </a:r>
            <a:r>
              <a:rPr lang="ko-KR" altLang="en-US" sz="1600" dirty="0">
                <a:solidFill>
                  <a:srgbClr val="C00000"/>
                </a:solidFill>
              </a:rPr>
              <a:t>형</a:t>
            </a:r>
            <a:r>
              <a:rPr lang="en-US" altLang="ko-KR" sz="1600" dirty="0" smtClean="0">
                <a:solidFill>
                  <a:srgbClr val="C00000"/>
                </a:solidFill>
              </a:rPr>
              <a:t>)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된 경우 발생</a:t>
            </a:r>
            <a:endParaRPr lang="en-US" altLang="ko-KR" sz="1600" b="1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(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선급비용</a:t>
            </a:r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)</a:t>
            </a:r>
          </a:p>
          <a:p>
            <a:pPr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 * 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비용발생시점</a:t>
            </a:r>
            <a:r>
              <a:rPr lang="en-US" altLang="ko-KR" sz="1600" dirty="0">
                <a:solidFill>
                  <a:srgbClr val="C00000"/>
                </a:solidFill>
              </a:rPr>
              <a:t>(</a:t>
            </a:r>
            <a:r>
              <a:rPr lang="en-US" altLang="ko-KR" sz="1600" smtClean="0">
                <a:solidFill>
                  <a:srgbClr val="C00000"/>
                </a:solidFill>
              </a:rPr>
              <a:t>②)</a:t>
            </a:r>
            <a:r>
              <a:rPr lang="ko-KR" altLang="en-US" sz="1600" b="1" smtClean="0">
                <a:solidFill>
                  <a:srgbClr val="C00000"/>
                </a:solidFill>
                <a:latin typeface="Arial" panose="020B0604020202020204" pitchFamily="34" charset="0"/>
              </a:rPr>
              <a:t>보다 </a:t>
            </a:r>
            <a:r>
              <a:rPr lang="ko-KR" alt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현금이 먼저 </a:t>
            </a:r>
            <a:r>
              <a:rPr lang="ko-KR" altLang="en-US" sz="1600" b="1" dirty="0" smtClean="0">
                <a:solidFill>
                  <a:srgbClr val="C00000"/>
                </a:solidFill>
                <a:latin typeface="Arial" panose="020B0604020202020204" pitchFamily="34" charset="0"/>
              </a:rPr>
              <a:t>지출</a:t>
            </a:r>
            <a:r>
              <a:rPr lang="en-US" altLang="ko-KR" sz="1600" dirty="0" smtClean="0">
                <a:solidFill>
                  <a:srgbClr val="C00000"/>
                </a:solidFill>
              </a:rPr>
              <a:t>(</a:t>
            </a:r>
            <a:r>
              <a:rPr lang="en-US" altLang="ko-KR" sz="1600" dirty="0">
                <a:solidFill>
                  <a:srgbClr val="C00000"/>
                </a:solidFill>
              </a:rPr>
              <a:t>P</a:t>
            </a:r>
            <a:r>
              <a:rPr lang="ko-KR" altLang="en-US" sz="1600" dirty="0">
                <a:solidFill>
                  <a:srgbClr val="C00000"/>
                </a:solidFill>
              </a:rPr>
              <a:t>형</a:t>
            </a:r>
            <a:r>
              <a:rPr lang="en-US" altLang="ko-KR" sz="1600" dirty="0">
                <a:solidFill>
                  <a:srgbClr val="C00000"/>
                </a:solidFill>
              </a:rPr>
              <a:t>)</a:t>
            </a:r>
            <a:r>
              <a:rPr lang="ko-KR" altLang="en-US" sz="1600" b="1" dirty="0">
                <a:solidFill>
                  <a:srgbClr val="C00000"/>
                </a:solidFill>
                <a:latin typeface="Arial" panose="020B0604020202020204" pitchFamily="34" charset="0"/>
              </a:rPr>
              <a:t>된 경우 발생</a:t>
            </a:r>
            <a:endParaRPr lang="en-US" altLang="ko-KR" sz="1600" b="1" dirty="0" smtClean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027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2078</Words>
  <Application>Microsoft Office PowerPoint</Application>
  <PresentationFormat>와이드스크린</PresentationFormat>
  <Paragraphs>639</Paragraphs>
  <Slides>19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HY궁서</vt:lpstr>
      <vt:lpstr>HY수평선B</vt:lpstr>
      <vt:lpstr>HY신명조</vt:lpstr>
      <vt:lpstr>맑은 고딕</vt:lpstr>
      <vt:lpstr>신명 신명조</vt:lpstr>
      <vt:lpstr>한양중고딕</vt:lpstr>
      <vt:lpstr>휴먼고딕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han</dc:creator>
  <cp:lastModifiedBy>cbnu</cp:lastModifiedBy>
  <cp:revision>64</cp:revision>
  <cp:lastPrinted>2017-03-23T12:33:32Z</cp:lastPrinted>
  <dcterms:created xsi:type="dcterms:W3CDTF">2017-03-19T10:24:43Z</dcterms:created>
  <dcterms:modified xsi:type="dcterms:W3CDTF">2019-10-28T02:49:36Z</dcterms:modified>
</cp:coreProperties>
</file>