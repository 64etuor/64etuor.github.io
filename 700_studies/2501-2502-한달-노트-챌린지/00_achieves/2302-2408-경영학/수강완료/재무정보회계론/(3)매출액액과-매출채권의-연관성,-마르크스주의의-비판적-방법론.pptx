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1" r:id="rId3"/>
    <p:sldId id="282" r:id="rId4"/>
    <p:sldId id="315" r:id="rId5"/>
    <p:sldId id="316" r:id="rId6"/>
    <p:sldId id="300" r:id="rId7"/>
    <p:sldId id="317" r:id="rId8"/>
    <p:sldId id="301" r:id="rId9"/>
    <p:sldId id="318" r:id="rId10"/>
    <p:sldId id="319" r:id="rId11"/>
    <p:sldId id="321" r:id="rId12"/>
    <p:sldId id="320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275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 autoAdjust="0"/>
    <p:restoredTop sz="94591" autoAdjust="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effectLst/>
              </a:defRPr>
            </a:lvl1pPr>
            <a:lvl2pPr>
              <a:defRPr b="1">
                <a:effectLst/>
              </a:defRPr>
            </a:lvl2pPr>
            <a:lvl3pPr>
              <a:defRPr b="1">
                <a:effectLst/>
              </a:defRPr>
            </a:lvl3pPr>
            <a:lvl4pPr>
              <a:defRPr b="1">
                <a:effectLst/>
              </a:defRPr>
            </a:lvl4pPr>
            <a:lvl5pPr>
              <a:defRPr b="1">
                <a:effectLst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평행 사변형 8"/>
          <p:cNvSpPr/>
          <p:nvPr userDrawn="1"/>
        </p:nvSpPr>
        <p:spPr>
          <a:xfrm>
            <a:off x="2944392" y="6597352"/>
            <a:ext cx="384422" cy="273174"/>
          </a:xfrm>
          <a:prstGeom prst="parallelogram">
            <a:avLst>
              <a:gd name="adj" fmla="val 7381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-2604" y="6669360"/>
            <a:ext cx="6012160" cy="1931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135967" y="6669360"/>
            <a:ext cx="6012160" cy="18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평행 사변형 9"/>
          <p:cNvSpPr/>
          <p:nvPr userDrawn="1"/>
        </p:nvSpPr>
        <p:spPr>
          <a:xfrm>
            <a:off x="2944392" y="6597352"/>
            <a:ext cx="384422" cy="273174"/>
          </a:xfrm>
          <a:prstGeom prst="parallelogram">
            <a:avLst>
              <a:gd name="adj" fmla="val 7381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233" y="23604"/>
            <a:ext cx="943781" cy="9437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87624" y="2132856"/>
            <a:ext cx="7173641" cy="1470025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HY동녘M" pitchFamily="18" charset="-127"/>
                <a:ea typeface="HY동녘M" pitchFamily="18" charset="-127"/>
              </a:rPr>
              <a:t>마르크스주의의 비판적 방법론</a:t>
            </a:r>
            <a:endParaRPr lang="ko-KR" altLang="en-US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목  차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>
                <a:latin typeface="HY동녘M" pitchFamily="18" charset="-127"/>
                <a:ea typeface="HY동녘M" pitchFamily="18" charset="-127"/>
              </a:rPr>
              <a:t>1. </a:t>
            </a:r>
            <a:r>
              <a:rPr lang="ko-KR" altLang="en-US" dirty="0">
                <a:latin typeface="HY동녘M" pitchFamily="18" charset="-127"/>
                <a:ea typeface="HY동녘M" pitchFamily="18" charset="-127"/>
              </a:rPr>
              <a:t>비판개념의 의의</a:t>
            </a:r>
            <a:endParaRPr lang="en-US" altLang="ko-KR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dirty="0">
                <a:latin typeface="HY동녘M" pitchFamily="18" charset="-127"/>
                <a:ea typeface="HY동녘M" pitchFamily="18" charset="-127"/>
              </a:rPr>
              <a:t>2. </a:t>
            </a:r>
            <a:r>
              <a:rPr lang="ko-KR" altLang="en-US" dirty="0">
                <a:latin typeface="HY동녘M" pitchFamily="18" charset="-127"/>
                <a:ea typeface="HY동녘M" pitchFamily="18" charset="-127"/>
              </a:rPr>
              <a:t>비판개념의 철학적 배경</a:t>
            </a:r>
            <a:endParaRPr lang="en-US" altLang="ko-KR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dirty="0">
                <a:latin typeface="HY동녘M" pitchFamily="18" charset="-127"/>
                <a:ea typeface="HY동녘M" pitchFamily="18" charset="-127"/>
              </a:rPr>
              <a:t>3. </a:t>
            </a:r>
            <a:r>
              <a:rPr lang="ko-KR" altLang="en-US" dirty="0">
                <a:latin typeface="HY동녘M" pitchFamily="18" charset="-127"/>
                <a:ea typeface="HY동녘M" pitchFamily="18" charset="-127"/>
              </a:rPr>
              <a:t>비판개념의 종류</a:t>
            </a:r>
            <a:endParaRPr lang="en-US" altLang="ko-KR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dirty="0">
                <a:latin typeface="HY동녘M" pitchFamily="18" charset="-127"/>
                <a:ea typeface="HY동녘M" pitchFamily="18" charset="-127"/>
              </a:rPr>
              <a:t>비판적 방법론</a:t>
            </a:r>
            <a:endParaRPr lang="en-US" altLang="ko-KR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dirty="0">
                <a:latin typeface="HY동녘M" pitchFamily="18" charset="-127"/>
                <a:ea typeface="HY동녘M" pitchFamily="18" charset="-127"/>
              </a:rPr>
              <a:t>5. </a:t>
            </a:r>
            <a:r>
              <a:rPr lang="ko-KR" altLang="en-US" dirty="0" err="1">
                <a:latin typeface="HY동녘M" pitchFamily="18" charset="-127"/>
                <a:ea typeface="HY동녘M" pitchFamily="18" charset="-127"/>
              </a:rPr>
              <a:t>소결</a:t>
            </a:r>
            <a:endParaRPr lang="en-US" altLang="ko-KR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1.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비판개념의 의의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4824536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비판개념의 의의</a:t>
            </a: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36485" y="2204864"/>
            <a:ext cx="8229600" cy="374441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사전적 정의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옳고 그름을 가리어 판단하거나 지적함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비판적이라는 의미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비우호적인 것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변화가 발생하는 순간의 임계치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조심스러운 평가와 판단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매우 긴급하거나 절대적으로 필요한 것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결정적인 전환점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중요한 것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 위험한 것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 marL="0" indent="0">
              <a:buNone/>
            </a:pPr>
            <a:endParaRPr lang="en-US" altLang="ko-KR" sz="2000" dirty="0">
              <a:ea typeface="HY동녘M" pitchFamily="18" charset="-127"/>
            </a:endParaRPr>
          </a:p>
          <a:p>
            <a:endParaRPr lang="ko-KR" altLang="en-US" sz="24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2.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비판개념의 철학적 배경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583264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비판개념의 철학적 배경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(1/2)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212010"/>
            <a:ext cx="8229600" cy="324036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Kant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비판개념 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인간인식의 능동적 구성능력에 따라 지식의 정당성을 검토하는 순수이성의 특징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Hegel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 비판개념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아주 단순한 의식으로부터 시작하여 완전한 의식에 이르게 되는 유한정신의 현상학적 자기발전의 과정을 노동을 매개로 하여 밝히고 이 과정에서 이론과 실천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객관과 주관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보편성과 특수성의 대립을 변증법적으로 극복할 수 있음으로 봄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ko-KR" altLang="en-US" sz="24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2.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비판개념의 철학적 배경</a:t>
            </a: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276872"/>
            <a:ext cx="8363272" cy="4093915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Marx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비판개념 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허위의식으로서의 이데올로기 비판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Frankfurt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학파의 비판개념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그리스시대의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Herakleitos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이후 독일 철학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특히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Kant / Hegel / Marx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 인식론에 흐르는 비판 정신 계승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포스트모더니즘의 비판개념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 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1)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주체의 탈 중심화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2)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거대이론 혹은 총체론적 언술 거부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3)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이성중심주의 거부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4)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모든 유형의 형이상학적이고 허구적인 이원적 대립 해체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5)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역사에 있어서 진보적 발전을 믿지 않음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51520" y="1403723"/>
            <a:ext cx="583264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비판개념의 철학적 배경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(2/2)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321293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3.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비판개념의 종류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5400600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수사학의 비판 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비판적 사고</a:t>
            </a: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006737"/>
            <a:ext cx="8229600" cy="1737245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주장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논증 등의 텍스트를 그 논리적 구조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의미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논거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맥락 등을 고려함으로써 받아들일 수 있는지 여부를 판단하기 위한 추론적 사고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비판적 사고는 특정한 언명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정보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규범 등에 대한 회의론이나 믿음의 중지를 포함할 정도로 매우 광범위하게 정의될 수 있음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51520" y="4217202"/>
            <a:ext cx="5400600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전통의 비판</a:t>
            </a:r>
          </a:p>
        </p:txBody>
      </p:sp>
      <p:sp>
        <p:nvSpPr>
          <p:cNvPr id="6" name="내용 개체 틀 5"/>
          <p:cNvSpPr txBox="1">
            <a:spLocks/>
          </p:cNvSpPr>
          <p:nvPr/>
        </p:nvSpPr>
        <p:spPr>
          <a:xfrm>
            <a:off x="445360" y="4941168"/>
            <a:ext cx="8229600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전통이나 관습 등을 변화시키고자 함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-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이들을 변화시키는 것은 필연적으로 현상을 변화시키고 권력과 권위의 기존상태를 바꿀 수 있기때문에 매우 어려울 수 있음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3.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비판개념의 종류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5400600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권위의 비판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4329100"/>
            <a:ext cx="5400600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객관성의 비판</a:t>
            </a:r>
          </a:p>
        </p:txBody>
      </p:sp>
      <p:sp>
        <p:nvSpPr>
          <p:cNvPr id="6" name="내용 개체 틀 5"/>
          <p:cNvSpPr txBox="1">
            <a:spLocks/>
          </p:cNvSpPr>
          <p:nvPr/>
        </p:nvSpPr>
        <p:spPr>
          <a:xfrm>
            <a:off x="446343" y="5143202"/>
            <a:ext cx="8229600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이용 가능한 지식과 정보의 타당성을 문제시하는 것이며 그것이 가치중립적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(value-free)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이거나 객관적이지 않다는 것을 인식하는 것</a:t>
            </a:r>
          </a:p>
        </p:txBody>
      </p:sp>
      <p:sp>
        <p:nvSpPr>
          <p:cNvPr id="9" name="내용 개체 틀 5"/>
          <p:cNvSpPr txBox="1">
            <a:spLocks/>
          </p:cNvSpPr>
          <p:nvPr/>
        </p:nvSpPr>
        <p:spPr>
          <a:xfrm>
            <a:off x="446343" y="2132856"/>
            <a:ext cx="8229600" cy="2088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상이하지만 타당한 대다수의 관점과는 반대로 단 하나의 지배적인 견해가 있어야 한다는 것을 문제시 함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동녘M" pitchFamily="18" charset="-127"/>
              <a:ea typeface="HY동녘M" pitchFamily="18" charset="-127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동녘M" pitchFamily="18" charset="-127"/>
              <a:ea typeface="HY동녘M" pitchFamily="18" charset="-127"/>
              <a:cs typeface="+mn-cs"/>
            </a:endParaRPr>
          </a:p>
          <a:p>
            <a:pPr>
              <a:spcBef>
                <a:spcPct val="20000"/>
              </a:spcBef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–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많은 관점이 있다는 점을 인정하고 특권적 지위나 지배적인 견해를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동녘M" pitchFamily="18" charset="-127"/>
              <a:ea typeface="HY동녘M" pitchFamily="18" charset="-127"/>
              <a:cs typeface="+mn-cs"/>
            </a:endParaRPr>
          </a:p>
          <a:p>
            <a:pPr>
              <a:spcBef>
                <a:spcPct val="20000"/>
              </a:spcBef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동녘M" pitchFamily="18" charset="-127"/>
                <a:ea typeface="HY동녘M" pitchFamily="18" charset="-127"/>
                <a:cs typeface="+mn-cs"/>
              </a:rPr>
              <a:t>   문제시하며 다른 사람의 눈을 통해 세상 보는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4824536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회계학의 비판개념</a:t>
            </a: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330130"/>
            <a:ext cx="8229600" cy="4525963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전반적으로 회계학에서 비판개념은 실증적 방법론을 이용하는 주류회계학을 비판한다는 의미에서 비실증주의의 방법론 전체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비판적 방법론과 해석적 방법론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)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에서 이용하는 다양한 비판개념을 가리키기도 하지만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 주로 비판적 방법론에 속하는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Marx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주의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정치경제학과 노동과정이론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),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독일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Frankfurt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학파의 비판이론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프랑스 포스트모더니즘에 속하는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Foucault,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Bourdieu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등의 방법론 등에서 이용하는 비판개념을 가리킴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61926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생성과 배경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(1/2)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216024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Ball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en-US" altLang="ko-KR" sz="2000" dirty="0">
                <a:latin typeface="바탕"/>
                <a:ea typeface="바탕"/>
              </a:rPr>
              <a:t>•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Brown(1968)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경험적 연구의 발표 이후 선험적 회계학 연구로부터 경험적 회계학연구로 변화 등이 발생함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특히 경험적 회계학연구는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1970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년대부터 오늘날까지 주류회계학으로 회계학계를 지배하고 있으며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비판적 방법론을 비롯한 학제적 방법론도 이러한 주류 회계학에 대한 반응으로 등장하기 시작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61926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생성과 배경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(2/2)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176464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회계학에서 비판적 방법론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(Marx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주의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)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를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적용하기 시작한 최초의 나라는 일본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– 1930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년대 부터 시작됨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.</a:t>
            </a: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구미에서는 영국에서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1970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년대 이후에 발전하기 시작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영국에서의 발전 요인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1) Hopwood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Accounting,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Organazation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&amp; Society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창간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(1976)</a:t>
            </a: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2) Burrell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en-US" altLang="ko-KR" sz="2000" dirty="0">
                <a:latin typeface="바탕"/>
                <a:ea typeface="바탕"/>
              </a:rPr>
              <a:t>•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Morgan(1979)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저서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3) 1970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년대 후반 영국의 정치적 상황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–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영국 대처 정부의 민영화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</a:t>
            </a: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  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산업개편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공공부문개혁 등의 실시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이 중에서 회계가 중요한 비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  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중을 차지함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)</a:t>
            </a:r>
            <a:endParaRPr lang="ko-KR" altLang="en-US" sz="20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61926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의의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(1/2)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02433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회계와 관련 현안의 사회적 역할을 비판적으로 검토하는 것이며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전통적인 회계학연구와 주류회계학연구를 넘어서는 것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Nururnnabi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)</a:t>
            </a: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회계가 그 사회적 맥락에서 추출될 수 있는 중립적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기술적 학문이며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회계가 기술적 학문인 것처럼 윤리적 담론으로 인식된다는 사상에 도전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(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Waddock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)</a:t>
            </a: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회계학에서 비판적 방법론을 적용한 것을 비판회계학 이라 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199183"/>
            <a:ext cx="61926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의의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(2/2) 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25963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Laughlin(1999)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비판회계학 정의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회계과정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회계실무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회계전문직 등을 변화시키는데 관여하기 위해 이들의 역할에 관한 이해를 이용할 목적으로 사회와 조직의 기능을 수행하는 데서 회계과정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회계실무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회계전문직의 역할에 관한 비판적 이해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세부내용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1)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비판회계는 항상 맥락적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2)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이해는 결코 그 자신을 위한 것이 아님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3)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비판회계는 거시수준의 사회적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규제적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전문적 수준 뿐 아니라 미시수준의 제도와 조직에서 회계전문직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회계실무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과정의 기능수행과 관련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4)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다른 학문으로부터 지적차용을 필요로 함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268760"/>
            <a:ext cx="61926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특징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(1/2)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165923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전후 맥락을 통해 사회를 보기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갈등과 모순을 통해 보기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사회역사를 통해 보기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피 억압자를 위한 해방적 약속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비판적 관점의 특징</a:t>
            </a:r>
          </a:p>
        </p:txBody>
      </p:sp>
      <p:pic>
        <p:nvPicPr>
          <p:cNvPr id="1026" name="Picture 2" descr="C:\Users\wocs\Desktop\scan\20190926081140_00001.jpg"/>
          <p:cNvPicPr>
            <a:picLocks noChangeAspect="1" noChangeArrowheads="1"/>
          </p:cNvPicPr>
          <p:nvPr/>
        </p:nvPicPr>
        <p:blipFill>
          <a:blip r:embed="rId2" cstate="print"/>
          <a:srcRect t="9708"/>
          <a:stretch>
            <a:fillRect/>
          </a:stretch>
        </p:blipFill>
        <p:spPr bwMode="auto">
          <a:xfrm>
            <a:off x="944811" y="3933056"/>
            <a:ext cx="3843213" cy="26789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196752"/>
            <a:ext cx="61926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특징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(2/2) 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1664279"/>
            <a:ext cx="8229600" cy="4680520"/>
          </a:xfrm>
        </p:spPr>
        <p:txBody>
          <a:bodyPr>
            <a:noAutofit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Chua(1986)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정의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1)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회계는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보다 광범위한 사회적 관계로 부터 분리된 기술적으로 합리적인 용역활동으로 간주되지 않고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특정한 계산적 합리성의 양식을 갖는 담론 으로서의 회계는 상이한 계급간의 거시적 갈등에 의해 구성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2)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비판은 사회적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경제적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정치적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이데올로기적 관계의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총체성 강조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3)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국가를 중요한 구성요소로 회계담당자를 조직화된 이해관계집단으로 강조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4)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총체성의 강조는 미시적 분석수준과 거시적 분석수준을 통합하는 조직연구를 촉진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5)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회계정보가 사회통제와 갈등의 조정장치로 간주되어야 하지만 주류회계사상에 내제된 강력한 이데올로기 사상에 의해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애매하게 된다고 주장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7560840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비판적 방법론의 역할 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주요 학자 별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)(1/4)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3609453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Laughlin(1999)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사회의 차원에서의 역할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1)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성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빈곤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인종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부패 등과 같은 사회문제에서 회계의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역할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2)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회계전문직의 역할과 기능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3)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규제과정에서 회계의 역할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조직의 차원에서의 역할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회계가 유도하는 변화와 발전의 사회적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경제적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환경적 효과에 관한 탐구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79928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 비판적 방법론의 역할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주요 </a:t>
            </a:r>
            <a:r>
              <a:rPr lang="ko-KR" altLang="en-US" sz="2800" b="1" dirty="0" err="1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학자별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)(2/4)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Deegan </a:t>
            </a:r>
            <a:r>
              <a:rPr lang="en-US" altLang="ko-KR" sz="2000" dirty="0">
                <a:latin typeface="바탕"/>
                <a:ea typeface="바탕"/>
              </a:rPr>
              <a:t>•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Unerman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-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국가의 역할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 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1)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국가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정부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)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를 자본주의 체제 뿐 아니라 자본소유자를 지지하기 위한 도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구로 간주하며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회계규정은 자본소유자를 위한 것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2)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정보는 사회시스템의 정당성을 제고하고 이에 의해서 자본을 소유하는 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사람들의 권력과 부를 보호 증진하기 위해 다양한 조치를 취함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3)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정보의 흐름을 제한하거나 특정한 정보유형의 이용가능성은 특별한 조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직과 사회구조를 유지하기위한 수단으로 간주되며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정부는 근본적으로 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부유한 집단의 이익을 위해 활동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79928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 비판적 방법론의 역할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주요 </a:t>
            </a:r>
            <a:r>
              <a:rPr lang="ko-KR" altLang="en-US" sz="2800" b="1" dirty="0" err="1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학자별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)(3/4)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57200" y="2105472"/>
            <a:ext cx="8229600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  -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회계연구의 역할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 marL="0" indent="0"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1)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회계연구자들은 특정한 정치적 이데올로기를 정당화하고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유지하는 것을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 도와주는 연구결과와 관점을 제공하는 것으로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간주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2) 1970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년대 후반에 새로운 회계규제의 경제적 영향의 연구가 발생한 것도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 새로운 회계 기준과 같은 회계규제가 기업에게 분리한 것으로 간주되었기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 때문에</a:t>
            </a: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이를 무산시키기 위한 이론적 근거로 연구가 많아 짐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3)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물가변동회계에 관한 연구노력은 물가상승률이 아닌 소유자로부터 실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제적인 부의 감소를 완화하고 고소득으로 나아가기 위해 동기 유발되었</a:t>
            </a: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8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800" dirty="0" err="1">
                <a:latin typeface="HY동녘M" pitchFamily="18" charset="-127"/>
                <a:ea typeface="HY동녘M" pitchFamily="18" charset="-127"/>
              </a:rPr>
              <a:t>다고</a:t>
            </a:r>
            <a:r>
              <a:rPr lang="ko-KR" altLang="en-US" sz="1800" dirty="0">
                <a:latin typeface="HY동녘M" pitchFamily="18" charset="-127"/>
                <a:ea typeface="HY동녘M" pitchFamily="18" charset="-127"/>
              </a:rPr>
              <a:t> 간주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4. </a:t>
            </a:r>
            <a:r>
              <a:rPr lang="ko-KR" altLang="en-US" sz="3200" dirty="0">
                <a:latin typeface="HY동녘M" pitchFamily="18" charset="-127"/>
                <a:ea typeface="HY동녘M" pitchFamily="18" charset="-127"/>
              </a:rPr>
              <a:t>비판적 방법론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201614"/>
            <a:ext cx="79928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 비판적 방법론의 역할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</a:t>
            </a: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주요학자별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)(4/4)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387161" y="1633662"/>
            <a:ext cx="8507288" cy="4896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200" dirty="0">
                <a:latin typeface="HY동녘M" pitchFamily="18" charset="-127"/>
                <a:ea typeface="HY동녘M" pitchFamily="18" charset="-127"/>
              </a:rPr>
              <a:t>  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-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회계실무의 역할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pPr marL="0" indent="0">
              <a:buNone/>
            </a:pPr>
            <a:endParaRPr lang="en-US" altLang="ko-KR" sz="18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1)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비판이론가들은 개념체계를 보고실체에 의해 만들어진 재무보고서와 회계전문직을 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정당화하기 위한 것으로 간주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2)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회계담당자는 어떤 성과의 특징이 중요한가의 여부에 관한 자신의 견해를 피력하는 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것으로 간주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3)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회계담당자는 실재를 알리면서 동시에 실재를 만든다</a:t>
            </a: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.</a:t>
            </a:r>
          </a:p>
          <a:p>
            <a:pPr>
              <a:buNone/>
            </a:pP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4)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정치경제의 관점은 사회질서를 유지 </a:t>
            </a:r>
            <a:r>
              <a:rPr lang="en-US" altLang="ko-KR" sz="1600" dirty="0">
                <a:latin typeface="바탕"/>
                <a:ea typeface="바탕"/>
              </a:rPr>
              <a:t>•</a:t>
            </a: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정당화하는 데서 회계보고서의 역할을 강조하여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 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 사회적</a:t>
            </a: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,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정치적</a:t>
            </a: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,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경제적 서류로 간주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5)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정치경제관점은 회계보고서의 핵심적 역할의 하나를 자본주의</a:t>
            </a: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체제를 정당화하고 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자본주의체제에 내재하는 사회적 구조적 갈등의 결과로 발생하는 위험 으로부터 자</a:t>
            </a:r>
            <a:endParaRPr lang="en-US" altLang="ko-KR" sz="1600" dirty="0">
              <a:latin typeface="HY동녘M" pitchFamily="18" charset="-127"/>
              <a:ea typeface="HY동녘M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HY동녘M" pitchFamily="18" charset="-127"/>
                <a:ea typeface="HY동녘M" pitchFamily="18" charset="-127"/>
              </a:rPr>
              <a:t>      </a:t>
            </a:r>
            <a:r>
              <a:rPr lang="ko-KR" altLang="en-US" sz="1600" dirty="0">
                <a:latin typeface="HY동녘M" pitchFamily="18" charset="-127"/>
                <a:ea typeface="HY동녘M" pitchFamily="18" charset="-127"/>
              </a:rPr>
              <a:t>본주의 체제를 보호하기 위해 존재하는 것으로 간주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5. </a:t>
            </a:r>
            <a:r>
              <a:rPr lang="ko-KR" altLang="en-US" sz="3200" dirty="0" err="1">
                <a:latin typeface="HY동녘M" pitchFamily="18" charset="-127"/>
                <a:ea typeface="HY동녘M" pitchFamily="18" charset="-127"/>
              </a:rPr>
              <a:t>소결</a:t>
            </a:r>
            <a:endParaRPr lang="ko-KR" altLang="en-US" sz="3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199183"/>
            <a:ext cx="79928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 </a:t>
            </a:r>
            <a:r>
              <a:rPr lang="ko-KR" altLang="en-US" sz="2800" b="1" dirty="0" err="1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소결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(1/2)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36481" y="2132856"/>
            <a:ext cx="8507288" cy="338437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그리스어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kritike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에서 유래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윤리적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정치적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법적 관점에 있어서 판단하다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판결하다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라는 의미로 사용되었으며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식별하는 지각판단이나 사고작용을 의미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비판의 철학적 배경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 근대 이후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kant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의 비판정신을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Hegel/Marx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등이 계승하여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Marx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주의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Frankfurt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학파 등으로 이어졌고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다른 한편으로는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hegel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/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neitzche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등이 계승하여 포스트모더니즘으로 이어짐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사회학과 경영학의 비판개념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수사학비판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전통비판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권위비판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객관성 비판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HY동녘M" pitchFamily="18" charset="-127"/>
                <a:ea typeface="HY동녘M" pitchFamily="18" charset="-127"/>
              </a:rPr>
              <a:t>5. </a:t>
            </a:r>
            <a:r>
              <a:rPr lang="ko-KR" altLang="en-US" sz="3200" dirty="0" err="1">
                <a:latin typeface="HY동녘M" pitchFamily="18" charset="-127"/>
                <a:ea typeface="HY동녘M" pitchFamily="18" charset="-127"/>
              </a:rPr>
              <a:t>소결</a:t>
            </a:r>
            <a:endParaRPr lang="ko-KR" altLang="en-US" sz="3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403723"/>
            <a:ext cx="7992888" cy="432048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sx="1000" sy="1000" algn="ctr">
              <a:srgbClr val="000000"/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  </a:t>
            </a:r>
            <a:r>
              <a:rPr lang="ko-KR" altLang="en-US" sz="2800" b="1" dirty="0" err="1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소결</a:t>
            </a:r>
            <a:r>
              <a:rPr lang="en-US" altLang="ko-KR" sz="2800" b="1" dirty="0">
                <a:solidFill>
                  <a:schemeClr val="tx1"/>
                </a:solidFill>
                <a:latin typeface="HY동녘M" pitchFamily="18" charset="-127"/>
                <a:ea typeface="HY동녘M" pitchFamily="18" charset="-127"/>
              </a:rPr>
              <a:t>(2/2)</a:t>
            </a:r>
            <a:endParaRPr lang="ko-KR" altLang="en-US" sz="2800" b="1" dirty="0">
              <a:solidFill>
                <a:schemeClr val="tx1"/>
              </a:solidFill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488762" y="2266088"/>
            <a:ext cx="8507288" cy="3609453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비판의 목적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비판대상을 개선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회계학에서의 비판개념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주로 비판적 방법론에 속하는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Marx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주의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독일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Frankfurt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학파의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비판이론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프랑스 포스트모더니즘에 속하는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Foucault, </a:t>
            </a:r>
            <a:r>
              <a:rPr lang="en-US" altLang="ko-KR" sz="2000" dirty="0" err="1">
                <a:latin typeface="HY동녘M" pitchFamily="18" charset="-127"/>
                <a:ea typeface="HY동녘M" pitchFamily="18" charset="-127"/>
              </a:rPr>
              <a:t>Bourdieu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등의 방법론 등에서 이용하는 비판개념</a:t>
            </a:r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endParaRPr lang="en-US" altLang="ko-KR" sz="2000" dirty="0">
              <a:latin typeface="HY동녘M" pitchFamily="18" charset="-127"/>
              <a:ea typeface="HY동녘M" pitchFamily="18" charset="-127"/>
            </a:endParaRPr>
          </a:p>
          <a:p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회계학방법론 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: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실증적 방법론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비판적 방법론</a:t>
            </a:r>
            <a:r>
              <a:rPr lang="en-US" altLang="ko-KR" sz="2000" dirty="0">
                <a:latin typeface="HY동녘M" pitchFamily="18" charset="-127"/>
                <a:ea typeface="HY동녘M" pitchFamily="18" charset="-127"/>
              </a:rPr>
              <a:t>, </a:t>
            </a:r>
            <a:r>
              <a:rPr lang="ko-KR" altLang="en-US" sz="2000" dirty="0">
                <a:latin typeface="HY동녘M" pitchFamily="18" charset="-127"/>
                <a:ea typeface="HY동녘M" pitchFamily="18" charset="-127"/>
              </a:rPr>
              <a:t>해석적 방법론 등이 있음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358623" y="2348880"/>
            <a:ext cx="6426759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ko-KR" altLang="en-US" sz="7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경청해 주셔서 </a:t>
            </a:r>
            <a:endParaRPr lang="en-US" altLang="ko-KR" sz="72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/>
            <a:r>
              <a:rPr lang="ko-KR" altLang="en-US" sz="7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감사합니다</a:t>
            </a:r>
            <a:r>
              <a:rPr lang="en-US" altLang="ko-KR" sz="7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!!!</a:t>
            </a:r>
            <a:endParaRPr lang="en-US" altLang="ko-KR" sz="72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3237</TotalTime>
  <Words>1321</Words>
  <Application>Microsoft Office PowerPoint</Application>
  <PresentationFormat>화면 슬라이드 쇼(4:3)</PresentationFormat>
  <Paragraphs>178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HY동녘M</vt:lpstr>
      <vt:lpstr>맑은 고딕</vt:lpstr>
      <vt:lpstr>바탕</vt:lpstr>
      <vt:lpstr>Arial</vt:lpstr>
      <vt:lpstr>Wingdings</vt:lpstr>
      <vt:lpstr>Office 테마</vt:lpstr>
      <vt:lpstr>마르크스주의의 비판적 방법론</vt:lpstr>
      <vt:lpstr>목  차</vt:lpstr>
      <vt:lpstr>1. 비판개념의 의의</vt:lpstr>
      <vt:lpstr>2. 비판개념의 철학적 배경</vt:lpstr>
      <vt:lpstr>2. 비판개념의 철학적 배경</vt:lpstr>
      <vt:lpstr>3. 비판개념의 종류</vt:lpstr>
      <vt:lpstr>3. 비판개념의 종류</vt:lpstr>
      <vt:lpstr>4. 비판적 방법론</vt:lpstr>
      <vt:lpstr>4. 비판적 방법론</vt:lpstr>
      <vt:lpstr>4. 비판적 방법론</vt:lpstr>
      <vt:lpstr>4. 비판적 방법론</vt:lpstr>
      <vt:lpstr>4. 비판적 방법론</vt:lpstr>
      <vt:lpstr>4. 비판적 방법론</vt:lpstr>
      <vt:lpstr>4. 비판적 방법론</vt:lpstr>
      <vt:lpstr>4. 비판적 방법론</vt:lpstr>
      <vt:lpstr>4. 비판적 방법론</vt:lpstr>
      <vt:lpstr>4. 비판적 방법론</vt:lpstr>
      <vt:lpstr>4. 비판적 방법론</vt:lpstr>
      <vt:lpstr>5. 소결</vt:lpstr>
      <vt:lpstr>5. 소결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LG</cp:lastModifiedBy>
  <cp:revision>339</cp:revision>
  <dcterms:created xsi:type="dcterms:W3CDTF">2006-10-05T04:04:58Z</dcterms:created>
  <dcterms:modified xsi:type="dcterms:W3CDTF">2021-09-04T20:20:28Z</dcterms:modified>
</cp:coreProperties>
</file>