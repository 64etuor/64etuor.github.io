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sldIdLst>
    <p:sldId id="256" r:id="rId2"/>
    <p:sldId id="305" r:id="rId3"/>
    <p:sldId id="316" r:id="rId4"/>
    <p:sldId id="317" r:id="rId5"/>
    <p:sldId id="318" r:id="rId6"/>
    <p:sldId id="319" r:id="rId7"/>
    <p:sldId id="306" r:id="rId8"/>
    <p:sldId id="320" r:id="rId9"/>
    <p:sldId id="307" r:id="rId10"/>
    <p:sldId id="323" r:id="rId11"/>
    <p:sldId id="324" r:id="rId12"/>
    <p:sldId id="325" r:id="rId13"/>
    <p:sldId id="308" r:id="rId14"/>
    <p:sldId id="322" r:id="rId15"/>
    <p:sldId id="321" r:id="rId16"/>
  </p:sldIdLst>
  <p:sldSz cx="9144000" cy="6858000" type="screen4x3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50" autoAdjust="0"/>
    <p:restoredTop sz="83633" autoAdjust="0"/>
  </p:normalViewPr>
  <p:slideViewPr>
    <p:cSldViewPr snapToGrid="0">
      <p:cViewPr varScale="1">
        <p:scale>
          <a:sx n="87" d="100"/>
          <a:sy n="87" d="100"/>
        </p:scale>
        <p:origin x="1531" y="77"/>
      </p:cViewPr>
      <p:guideLst>
        <p:guide orient="horz" pos="213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4D387D-841C-4533-A0D3-69A5406B5822}" type="datetimeFigureOut">
              <a:rPr lang="ko-KR" altLang="en-US" smtClean="0"/>
              <a:t>2021-10-10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347CB3-5FA0-4D0A-A787-7716B9A824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861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배당할인모형은</a:t>
            </a:r>
            <a:r>
              <a:rPr lang="en-US" altLang="ko-KR" baseline="0" dirty="0" smtClean="0"/>
              <a:t> </a:t>
            </a:r>
            <a:r>
              <a:rPr lang="ko-KR" altLang="en-US" baseline="0" dirty="0" err="1" smtClean="0"/>
              <a:t>오래전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재무학에서</a:t>
            </a:r>
            <a:r>
              <a:rPr lang="ko-KR" altLang="en-US" baseline="0" dirty="0" smtClean="0"/>
              <a:t> 정립된 가치평가모형으로서 주주지분가치</a:t>
            </a:r>
            <a:r>
              <a:rPr lang="en-US" altLang="ko-KR" baseline="0" dirty="0" smtClean="0"/>
              <a:t>(</a:t>
            </a:r>
            <a:r>
              <a:rPr lang="ko-KR" altLang="en-US" baseline="0" dirty="0" smtClean="0"/>
              <a:t>주식가치</a:t>
            </a:r>
            <a:r>
              <a:rPr lang="en-US" altLang="ko-KR" baseline="0" dirty="0" smtClean="0"/>
              <a:t>)</a:t>
            </a:r>
            <a:r>
              <a:rPr lang="ko-KR" altLang="en-US" baseline="0" dirty="0" smtClean="0"/>
              <a:t>를 평가하는 이론으로 널리 수용되고 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배당할인모형은 주주지분가치를 평가하는 현금흐름할인모형과 초과이익모형이 도출되는 근거이기도 하다</a:t>
            </a:r>
            <a:r>
              <a:rPr lang="en-US" altLang="ko-KR" baseline="0" dirty="0" smtClean="0"/>
              <a:t>. </a:t>
            </a:r>
          </a:p>
          <a:p>
            <a:r>
              <a:rPr lang="en-US" altLang="ko-KR" baseline="0" dirty="0" smtClean="0"/>
              <a:t>EVA </a:t>
            </a:r>
            <a:r>
              <a:rPr lang="ko-KR" altLang="en-US" baseline="0" dirty="0" smtClean="0"/>
              <a:t>모형은 회계변수를 이용하여 현금흐름할인모형을 재구성한 것이다</a:t>
            </a:r>
            <a:r>
              <a:rPr lang="en-US" altLang="ko-KR" baseline="0" dirty="0" smtClean="0"/>
              <a:t>. </a:t>
            </a:r>
            <a:endParaRPr lang="ko-KR" altLang="en-US" dirty="0" smtClean="0"/>
          </a:p>
          <a:p>
            <a:r>
              <a:rPr lang="ko-KR" altLang="en-US" dirty="0" smtClean="0"/>
              <a:t>이와 같이 위의 가치평가모형들은 이론적으로 서로 연관되어 있으며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이론적으로 모두 동일한 가치평가에 이른다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그러나</a:t>
            </a:r>
            <a:r>
              <a:rPr lang="en-US" altLang="ko-KR" dirty="0" smtClean="0"/>
              <a:t>, </a:t>
            </a:r>
            <a:r>
              <a:rPr lang="ko-KR" altLang="en-US" dirty="0" smtClean="0"/>
              <a:t>기업의 가치가 어떻게 창출되는가에 대해 각 모형이 제공하는 정보에는 차이가 있으며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또 실제 상황에서 모형을 사용하는</a:t>
            </a:r>
            <a:endParaRPr lang="en-US" altLang="ko-KR" dirty="0" smtClean="0"/>
          </a:p>
          <a:p>
            <a:r>
              <a:rPr lang="ko-KR" altLang="en-US" dirty="0" smtClean="0"/>
              <a:t>난이도에도 차이가 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배당할인모형</a:t>
            </a:r>
            <a:r>
              <a:rPr lang="en-US" altLang="ko-KR" dirty="0" smtClean="0"/>
              <a:t>, </a:t>
            </a:r>
            <a:r>
              <a:rPr lang="ko-KR" altLang="en-US" dirty="0" smtClean="0"/>
              <a:t>초과이익모형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주주지분가치를 바로 평가하는 모형들</a:t>
            </a:r>
            <a:endParaRPr lang="en-US" altLang="ko-KR" dirty="0" smtClean="0"/>
          </a:p>
          <a:p>
            <a:r>
              <a:rPr lang="ko-KR" altLang="en-US" dirty="0" smtClean="0"/>
              <a:t>현금흐름할인모형</a:t>
            </a:r>
            <a:r>
              <a:rPr lang="en-US" altLang="ko-KR" dirty="0" smtClean="0"/>
              <a:t>, EVA</a:t>
            </a:r>
            <a:r>
              <a:rPr lang="ko-KR" altLang="en-US" dirty="0" smtClean="0"/>
              <a:t>모형 </a:t>
            </a:r>
            <a:r>
              <a:rPr lang="en-US" altLang="ko-KR" dirty="0" smtClean="0"/>
              <a:t>: </a:t>
            </a:r>
            <a:r>
              <a:rPr lang="ko-KR" altLang="en-US" dirty="0" smtClean="0"/>
              <a:t>기업의 가치를 먼저 평가한 후 여기서 </a:t>
            </a:r>
            <a:r>
              <a:rPr lang="ko-KR" altLang="en-US" dirty="0" err="1" smtClean="0"/>
              <a:t>순재무부채</a:t>
            </a:r>
            <a:r>
              <a:rPr lang="ko-KR" altLang="en-US" dirty="0" smtClean="0"/>
              <a:t> 시장가치를 차감하여 주주지분가치를 평가한다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배당은 주주에게 귀속되는 현금흐름이므로</a:t>
            </a:r>
            <a:r>
              <a:rPr lang="en-US" altLang="ko-KR" dirty="0" smtClean="0"/>
              <a:t>, </a:t>
            </a:r>
            <a:r>
              <a:rPr lang="ko-KR" altLang="en-US" dirty="0" smtClean="0"/>
              <a:t>배당할인모형도 넓은 의미에서 현금흐름할인모형이다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그러나</a:t>
            </a:r>
            <a:r>
              <a:rPr lang="en-US" altLang="ko-KR" dirty="0" smtClean="0"/>
              <a:t>, </a:t>
            </a:r>
            <a:r>
              <a:rPr lang="ko-KR" altLang="en-US" dirty="0" smtClean="0"/>
              <a:t>현금흐름할인모형은 잉여현금흐름을 이용한 가치 평가모형을 지칭하는 경우가 많다</a:t>
            </a:r>
            <a:r>
              <a:rPr lang="en-US" altLang="ko-KR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47CB3-5FA0-4D0A-A787-7716B9A824B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19945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47CB3-5FA0-4D0A-A787-7716B9A824B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2784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DF115-61D7-4A7C-936B-AB1DCCAAF4ED}" type="datetimeFigureOut">
              <a:rPr lang="ko-KR" altLang="en-US" smtClean="0"/>
              <a:t>2021-10-10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B836D-A2B9-45A7-8703-4B23B6CD7D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2684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DF115-61D7-4A7C-936B-AB1DCCAAF4ED}" type="datetimeFigureOut">
              <a:rPr lang="ko-KR" altLang="en-US" smtClean="0"/>
              <a:t>2021-10-10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B836D-A2B9-45A7-8703-4B23B6CD7D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9049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DF115-61D7-4A7C-936B-AB1DCCAAF4ED}" type="datetimeFigureOut">
              <a:rPr lang="ko-KR" altLang="en-US" smtClean="0"/>
              <a:t>2021-10-10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B836D-A2B9-45A7-8703-4B23B6CD7D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0170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DF115-61D7-4A7C-936B-AB1DCCAAF4ED}" type="datetimeFigureOut">
              <a:rPr lang="ko-KR" altLang="en-US" smtClean="0"/>
              <a:t>2021-10-10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B836D-A2B9-45A7-8703-4B23B6CD7D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6579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DF115-61D7-4A7C-936B-AB1DCCAAF4ED}" type="datetimeFigureOut">
              <a:rPr lang="ko-KR" altLang="en-US" smtClean="0"/>
              <a:t>2021-10-10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B836D-A2B9-45A7-8703-4B23B6CD7D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1726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DF115-61D7-4A7C-936B-AB1DCCAAF4ED}" type="datetimeFigureOut">
              <a:rPr lang="ko-KR" altLang="en-US" smtClean="0"/>
              <a:t>2021-10-10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B836D-A2B9-45A7-8703-4B23B6CD7D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0932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DF115-61D7-4A7C-936B-AB1DCCAAF4ED}" type="datetimeFigureOut">
              <a:rPr lang="ko-KR" altLang="en-US" smtClean="0"/>
              <a:t>2021-10-10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B836D-A2B9-45A7-8703-4B23B6CD7D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1555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DF115-61D7-4A7C-936B-AB1DCCAAF4ED}" type="datetimeFigureOut">
              <a:rPr lang="ko-KR" altLang="en-US" smtClean="0"/>
              <a:t>2021-10-10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B836D-A2B9-45A7-8703-4B23B6CD7D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1418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DF115-61D7-4A7C-936B-AB1DCCAAF4ED}" type="datetimeFigureOut">
              <a:rPr lang="ko-KR" altLang="en-US" smtClean="0"/>
              <a:t>2021-10-10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B836D-A2B9-45A7-8703-4B23B6CD7D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8543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DF115-61D7-4A7C-936B-AB1DCCAAF4ED}" type="datetimeFigureOut">
              <a:rPr lang="ko-KR" altLang="en-US" smtClean="0"/>
              <a:t>2021-10-10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B836D-A2B9-45A7-8703-4B23B6CD7D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4450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DF115-61D7-4A7C-936B-AB1DCCAAF4ED}" type="datetimeFigureOut">
              <a:rPr lang="ko-KR" altLang="en-US" smtClean="0"/>
              <a:t>2021-10-10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B836D-A2B9-45A7-8703-4B23B6CD7D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1796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DF115-61D7-4A7C-936B-AB1DCCAAF4ED}" type="datetimeFigureOut">
              <a:rPr lang="ko-KR" altLang="en-US" smtClean="0"/>
              <a:t>2021-10-10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3B836D-A2B9-45A7-8703-4B23B6CD7D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7457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363306" y="1786466"/>
            <a:ext cx="6695472" cy="876966"/>
          </a:xfrm>
          <a:solidFill>
            <a:schemeClr val="bg1">
              <a:alpha val="59000"/>
            </a:schemeClr>
          </a:solidFill>
        </p:spPr>
        <p:txBody>
          <a:bodyPr anchor="ctr" anchorCtr="0">
            <a:normAutofit/>
          </a:bodyPr>
          <a:lstStyle/>
          <a:p>
            <a:pPr algn="ctr"/>
            <a:r>
              <a:rPr lang="ko-KR" altLang="en-US" sz="4000" u="sng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기업가치평가분석</a:t>
            </a:r>
            <a:endParaRPr lang="ko-KR" altLang="en-US" sz="4000" u="sng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3728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76" y="4983784"/>
            <a:ext cx="2445786" cy="187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639345" y="3616485"/>
            <a:ext cx="2390398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 smtClean="0">
                <a:latin typeface="HY산B" pitchFamily="18" charset="-127"/>
                <a:ea typeface="HY산B" pitchFamily="18" charset="-127"/>
              </a:rPr>
              <a:t>기업외부자의 투자의사결정과</a:t>
            </a:r>
            <a:endParaRPr lang="en-US" altLang="ko-KR" sz="1200" dirty="0" smtClean="0">
              <a:latin typeface="HY산B" pitchFamily="18" charset="-127"/>
              <a:ea typeface="HY산B" pitchFamily="18" charset="-127"/>
            </a:endParaRPr>
          </a:p>
          <a:p>
            <a:r>
              <a:rPr lang="ko-KR" altLang="en-US" sz="1200" dirty="0" smtClean="0">
                <a:latin typeface="HY산B" pitchFamily="18" charset="-127"/>
                <a:ea typeface="HY산B" pitchFamily="18" charset="-127"/>
              </a:rPr>
              <a:t>기업내부자의 경영의사결정에서</a:t>
            </a:r>
            <a:endParaRPr lang="en-US" altLang="ko-KR" sz="1200" dirty="0" smtClean="0">
              <a:latin typeface="HY산B" pitchFamily="18" charset="-127"/>
              <a:ea typeface="HY산B" pitchFamily="18" charset="-127"/>
            </a:endParaRPr>
          </a:p>
          <a:p>
            <a:r>
              <a:rPr lang="ko-KR" altLang="en-US" sz="1200" dirty="0" smtClean="0">
                <a:latin typeface="HY산B" pitchFamily="18" charset="-127"/>
                <a:ea typeface="HY산B" pitchFamily="18" charset="-127"/>
              </a:rPr>
              <a:t>기업의 가치를 평가하는 목적</a:t>
            </a:r>
            <a:endParaRPr lang="ko-KR" altLang="en-US" sz="1200" dirty="0">
              <a:latin typeface="HY산B" pitchFamily="18" charset="-127"/>
              <a:ea typeface="HY산B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04138" y="6614796"/>
            <a:ext cx="5357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1 / 14</a:t>
            </a:r>
            <a:endParaRPr lang="ko-KR" altLang="en-US" sz="105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0" y="756745"/>
            <a:ext cx="9144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52248" y="204951"/>
            <a:ext cx="4294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1. </a:t>
            </a:r>
            <a:r>
              <a:rPr lang="ko-KR" altLang="en-US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기업가치평가모형 이론 연구</a:t>
            </a:r>
            <a:endParaRPr lang="ko-KR" altLang="en-US" sz="24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2242" y="1123872"/>
            <a:ext cx="8459367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재무제표를 이용한 기업분석의 틀에서의 마지막 단계는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분석대상기업의 미래를 예측하여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기업의 가치와 주주지분가치를 평가하는 것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기업에 대한 투자의사결정을 하거나 기업 내부자가 전략적 경영의사결정을 하기 위해서는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가치평가이론에 대한 이해가 선행되어야 함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</a:t>
            </a: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-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예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: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투자자와 애널리스트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재무분석가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)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의 상장기업 평가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기업공개시의 공모주 분석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</a:t>
            </a: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         M&amp;A(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기업합병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·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매수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)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에서의 피매수기업 평가 등을 하는 경우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경영자가 사업전략과 투자결정의 유효성을 판단하는데 있어서도 판단기준이 됨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</a:t>
            </a:r>
          </a:p>
          <a:p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 -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예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: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사업규모 확장 또는 신규사업투자 고려시에 이로 인해 기업의 가치가 어떠한 영향을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      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받을 것인지를 검토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가치평가이론의 기본개념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- </a:t>
            </a:r>
            <a:r>
              <a:rPr lang="ko-KR" altLang="en-US" sz="1600" b="1" dirty="0" smtClean="0">
                <a:solidFill>
                  <a:srgbClr val="FF0000"/>
                </a:solidFill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기업가치</a:t>
            </a:r>
            <a:r>
              <a:rPr lang="en-US" altLang="ko-KR" sz="1600" b="1" dirty="0" smtClean="0">
                <a:solidFill>
                  <a:srgbClr val="FF0000"/>
                </a:solidFill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(Value of the firm)</a:t>
            </a:r>
            <a:r>
              <a:rPr lang="ko-KR" altLang="en-US" sz="1600" b="1" dirty="0" smtClean="0">
                <a:solidFill>
                  <a:srgbClr val="FF0000"/>
                </a:solidFill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=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타인자본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+ </a:t>
            </a:r>
            <a:r>
              <a:rPr lang="ko-KR" altLang="en-US" sz="1600" b="1" dirty="0" smtClean="0">
                <a:solidFill>
                  <a:srgbClr val="FF0000"/>
                </a:solidFill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주주지분가치</a:t>
            </a:r>
            <a:r>
              <a:rPr lang="en-US" altLang="ko-KR" sz="1600" b="1" dirty="0" smtClean="0">
                <a:solidFill>
                  <a:srgbClr val="FF0000"/>
                </a:solidFill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</a:t>
            </a:r>
            <a:r>
              <a:rPr lang="ko-KR" altLang="en-US" sz="1600" b="1" dirty="0" smtClean="0">
                <a:solidFill>
                  <a:srgbClr val="FF0000"/>
                </a:solidFill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자기자본가치</a:t>
            </a:r>
            <a:r>
              <a:rPr lang="en-US" altLang="ko-KR" sz="1600" b="1" dirty="0" smtClean="0">
                <a:solidFill>
                  <a:srgbClr val="FF0000"/>
                </a:solidFill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)</a:t>
            </a:r>
          </a:p>
          <a:p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기업가치와</a:t>
            </a:r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주주지분가치의 평가이론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① 배당할인모형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(dividend discount model)</a:t>
            </a: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② 현금흐름할인모형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(discounted cash flow model)</a:t>
            </a: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③ 초과이익모형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(residual income valuation model)</a:t>
            </a: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④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EVA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모형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(economic value added model)</a:t>
            </a:r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34446" y="204951"/>
            <a:ext cx="1140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1) </a:t>
            </a:r>
            <a:r>
              <a:rPr lang="ko-KR" altLang="en-US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개요</a:t>
            </a:r>
            <a:endParaRPr lang="ko-KR" altLang="en-US" sz="24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2" name="사각형 설명선 1"/>
          <p:cNvSpPr/>
          <p:nvPr/>
        </p:nvSpPr>
        <p:spPr>
          <a:xfrm>
            <a:off x="4481926" y="4240925"/>
            <a:ext cx="2596792" cy="441435"/>
          </a:xfrm>
          <a:prstGeom prst="wedgeRectCallout">
            <a:avLst>
              <a:gd name="adj1" fmla="val 38231"/>
              <a:gd name="adj2" fmla="val -73214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1552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304138" y="6614796"/>
            <a:ext cx="5357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2 / 14</a:t>
            </a:r>
            <a:endParaRPr lang="ko-KR" altLang="en-US" sz="105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0" y="756745"/>
            <a:ext cx="9144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52248" y="204951"/>
            <a:ext cx="29161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1. </a:t>
            </a:r>
            <a:r>
              <a:rPr lang="ko-KR" altLang="en-US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기업가치평가모형</a:t>
            </a:r>
            <a:endParaRPr lang="ko-KR" altLang="en-US" sz="24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2242" y="1052622"/>
            <a:ext cx="8603637" cy="5509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투자자는 기업이 발행한 주식을 보유함으로써 주주지분을 갖게 되는데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이 주주지분의 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가치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(value of equity)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는 주식 보유에서 받게 될 미래 </a:t>
            </a:r>
            <a:r>
              <a:rPr lang="ko-KR" altLang="en-US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현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금의 현재가치로 평가할 수 있음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</a:t>
            </a: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주주가 주식 보유에서 받게 될 미래 현금 흐름은 기업이 지급하는 배당이므로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결국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주주지분가치는 미래 배당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(expected future dividends)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의 현재가치로 평가될 수 있음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</a:t>
            </a:r>
          </a:p>
          <a:p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배당할인모형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(DDM, dividend discount model) : </a:t>
            </a:r>
            <a:r>
              <a:rPr lang="ko-KR" altLang="en-US" sz="1600" dirty="0" err="1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계속기업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가정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(going concern)</a:t>
            </a:r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</a:t>
            </a:r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주주지분가치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=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미래 배당의 현재가치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                   =</a:t>
            </a:r>
          </a:p>
          <a:p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·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주주지분가치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: ‘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현재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’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의 주주지분가치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· 1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주의 주식가치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: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주주지분가치를 유통주식수로 나눈 것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배당할인모형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(DDM)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을 이용하여 가치평가를 하려면 미래의 모든 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기간에 대한 배당이 예측되어야 하나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실제 예측이 어렵기 때문에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</a:t>
            </a: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일정한 가정을 도입하여 사용함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</a:t>
            </a: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: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지속성장모형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미래예측 및 잔여가치 추정에 의한 실행방법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41812" y="204951"/>
            <a:ext cx="23326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2) </a:t>
            </a:r>
            <a:r>
              <a:rPr lang="ko-KR" altLang="en-US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배당할인모형</a:t>
            </a:r>
            <a:endParaRPr lang="ko-KR" altLang="en-US" sz="24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9192" y="4847592"/>
            <a:ext cx="2055320" cy="1695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2132254" y="3249222"/>
            <a:ext cx="409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∞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2090920" y="3350516"/>
            <a:ext cx="5339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Σ</a:t>
            </a:r>
            <a:endParaRPr lang="ko-KR" altLang="en-US" sz="3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90920" y="3817000"/>
            <a:ext cx="4058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t=1</a:t>
            </a:r>
            <a:endParaRPr lang="ko-KR" altLang="en-US" sz="12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64038" y="3746144"/>
            <a:ext cx="6335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(1+r  )</a:t>
            </a:r>
            <a:endParaRPr lang="ko-KR" altLang="en-US" sz="12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2494285" y="3713509"/>
            <a:ext cx="3527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424126" y="3436510"/>
            <a:ext cx="4347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DIV</a:t>
            </a:r>
            <a:endParaRPr lang="ko-KR" altLang="en-US" sz="12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84623" y="3457516"/>
            <a:ext cx="2391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t</a:t>
            </a:r>
            <a:endParaRPr lang="ko-KR" altLang="en-US" sz="105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67371" y="3782496"/>
            <a:ext cx="2568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e</a:t>
            </a:r>
            <a:endParaRPr lang="ko-KR" altLang="en-US" sz="10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84235" y="4089133"/>
            <a:ext cx="4347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DIV</a:t>
            </a:r>
            <a:endParaRPr lang="ko-KR" altLang="en-US" sz="12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227480" y="4110139"/>
            <a:ext cx="2391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t</a:t>
            </a:r>
            <a:endParaRPr lang="ko-KR" altLang="en-US" sz="105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304285" y="4089133"/>
            <a:ext cx="2015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: </a:t>
            </a:r>
            <a:r>
              <a:rPr lang="ko-KR" altLang="en-US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미래 </a:t>
            </a:r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t</a:t>
            </a:r>
            <a:r>
              <a:rPr lang="ko-KR" altLang="en-US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년의 배당</a:t>
            </a:r>
            <a:endParaRPr lang="en-US" altLang="ko-KR" sz="12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: </a:t>
            </a:r>
            <a:r>
              <a:rPr lang="ko-KR" altLang="en-US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필요수익률</a:t>
            </a:r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</a:t>
            </a:r>
            <a:r>
              <a:rPr lang="ko-KR" altLang="en-US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자기자본비용</a:t>
            </a:r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65381" y="4260590"/>
            <a:ext cx="2503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r</a:t>
            </a:r>
            <a:endParaRPr lang="ko-KR" altLang="en-US" sz="12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217243" y="4300594"/>
            <a:ext cx="2503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e</a:t>
            </a:r>
            <a:endParaRPr lang="ko-KR" altLang="en-US" sz="9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786043" y="3657844"/>
            <a:ext cx="2391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t</a:t>
            </a:r>
            <a:endParaRPr lang="ko-KR" altLang="en-US" sz="105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700" y="2990850"/>
            <a:ext cx="2024911" cy="1455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557664" y="4465320"/>
            <a:ext cx="26564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*</a:t>
            </a:r>
            <a:r>
              <a:rPr lang="ko-KR" altLang="en-US" sz="10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배당평가이론을 발표한 </a:t>
            </a:r>
            <a:r>
              <a:rPr lang="en-US" altLang="ko-KR" sz="10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『</a:t>
            </a:r>
            <a:r>
              <a:rPr lang="ko-KR" altLang="en-US" sz="10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마이런 고든</a:t>
            </a:r>
            <a:r>
              <a:rPr lang="en-US" altLang="ko-KR" sz="10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』 </a:t>
            </a:r>
            <a:r>
              <a:rPr lang="ko-KR" altLang="en-US" sz="10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교수</a:t>
            </a:r>
            <a:endParaRPr lang="ko-KR" altLang="en-US" sz="10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7796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64" y="4567856"/>
            <a:ext cx="937837" cy="975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304138" y="6614796"/>
            <a:ext cx="5357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3 / 14</a:t>
            </a:r>
            <a:endParaRPr lang="ko-KR" altLang="en-US" sz="105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0" y="756745"/>
            <a:ext cx="9144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52248" y="204951"/>
            <a:ext cx="30171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1. </a:t>
            </a:r>
            <a:r>
              <a:rPr lang="ko-KR" altLang="en-US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기업가치평가모형</a:t>
            </a:r>
            <a:endParaRPr lang="ko-KR" altLang="en-US" sz="24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2241" y="1052622"/>
            <a:ext cx="8336587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기업이 영업활동을 통해 창출하는 순현금흐름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(free cash flow, FCF)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을 이용하여 기업의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가치와 주주지분가치를 평가하는 모형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실무에서 가치평가에 가장 많이 사용하는 방법임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현금흐름 등식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: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영업활동 현금흐름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–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영업에 대한 투자액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=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재무활동 현금흐름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·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이 현금흐름의 등식은 과거</a:t>
            </a:r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및 미래 매 기간에도 성립하는 항등식임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</a:t>
            </a:r>
          </a:p>
          <a:p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현금흐름할인모형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(DCF, discounted cash flow model)</a:t>
            </a:r>
          </a:p>
          <a:p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기업가치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=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미래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FCF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의 현재가치 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             </a:t>
            </a:r>
          </a:p>
          <a:p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현금흐름할인모형은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가치배분의 측면에서 보여주기 때문에 가치창출의 원천을 보여주지 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못하는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한계점이 있음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45495" y="204951"/>
            <a:ext cx="29290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3) </a:t>
            </a:r>
            <a:r>
              <a:rPr lang="ko-KR" altLang="en-US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현금흐름할인모형</a:t>
            </a:r>
            <a:endParaRPr lang="ko-KR" altLang="en-US" sz="24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49965" y="2519407"/>
            <a:ext cx="9092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순유입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2519407"/>
            <a:ext cx="9092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순유출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3324" y="2519407"/>
            <a:ext cx="9092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순유출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)</a:t>
            </a:r>
          </a:p>
        </p:txBody>
      </p:sp>
      <p:sp>
        <p:nvSpPr>
          <p:cNvPr id="6" name="자유형 5"/>
          <p:cNvSpPr/>
          <p:nvPr/>
        </p:nvSpPr>
        <p:spPr>
          <a:xfrm>
            <a:off x="2125683" y="2793672"/>
            <a:ext cx="3681351" cy="127659"/>
          </a:xfrm>
          <a:custGeom>
            <a:avLst/>
            <a:gdLst>
              <a:gd name="connsiteX0" fmla="*/ 0 w 570016"/>
              <a:gd name="connsiteY0" fmla="*/ 0 h 510639"/>
              <a:gd name="connsiteX1" fmla="*/ 0 w 570016"/>
              <a:gd name="connsiteY1" fmla="*/ 510639 h 510639"/>
              <a:gd name="connsiteX2" fmla="*/ 570016 w 570016"/>
              <a:gd name="connsiteY2" fmla="*/ 510639 h 510639"/>
              <a:gd name="connsiteX3" fmla="*/ 570016 w 570016"/>
              <a:gd name="connsiteY3" fmla="*/ 35626 h 510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0016" h="510639">
                <a:moveTo>
                  <a:pt x="0" y="0"/>
                </a:moveTo>
                <a:lnTo>
                  <a:pt x="0" y="510639"/>
                </a:lnTo>
                <a:lnTo>
                  <a:pt x="570016" y="510639"/>
                </a:lnTo>
                <a:lnTo>
                  <a:pt x="570016" y="35626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29" name="자유형 28"/>
          <p:cNvSpPr/>
          <p:nvPr/>
        </p:nvSpPr>
        <p:spPr>
          <a:xfrm>
            <a:off x="6175169" y="2793672"/>
            <a:ext cx="1638795" cy="127659"/>
          </a:xfrm>
          <a:custGeom>
            <a:avLst/>
            <a:gdLst>
              <a:gd name="connsiteX0" fmla="*/ 0 w 570016"/>
              <a:gd name="connsiteY0" fmla="*/ 0 h 510639"/>
              <a:gd name="connsiteX1" fmla="*/ 0 w 570016"/>
              <a:gd name="connsiteY1" fmla="*/ 510639 h 510639"/>
              <a:gd name="connsiteX2" fmla="*/ 570016 w 570016"/>
              <a:gd name="connsiteY2" fmla="*/ 510639 h 510639"/>
              <a:gd name="connsiteX3" fmla="*/ 570016 w 570016"/>
              <a:gd name="connsiteY3" fmla="*/ 35626 h 510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0016" h="510639">
                <a:moveTo>
                  <a:pt x="0" y="0"/>
                </a:moveTo>
                <a:lnTo>
                  <a:pt x="0" y="510639"/>
                </a:lnTo>
                <a:lnTo>
                  <a:pt x="570016" y="510639"/>
                </a:lnTo>
                <a:lnTo>
                  <a:pt x="570016" y="35626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910620" y="2921331"/>
            <a:ext cx="20858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=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기업이 창출한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FCF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1331" y="2921331"/>
            <a:ext cx="18886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창출된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FCF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의 배분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1877555" y="4471695"/>
            <a:ext cx="5339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Σ</a:t>
            </a:r>
            <a:endParaRPr lang="ko-KR" altLang="en-US" sz="3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877555" y="4938179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t=1</a:t>
            </a:r>
            <a:endParaRPr lang="ko-KR" altLang="en-US" sz="12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435673" y="4867323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(1+r  )</a:t>
            </a:r>
            <a:endParaRPr lang="ko-KR" altLang="en-US" sz="12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cxnSp>
        <p:nvCxnSpPr>
          <p:cNvPr id="35" name="직선 연결선 34"/>
          <p:cNvCxnSpPr/>
          <p:nvPr/>
        </p:nvCxnSpPr>
        <p:spPr>
          <a:xfrm>
            <a:off x="2280920" y="4834688"/>
            <a:ext cx="10942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724072" y="4914429"/>
            <a:ext cx="2824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w</a:t>
            </a:r>
            <a:endParaRPr lang="ko-KR" altLang="en-US" sz="10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398568" y="4520365"/>
            <a:ext cx="502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C   -</a:t>
            </a:r>
            <a:endParaRPr lang="ko-KR" altLang="en-US" sz="12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499330" y="4576996"/>
            <a:ext cx="2247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t</a:t>
            </a:r>
            <a:endParaRPr lang="ko-KR" altLang="en-US" sz="9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090920" y="5210312"/>
            <a:ext cx="24016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: </a:t>
            </a:r>
            <a:r>
              <a:rPr lang="ko-KR" altLang="en-US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미래 </a:t>
            </a:r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t</a:t>
            </a:r>
            <a:r>
              <a:rPr lang="ko-KR" altLang="en-US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년의 영업활동 현금흐름</a:t>
            </a:r>
            <a:endParaRPr lang="en-US" altLang="ko-KR" sz="12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: </a:t>
            </a:r>
            <a:r>
              <a:rPr lang="ko-KR" altLang="en-US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미래 </a:t>
            </a:r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t</a:t>
            </a:r>
            <a:r>
              <a:rPr lang="ko-KR" altLang="en-US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년의 영업투자액 </a:t>
            </a:r>
            <a:endParaRPr lang="en-US" altLang="ko-KR" sz="12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: </a:t>
            </a:r>
            <a:r>
              <a:rPr lang="ko-KR" altLang="en-US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필요수익률</a:t>
            </a:r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</a:t>
            </a:r>
            <a:r>
              <a:rPr lang="ko-KR" altLang="en-US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가중평균자본비용</a:t>
            </a:r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40141" y="5583644"/>
            <a:ext cx="2503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r</a:t>
            </a:r>
            <a:endParaRPr lang="ko-KR" altLang="en-US" sz="12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003878" y="5671148"/>
            <a:ext cx="2535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W</a:t>
            </a:r>
            <a:endParaRPr lang="ko-KR" altLang="en-US" sz="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2827540" y="4519941"/>
            <a:ext cx="338622" cy="276999"/>
            <a:chOff x="1935128" y="5410212"/>
            <a:chExt cx="338622" cy="276999"/>
          </a:xfrm>
        </p:grpSpPr>
        <p:sp>
          <p:nvSpPr>
            <p:cNvPr id="44" name="TextBox 43"/>
            <p:cNvSpPr txBox="1"/>
            <p:nvPr/>
          </p:nvSpPr>
          <p:spPr>
            <a:xfrm>
              <a:off x="1935128" y="5410212"/>
              <a:ext cx="2327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>
                  <a:latin typeface="함초롬돋움" pitchFamily="18" charset="-127"/>
                  <a:ea typeface="함초롬돋움" pitchFamily="18" charset="-127"/>
                  <a:cs typeface="함초롬돋움" pitchFamily="18" charset="-127"/>
                </a:rPr>
                <a:t>I</a:t>
              </a:r>
              <a:endParaRPr lang="ko-KR" altLang="en-US" sz="12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012140" y="5454968"/>
              <a:ext cx="26161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 smtClean="0">
                  <a:latin typeface="함초롬돋움" pitchFamily="18" charset="-127"/>
                  <a:ea typeface="함초롬돋움" pitchFamily="18" charset="-127"/>
                  <a:cs typeface="함초롬돋움" pitchFamily="18" charset="-127"/>
                </a:rPr>
                <a:t>t </a:t>
              </a:r>
              <a:endParaRPr lang="ko-KR" altLang="en-US" sz="9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endParaRPr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2882995" y="4807828"/>
            <a:ext cx="2616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t </a:t>
            </a:r>
            <a:endParaRPr lang="ko-KR" altLang="en-US" sz="9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1925490" y="5209266"/>
            <a:ext cx="325504" cy="287463"/>
            <a:chOff x="1913353" y="5210312"/>
            <a:chExt cx="325504" cy="287463"/>
          </a:xfrm>
        </p:grpSpPr>
        <p:sp>
          <p:nvSpPr>
            <p:cNvPr id="48" name="TextBox 47"/>
            <p:cNvSpPr txBox="1"/>
            <p:nvPr/>
          </p:nvSpPr>
          <p:spPr>
            <a:xfrm>
              <a:off x="1913353" y="5210312"/>
              <a:ext cx="2824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>
                  <a:latin typeface="함초롬돋움" pitchFamily="18" charset="-127"/>
                  <a:ea typeface="함초롬돋움" pitchFamily="18" charset="-127"/>
                  <a:cs typeface="함초롬돋움" pitchFamily="18" charset="-127"/>
                </a:rPr>
                <a:t>C</a:t>
              </a:r>
              <a:endParaRPr lang="ko-KR" altLang="en-US" sz="12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014115" y="5266943"/>
              <a:ext cx="22474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latin typeface="함초롬돋움" pitchFamily="18" charset="-127"/>
                  <a:ea typeface="함초롬돋움" pitchFamily="18" charset="-127"/>
                  <a:cs typeface="함초롬돋움" pitchFamily="18" charset="-127"/>
                </a:rPr>
                <a:t>t</a:t>
              </a:r>
              <a:endParaRPr lang="ko-KR" altLang="en-US" sz="9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endParaRPr>
            </a:p>
          </p:txBody>
        </p:sp>
      </p:grpSp>
      <p:grpSp>
        <p:nvGrpSpPr>
          <p:cNvPr id="50" name="그룹 49"/>
          <p:cNvGrpSpPr/>
          <p:nvPr/>
        </p:nvGrpSpPr>
        <p:grpSpPr>
          <a:xfrm>
            <a:off x="1939839" y="5410212"/>
            <a:ext cx="338622" cy="276999"/>
            <a:chOff x="1935128" y="5410212"/>
            <a:chExt cx="338622" cy="276999"/>
          </a:xfrm>
        </p:grpSpPr>
        <p:sp>
          <p:nvSpPr>
            <p:cNvPr id="51" name="TextBox 50"/>
            <p:cNvSpPr txBox="1"/>
            <p:nvPr/>
          </p:nvSpPr>
          <p:spPr>
            <a:xfrm>
              <a:off x="1935128" y="5410212"/>
              <a:ext cx="2327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>
                  <a:latin typeface="함초롬돋움" pitchFamily="18" charset="-127"/>
                  <a:ea typeface="함초롬돋움" pitchFamily="18" charset="-127"/>
                  <a:cs typeface="함초롬돋움" pitchFamily="18" charset="-127"/>
                </a:rPr>
                <a:t>I</a:t>
              </a:r>
              <a:endParaRPr lang="ko-KR" altLang="en-US" sz="12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012140" y="5454968"/>
              <a:ext cx="26161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 smtClean="0">
                  <a:latin typeface="함초롬돋움" pitchFamily="18" charset="-127"/>
                  <a:ea typeface="함초롬돋움" pitchFamily="18" charset="-127"/>
                  <a:cs typeface="함초롬돋움" pitchFamily="18" charset="-127"/>
                </a:rPr>
                <a:t>t </a:t>
              </a:r>
              <a:endParaRPr lang="ko-KR" altLang="en-US" sz="9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endParaRPr>
            </a:p>
          </p:txBody>
        </p:sp>
      </p:grpSp>
      <p:sp>
        <p:nvSpPr>
          <p:cNvPr id="53" name="TextBox 52"/>
          <p:cNvSpPr txBox="1"/>
          <p:nvPr/>
        </p:nvSpPr>
        <p:spPr>
          <a:xfrm>
            <a:off x="1501119" y="4617911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=</a:t>
            </a:r>
            <a:endParaRPr lang="ko-KR" altLang="en-US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1908187" y="437516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∞</a:t>
            </a:r>
          </a:p>
        </p:txBody>
      </p:sp>
    </p:spTree>
    <p:extLst>
      <p:ext uri="{BB962C8B-B14F-4D97-AF65-F5344CB8AC3E}">
        <p14:creationId xmlns:p14="http://schemas.microsoft.com/office/powerpoint/2010/main" val="3745627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304138" y="6614796"/>
            <a:ext cx="5357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4 / 14</a:t>
            </a:r>
            <a:endParaRPr lang="ko-KR" altLang="en-US" sz="105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0" y="756745"/>
            <a:ext cx="9144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52248" y="204951"/>
            <a:ext cx="29161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1. </a:t>
            </a:r>
            <a:r>
              <a:rPr lang="ko-KR" altLang="en-US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기업가치평가모형</a:t>
            </a:r>
            <a:endParaRPr lang="ko-KR" altLang="en-US" sz="24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2242" y="1052622"/>
            <a:ext cx="8398453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회계변수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이익과 자기자본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ROE)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를 이용하여 기업의 주주지분가치를 평가하는 모형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현금흐름할인모형에 비하여 가치평가를 더 용이하게 할 잠재력을 가지고 있음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초과이익모형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(RIM, residual income valuation model)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주주지분가치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=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현재의 자기자본 금액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+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미래 초과이익의 현재가치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                  =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자기자본 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+</a:t>
            </a: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</a:p>
          <a:p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·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주주지분가치가 현재의 자기자본 금액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장부가치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)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에 미래 초과이익의 현재가치를 더한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것과 같음을 나타내며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미래의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ROE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가 필요수익률보다 높은 경우에은 가치가 창출되고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</a:t>
            </a: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반대의 경우에는 가치가 상실됨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 </a:t>
            </a:r>
          </a:p>
          <a:p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미래의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ROE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또는 초과이익은 가치의 창출여부를 결정하는 요인임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내재적 주가순자산비율 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: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주주지분가치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/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자기자본 장부가치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= 1+ (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미래초과이익의 현재가치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/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자기자본 장부가치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1812" y="204951"/>
            <a:ext cx="23326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4) </a:t>
            </a:r>
            <a:r>
              <a:rPr lang="ko-KR" altLang="en-US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초과이익모형</a:t>
            </a:r>
            <a:endParaRPr lang="ko-KR" altLang="en-US" sz="24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3207604" y="2889586"/>
            <a:ext cx="5339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Σ</a:t>
            </a:r>
            <a:endParaRPr lang="ko-KR" altLang="en-US" sz="3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259640" y="3397417"/>
            <a:ext cx="4058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t=1</a:t>
            </a:r>
            <a:endParaRPr lang="ko-KR" altLang="en-US" sz="12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cxnSp>
        <p:nvCxnSpPr>
          <p:cNvPr id="55" name="직선 연결선 54"/>
          <p:cNvCxnSpPr/>
          <p:nvPr/>
        </p:nvCxnSpPr>
        <p:spPr>
          <a:xfrm>
            <a:off x="3575330" y="3226057"/>
            <a:ext cx="10942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849460" y="3607167"/>
            <a:ext cx="30299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초과이익</a:t>
            </a:r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t = </a:t>
            </a:r>
            <a:r>
              <a:rPr lang="ko-KR" altLang="en-US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포괄이익</a:t>
            </a:r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t – r</a:t>
            </a:r>
            <a:r>
              <a:rPr lang="en-US" altLang="ko-KR" sz="10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e</a:t>
            </a:r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· </a:t>
            </a:r>
            <a:r>
              <a:rPr lang="ko-KR" altLang="en-US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자기자본 </a:t>
            </a:r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t -1</a:t>
            </a:r>
          </a:p>
          <a:p>
            <a:r>
              <a:rPr lang="en-US" altLang="ko-KR" sz="12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       = (ROEt – r</a:t>
            </a:r>
            <a:r>
              <a:rPr lang="en-US" altLang="ko-KR" sz="10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e</a:t>
            </a:r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) · </a:t>
            </a:r>
            <a:r>
              <a:rPr lang="ko-KR" altLang="en-US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자기자본 </a:t>
            </a:r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t -1</a:t>
            </a:r>
          </a:p>
          <a:p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= </a:t>
            </a:r>
            <a:r>
              <a:rPr lang="ko-KR" altLang="en-US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필요수익률</a:t>
            </a:r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</a:t>
            </a:r>
            <a:r>
              <a:rPr lang="ko-KR" altLang="en-US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자기자본비용</a:t>
            </a:r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53056" y="3980499"/>
            <a:ext cx="2503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r</a:t>
            </a:r>
            <a:endParaRPr lang="ko-KR" altLang="en-US" sz="12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916793" y="4044253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e</a:t>
            </a:r>
            <a:endParaRPr lang="ko-KR" altLang="en-US" sz="8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3242983" y="2783100"/>
            <a:ext cx="409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∞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681747" y="3069982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0</a:t>
            </a:r>
            <a:endParaRPr lang="ko-KR" altLang="en-US" sz="12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3743464" y="3243461"/>
            <a:ext cx="6335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(1+r  )</a:t>
            </a:r>
            <a:endParaRPr lang="ko-KR" altLang="en-US" sz="12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3575330" y="2902578"/>
            <a:ext cx="9797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초과이익</a:t>
            </a:r>
            <a:endParaRPr lang="ko-KR" altLang="en-US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186195" y="3184633"/>
            <a:ext cx="2391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t</a:t>
            </a:r>
            <a:endParaRPr lang="ko-KR" altLang="en-US" sz="105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046797" y="3279813"/>
            <a:ext cx="2568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e</a:t>
            </a:r>
            <a:endParaRPr lang="ko-KR" altLang="en-US" sz="10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4410068" y="3006328"/>
            <a:ext cx="2391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t</a:t>
            </a:r>
            <a:endParaRPr lang="ko-KR" altLang="en-US" sz="105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022" y="2928192"/>
            <a:ext cx="937837" cy="975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0350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304138" y="6614796"/>
            <a:ext cx="5357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5 / 14</a:t>
            </a:r>
            <a:endParaRPr lang="ko-KR" altLang="en-US" sz="105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0" y="756745"/>
            <a:ext cx="9144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52248" y="204951"/>
            <a:ext cx="29161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1. </a:t>
            </a:r>
            <a:r>
              <a:rPr lang="ko-KR" altLang="en-US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기업가치평가모형</a:t>
            </a:r>
            <a:endParaRPr lang="ko-KR" altLang="en-US" sz="24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2242" y="1052622"/>
            <a:ext cx="889175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EVA(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경제적부가가치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)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와 영업투하자본을 이용하여 기업의 가치를 평가하는 모형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초과이익이 자기자본에 관한 것인데 비하여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EVA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는 기업전체의 영업투하자본과 관련하여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정의되는 초과이익임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</a:t>
            </a:r>
          </a:p>
          <a:p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EVA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모형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(economic value added)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기업가치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=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현재의 영업투하자본금액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+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미래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EVA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의 현재가치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</a:t>
            </a: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              =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영업투하자본 </a:t>
            </a:r>
            <a:r>
              <a:rPr lang="en-US" altLang="ko-KR" sz="11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0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+ </a:t>
            </a:r>
          </a:p>
          <a:p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 </a:t>
            </a: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               EVAt =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세후순영업이익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t – r</a:t>
            </a:r>
            <a:r>
              <a:rPr lang="en-US" altLang="ko-KR" sz="11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w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·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영업투하자본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t – 1</a:t>
            </a: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                      = (ROICt – r</a:t>
            </a:r>
            <a:r>
              <a:rPr lang="en-US" altLang="ko-KR" sz="11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w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) ·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영업투하자본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t – 1</a:t>
            </a: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               r</a:t>
            </a:r>
            <a:r>
              <a:rPr lang="en-US" altLang="ko-KR" sz="11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w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=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가중평균 자본비용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·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기업의 가치는 현재의 영업투하자본금액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장부가치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)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에 미래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EVA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의 현재가치를 더한 것과 같음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·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현재의 영업투하자본 금액은 기업의 자본 투자액을 나타내며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기업의 가치가 그보다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큰지의 여부는 미래의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EVA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에 달려 있음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</a:t>
            </a:r>
          </a:p>
          <a:p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EVA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의 현재가치가 기업가치 창출액을 나타냄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64391" y="204951"/>
            <a:ext cx="18101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5) EVA </a:t>
            </a:r>
            <a:r>
              <a:rPr lang="ko-KR" altLang="en-US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모</a:t>
            </a:r>
            <a:r>
              <a:rPr lang="ko-KR" altLang="en-US" sz="24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형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3361749" y="2967703"/>
            <a:ext cx="533999" cy="945746"/>
            <a:chOff x="4155376" y="3305084"/>
            <a:chExt cx="533999" cy="945746"/>
          </a:xfrm>
        </p:grpSpPr>
        <p:sp>
          <p:nvSpPr>
            <p:cNvPr id="20" name="직사각형 19"/>
            <p:cNvSpPr/>
            <p:nvPr/>
          </p:nvSpPr>
          <p:spPr>
            <a:xfrm>
              <a:off x="4155376" y="3466000"/>
              <a:ext cx="533999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3600" dirty="0">
                  <a:latin typeface="함초롬돋움" pitchFamily="18" charset="-127"/>
                  <a:ea typeface="함초롬돋움" pitchFamily="18" charset="-127"/>
                  <a:cs typeface="함초롬돋움" pitchFamily="18" charset="-127"/>
                </a:rPr>
                <a:t>Σ</a:t>
              </a:r>
              <a:endParaRPr lang="ko-KR" altLang="en-US" sz="3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207412" y="3973831"/>
              <a:ext cx="4058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>
                  <a:latin typeface="함초롬돋움" pitchFamily="18" charset="-127"/>
                  <a:ea typeface="함초롬돋움" pitchFamily="18" charset="-127"/>
                  <a:cs typeface="함초롬돋움" pitchFamily="18" charset="-127"/>
                </a:rPr>
                <a:t>t=1</a:t>
              </a:r>
              <a:endParaRPr lang="ko-KR" altLang="en-US" sz="12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4190755" y="3305084"/>
              <a:ext cx="4090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dirty="0">
                  <a:latin typeface="함초롬돋움" pitchFamily="18" charset="-127"/>
                  <a:ea typeface="함초롬돋움" pitchFamily="18" charset="-127"/>
                  <a:cs typeface="함초롬돋움" pitchFamily="18" charset="-127"/>
                </a:rPr>
                <a:t>∞</a:t>
              </a: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3732628" y="3440547"/>
            <a:ext cx="6335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(1+r  )</a:t>
            </a:r>
            <a:endParaRPr lang="ko-KR" altLang="en-US" sz="12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cxnSp>
        <p:nvCxnSpPr>
          <p:cNvPr id="28" name="직선 연결선 27"/>
          <p:cNvCxnSpPr/>
          <p:nvPr/>
        </p:nvCxnSpPr>
        <p:spPr>
          <a:xfrm>
            <a:off x="3786068" y="3435816"/>
            <a:ext cx="5503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021027" y="3487653"/>
            <a:ext cx="2824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w</a:t>
            </a:r>
            <a:endParaRPr lang="ko-KR" altLang="en-US" sz="10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799035" y="3171223"/>
            <a:ext cx="473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EVA</a:t>
            </a:r>
            <a:endParaRPr lang="ko-KR" altLang="en-US" sz="12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79950" y="3381052"/>
            <a:ext cx="26481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t </a:t>
            </a:r>
            <a:endParaRPr lang="ko-KR" altLang="en-US" sz="9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120726" y="3217390"/>
            <a:ext cx="26481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t </a:t>
            </a:r>
            <a:endParaRPr lang="ko-KR" altLang="en-US" sz="9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64" y="3133150"/>
            <a:ext cx="937837" cy="975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6774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304138" y="6614796"/>
            <a:ext cx="5357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6 / 14</a:t>
            </a:r>
            <a:endParaRPr lang="ko-KR" altLang="en-US" sz="105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0" y="756745"/>
            <a:ext cx="9144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52248" y="204951"/>
            <a:ext cx="5490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2. </a:t>
            </a:r>
            <a:r>
              <a:rPr lang="ko-KR" altLang="en-US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기업가치 모형 적용사례 </a:t>
            </a:r>
            <a:r>
              <a:rPr lang="en-US" altLang="ko-KR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/ </a:t>
            </a:r>
            <a:r>
              <a:rPr lang="ko-KR" altLang="en-US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㈜엘지화학</a:t>
            </a:r>
            <a:endParaRPr lang="ko-KR" altLang="en-US" sz="24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38129" y="204951"/>
            <a:ext cx="1736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1) </a:t>
            </a:r>
            <a:r>
              <a:rPr lang="ko-KR" altLang="en-US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회사개요</a:t>
            </a:r>
            <a:endParaRPr lang="ko-KR" altLang="en-US" sz="24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451458"/>
              </p:ext>
            </p:extLst>
          </p:nvPr>
        </p:nvGraphicFramePr>
        <p:xfrm>
          <a:off x="937146" y="1096751"/>
          <a:ext cx="7128681" cy="4826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66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2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회</a:t>
                      </a:r>
                      <a:r>
                        <a:rPr lang="ko-KR" altLang="en-US" sz="1600" baseline="0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 사 명</a:t>
                      </a:r>
                      <a:endParaRPr lang="ko-KR" altLang="en-US" sz="1600" dirty="0">
                        <a:latin typeface="함초롬돋움" pitchFamily="18" charset="-127"/>
                        <a:ea typeface="함초롬돋움" pitchFamily="18" charset="-127"/>
                        <a:cs typeface="함초롬돋움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주식회사 엘지화학</a:t>
                      </a:r>
                      <a:endParaRPr lang="ko-KR" altLang="en-US" sz="1600" dirty="0">
                        <a:latin typeface="함초롬돋움" pitchFamily="18" charset="-127"/>
                        <a:ea typeface="함초롬돋움" pitchFamily="18" charset="-127"/>
                        <a:cs typeface="함초롬돋움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2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영문이름</a:t>
                      </a:r>
                      <a:endParaRPr lang="ko-KR" altLang="en-US" sz="1600" dirty="0">
                        <a:latin typeface="함초롬돋움" pitchFamily="18" charset="-127"/>
                        <a:ea typeface="함초롬돋움" pitchFamily="18" charset="-127"/>
                        <a:cs typeface="함초롬돋움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LG CHEM,</a:t>
                      </a:r>
                      <a:r>
                        <a:rPr lang="en-US" altLang="ko-KR" sz="1600" baseline="0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 LTD.</a:t>
                      </a:r>
                      <a:endParaRPr lang="ko-KR" altLang="en-US" sz="1600" dirty="0">
                        <a:latin typeface="함초롬돋움" pitchFamily="18" charset="-127"/>
                        <a:ea typeface="함초롬돋움" pitchFamily="18" charset="-127"/>
                        <a:cs typeface="함초롬돋움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대표자명</a:t>
                      </a:r>
                      <a:endParaRPr lang="ko-KR" altLang="en-US" sz="1600" dirty="0">
                        <a:latin typeface="함초롬돋움" pitchFamily="18" charset="-127"/>
                        <a:ea typeface="함초롬돋움" pitchFamily="18" charset="-127"/>
                        <a:cs typeface="함초롬돋움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박 진 수</a:t>
                      </a:r>
                      <a:endParaRPr lang="ko-KR" altLang="en-US" sz="1600" dirty="0">
                        <a:latin typeface="함초롬돋움" pitchFamily="18" charset="-127"/>
                        <a:ea typeface="함초롬돋움" pitchFamily="18" charset="-127"/>
                        <a:cs typeface="함초롬돋움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2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사업자등록번호</a:t>
                      </a:r>
                      <a:endParaRPr lang="ko-KR" altLang="en-US" sz="1600" dirty="0">
                        <a:latin typeface="함초롬돋움" pitchFamily="18" charset="-127"/>
                        <a:ea typeface="함초롬돋움" pitchFamily="18" charset="-127"/>
                        <a:cs typeface="함초롬돋움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107-81-98139</a:t>
                      </a:r>
                      <a:endParaRPr lang="ko-KR" altLang="en-US" sz="1600" dirty="0">
                        <a:latin typeface="함초롬돋움" pitchFamily="18" charset="-127"/>
                        <a:ea typeface="함초롬돋움" pitchFamily="18" charset="-127"/>
                        <a:cs typeface="함초롬돋움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2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본점 소재지</a:t>
                      </a:r>
                      <a:endParaRPr lang="ko-KR" altLang="en-US" sz="1600" dirty="0">
                        <a:latin typeface="함초롬돋움" pitchFamily="18" charset="-127"/>
                        <a:ea typeface="함초롬돋움" pitchFamily="18" charset="-127"/>
                        <a:cs typeface="함초롬돋움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서울 특별시 영등포구 여의대로 </a:t>
                      </a:r>
                      <a:r>
                        <a:rPr lang="en-US" altLang="ko-KR" sz="1600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128</a:t>
                      </a:r>
                      <a:endParaRPr lang="ko-KR" altLang="en-US" sz="1600" dirty="0">
                        <a:latin typeface="함초롬돋움" pitchFamily="18" charset="-127"/>
                        <a:ea typeface="함초롬돋움" pitchFamily="18" charset="-127"/>
                        <a:cs typeface="함초롬돋움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2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설립일자</a:t>
                      </a:r>
                      <a:endParaRPr lang="ko-KR" altLang="en-US" sz="1600" dirty="0">
                        <a:latin typeface="함초롬돋움" pitchFamily="18" charset="-127"/>
                        <a:ea typeface="함초롬돋움" pitchFamily="18" charset="-127"/>
                        <a:cs typeface="함초롬돋움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2001</a:t>
                      </a:r>
                      <a:r>
                        <a:rPr lang="ko-KR" altLang="en-US" sz="1600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년 </a:t>
                      </a:r>
                      <a:r>
                        <a:rPr lang="en-US" altLang="ko-KR" sz="1600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4</a:t>
                      </a:r>
                      <a:r>
                        <a:rPr lang="ko-KR" altLang="en-US" sz="1600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월 </a:t>
                      </a:r>
                      <a:r>
                        <a:rPr lang="en-US" altLang="ko-KR" sz="1600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</a:t>
                      </a:r>
                      <a:r>
                        <a:rPr lang="ko-KR" altLang="en-US" sz="1600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일 기존의 </a:t>
                      </a:r>
                      <a:r>
                        <a:rPr lang="en-US" altLang="ko-KR" sz="1600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(</a:t>
                      </a:r>
                      <a:r>
                        <a:rPr lang="ko-KR" altLang="en-US" sz="1600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주</a:t>
                      </a:r>
                      <a:r>
                        <a:rPr lang="en-US" altLang="ko-KR" sz="1600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)LG</a:t>
                      </a:r>
                      <a:r>
                        <a:rPr lang="ko-KR" altLang="en-US" sz="1600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화학에서 분할</a:t>
                      </a:r>
                      <a:r>
                        <a:rPr lang="en-US" altLang="ko-KR" sz="1600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,</a:t>
                      </a:r>
                      <a:r>
                        <a:rPr lang="en-US" altLang="ko-KR" sz="1600" baseline="0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 </a:t>
                      </a:r>
                      <a:r>
                        <a:rPr lang="ko-KR" altLang="en-US" sz="1600" baseline="0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신설</a:t>
                      </a:r>
                      <a:endParaRPr lang="ko-KR" altLang="en-US" sz="1600" dirty="0">
                        <a:latin typeface="함초롬돋움" pitchFamily="18" charset="-127"/>
                        <a:ea typeface="함초롬돋움" pitchFamily="18" charset="-127"/>
                        <a:cs typeface="함초롬돋움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2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대표전화</a:t>
                      </a:r>
                      <a:endParaRPr lang="ko-KR" altLang="en-US" sz="1600" dirty="0">
                        <a:latin typeface="함초롬돋움" pitchFamily="18" charset="-127"/>
                        <a:ea typeface="함초롬돋움" pitchFamily="18" charset="-127"/>
                        <a:cs typeface="함초롬돋움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02 ) 3773 - 1114</a:t>
                      </a:r>
                      <a:endParaRPr lang="ko-KR" altLang="en-US" sz="1600" dirty="0">
                        <a:latin typeface="함초롬돋움" pitchFamily="18" charset="-127"/>
                        <a:ea typeface="함초롬돋움" pitchFamily="18" charset="-127"/>
                        <a:cs typeface="함초롬돋움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32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사업자등록번호</a:t>
                      </a:r>
                      <a:endParaRPr lang="ko-KR" altLang="en-US" sz="1600" dirty="0">
                        <a:latin typeface="함초롬돋움" pitchFamily="18" charset="-127"/>
                        <a:ea typeface="함초롬돋움" pitchFamily="18" charset="-127"/>
                        <a:cs typeface="함초롬돋움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http://www.lgchem.com</a:t>
                      </a:r>
                      <a:endParaRPr lang="ko-KR" altLang="en-US" sz="1600" dirty="0">
                        <a:latin typeface="함초롬돋움" pitchFamily="18" charset="-127"/>
                        <a:ea typeface="함초롬돋움" pitchFamily="18" charset="-127"/>
                        <a:cs typeface="함초롬돋움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2446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304138" y="6614796"/>
            <a:ext cx="5357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7</a:t>
            </a:r>
            <a:r>
              <a:rPr lang="en-US" altLang="ko-KR" sz="105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/ 14</a:t>
            </a:r>
            <a:endParaRPr lang="ko-KR" altLang="en-US" sz="105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0" y="756745"/>
            <a:ext cx="9144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52248" y="204951"/>
            <a:ext cx="36984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2. </a:t>
            </a:r>
            <a:r>
              <a:rPr lang="ko-KR" altLang="en-US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기업가치 모형 적용사례</a:t>
            </a:r>
            <a:endParaRPr lang="ko-KR" altLang="en-US" sz="24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38129" y="204951"/>
            <a:ext cx="1736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2) </a:t>
            </a:r>
            <a:r>
              <a:rPr lang="ko-KR" altLang="en-US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회사소개</a:t>
            </a:r>
            <a:endParaRPr lang="ko-KR" altLang="en-US" sz="24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348" y="989558"/>
            <a:ext cx="914400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㈜엘지화학은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2001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년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4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월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1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일을 기준으로 주식회사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LGCI(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현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주식회사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LG ·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구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주식회사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LG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화학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)</a:t>
            </a: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가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분할되어 설립되었음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</a:t>
            </a:r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엘지화학의 자본금은 </a:t>
            </a:r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2016.3Q </a:t>
            </a:r>
            <a:r>
              <a:rPr lang="ko-KR" altLang="en-US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기준으로 우선주 자본금 </a:t>
            </a:r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38,144</a:t>
            </a:r>
            <a:r>
              <a:rPr lang="ko-KR" altLang="en-US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백만원을 포함한 </a:t>
            </a:r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369,500</a:t>
            </a:r>
            <a:r>
              <a:rPr lang="ko-KR" altLang="en-US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백만원</a:t>
            </a:r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</a:t>
            </a:r>
            <a:r>
              <a:rPr lang="ko-KR" altLang="en-US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이며</a:t>
            </a:r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회사의 최대주주는 주식회사 </a:t>
            </a:r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LG</a:t>
            </a:r>
            <a:r>
              <a:rPr lang="ko-KR" altLang="en-US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임</a:t>
            </a:r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 </a:t>
            </a:r>
            <a:r>
              <a:rPr lang="ko-KR" altLang="en-US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엘지화학은 보통주 지분의 </a:t>
            </a:r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33.53% </a:t>
            </a:r>
            <a:r>
              <a:rPr lang="ko-KR" altLang="en-US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소유하고 있음</a:t>
            </a:r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</a:t>
            </a:r>
          </a:p>
          <a:p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회사는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여수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대산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오창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청주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울산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나주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익산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파주 및 김천 등지에 제조시설을 가지고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</a:t>
            </a:r>
          </a:p>
          <a:p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</a:t>
            </a:r>
            <a:r>
              <a:rPr lang="ko-KR" altLang="en-US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기초소재사업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전지사업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정보전자소재사업</a:t>
            </a:r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및 재료사업을 영위하고 있음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</a:t>
            </a:r>
          </a:p>
          <a:p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또한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회사는 작물보호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종자 및 비료 등을 제조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판매하는 ㈜팜한농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구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동부팜한농㈜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)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을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2016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년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4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월 인수하여 사업을 운영하고 있음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</a:t>
            </a:r>
          </a:p>
          <a:p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종속기업으로는 중국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홍콩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미국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인도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대만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독일 등의 해외 현지 회사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40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개이며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관계기업은 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6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개사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공동기업은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5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개사로 운영하고 있음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</a:t>
            </a:r>
          </a:p>
          <a:p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엘지화학의 업체건전성을 보여주는 부채비율은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15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년말 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41.8%, 16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년 반기기준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47.3%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로서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100%</a:t>
            </a:r>
            <a:r>
              <a:rPr lang="ko-KR" altLang="en-US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이하의 건전성을 보임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</a:t>
            </a:r>
          </a:p>
          <a:p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엘지화학은 신약개발부문인 엘지생명과학과 흡수합병을 결정하였으며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안정적인 신약개발 투자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확대를 제고할 계획임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동 사항은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’16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년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9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월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12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일 이사회에서 결의되었고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’16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년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11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월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28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일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임시주주총회에서 승인 될 예정임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2053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304138" y="6614796"/>
            <a:ext cx="5357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8 / 14</a:t>
            </a:r>
            <a:endParaRPr lang="ko-KR" altLang="en-US" sz="105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832483"/>
              </p:ext>
            </p:extLst>
          </p:nvPr>
        </p:nvGraphicFramePr>
        <p:xfrm>
          <a:off x="549725" y="861573"/>
          <a:ext cx="7973788" cy="5691616"/>
        </p:xfrm>
        <a:graphic>
          <a:graphicData uri="http://schemas.openxmlformats.org/drawingml/2006/table">
            <a:tbl>
              <a:tblPr/>
              <a:tblGrid>
                <a:gridCol w="1227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33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33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33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33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33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33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332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63207"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900" dirty="0">
                          <a:effectLst/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주요재무정보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ko-KR" altLang="en-US" sz="900" dirty="0"/>
                        <a:t>연간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4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‘11/12 </a:t>
                      </a:r>
                      <a:r>
                        <a:rPr lang="en-US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/>
                      </a:r>
                      <a:br>
                        <a:rPr lang="en-US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</a:br>
                      <a:r>
                        <a:rPr lang="en-US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(IFRS</a:t>
                      </a:r>
                      <a:r>
                        <a:rPr lang="ko-KR" altLang="en-US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연결</a:t>
                      </a:r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) 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‘12/12 </a:t>
                      </a:r>
                      <a:r>
                        <a:rPr lang="en-US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/>
                      </a:r>
                      <a:br>
                        <a:rPr lang="en-US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</a:br>
                      <a:r>
                        <a:rPr lang="en-US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(IFRS</a:t>
                      </a:r>
                      <a:r>
                        <a:rPr lang="ko-KR" altLang="en-US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연결</a:t>
                      </a:r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) 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‘13/12 </a:t>
                      </a:r>
                      <a:r>
                        <a:rPr lang="en-US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/>
                      </a:r>
                      <a:br>
                        <a:rPr lang="en-US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</a:br>
                      <a:r>
                        <a:rPr lang="en-US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(IFRS</a:t>
                      </a:r>
                      <a:r>
                        <a:rPr lang="ko-KR" altLang="en-US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연결</a:t>
                      </a:r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) 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‘14/12 </a:t>
                      </a:r>
                      <a:r>
                        <a:rPr lang="en-US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/>
                      </a:r>
                      <a:br>
                        <a:rPr lang="en-US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</a:br>
                      <a:r>
                        <a:rPr lang="en-US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(IFRS</a:t>
                      </a:r>
                      <a:r>
                        <a:rPr lang="ko-KR" altLang="en-US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연결</a:t>
                      </a:r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) 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‘15/12 </a:t>
                      </a:r>
                      <a:r>
                        <a:rPr lang="en-US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/>
                      </a:r>
                      <a:br>
                        <a:rPr lang="en-US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</a:br>
                      <a:r>
                        <a:rPr lang="en-US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(IFRS</a:t>
                      </a:r>
                      <a:r>
                        <a:rPr lang="ko-KR" altLang="en-US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연결</a:t>
                      </a:r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) 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‘16/12(E</a:t>
                      </a:r>
                      <a:r>
                        <a:rPr 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) </a:t>
                      </a:r>
                      <a:br>
                        <a:rPr 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</a:br>
                      <a:r>
                        <a:rPr 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(IFRS</a:t>
                      </a:r>
                      <a:r>
                        <a:rPr lang="ko-KR" alt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연결</a:t>
                      </a:r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) 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‘17/12(E</a:t>
                      </a:r>
                      <a:r>
                        <a:rPr 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) </a:t>
                      </a:r>
                      <a:br>
                        <a:rPr 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</a:br>
                      <a:r>
                        <a:rPr 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(IFRS</a:t>
                      </a:r>
                      <a:r>
                        <a:rPr lang="ko-KR" alt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연결</a:t>
                      </a:r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) 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‘18/12(E</a:t>
                      </a:r>
                      <a:r>
                        <a:rPr 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) </a:t>
                      </a:r>
                      <a:br>
                        <a:rPr 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</a:br>
                      <a:r>
                        <a:rPr 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(IFRS</a:t>
                      </a:r>
                      <a:r>
                        <a:rPr lang="ko-KR" alt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연결</a:t>
                      </a:r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) 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207"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매출액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226,756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232,630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231,436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225,778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202,066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203,822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218,663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227,900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207"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영업이익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28,188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19,103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17,430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13,108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18,236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19,394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20,852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21,305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207"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세전계속사업이익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27,966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18,805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16,013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11,599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15,496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16,801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19,261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19,855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3207">
                <a:tc>
                  <a:txBody>
                    <a:bodyPr/>
                    <a:lstStyle/>
                    <a:p>
                      <a:r>
                        <a:rPr lang="ko-KR" altLang="en-US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당기순이익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21,697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15,063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12,706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8,540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11,485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12,916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14,727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15,185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3207"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  당기순이익</a:t>
                      </a:r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(</a:t>
                      </a:r>
                      <a:r>
                        <a:rPr lang="ko-KR" alt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지배</a:t>
                      </a:r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)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21,379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14,945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12,660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8,679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11,530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12,949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14,739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15,190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0379"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  당기순이익</a:t>
                      </a:r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(</a:t>
                      </a:r>
                      <a:r>
                        <a:rPr lang="ko-KR" alt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비지배</a:t>
                      </a:r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)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317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119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46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-139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-45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900" dirty="0">
                        <a:latin typeface="함초롬돋움" pitchFamily="18" charset="-127"/>
                        <a:ea typeface="함초롬돋움" pitchFamily="18" charset="-127"/>
                        <a:cs typeface="함초롬돋움" pitchFamily="18" charset="-127"/>
                      </a:endParaRP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900" dirty="0">
                        <a:latin typeface="함초롬돋움" pitchFamily="18" charset="-127"/>
                        <a:ea typeface="함초롬돋움" pitchFamily="18" charset="-127"/>
                        <a:cs typeface="함초롬돋움" pitchFamily="18" charset="-127"/>
                      </a:endParaRP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900" dirty="0">
                        <a:latin typeface="함초롬돋움" pitchFamily="18" charset="-127"/>
                        <a:ea typeface="함초롬돋움" pitchFamily="18" charset="-127"/>
                        <a:cs typeface="함초롬돋움" pitchFamily="18" charset="-127"/>
                      </a:endParaRP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3207">
                <a:tc>
                  <a:txBody>
                    <a:bodyPr/>
                    <a:lstStyle/>
                    <a:p>
                      <a:r>
                        <a:rPr lang="ko-KR" altLang="en-US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자산총계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152,856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165,812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174,465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181,276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185,787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199,969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212,515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224,936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3207">
                <a:tc>
                  <a:txBody>
                    <a:bodyPr/>
                    <a:lstStyle/>
                    <a:p>
                      <a:r>
                        <a:rPr lang="ko-KR" altLang="en-US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부채총계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55,779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58,158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57,208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58,618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54,752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60,021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60,737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61,163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3207">
                <a:tc>
                  <a:txBody>
                    <a:bodyPr/>
                    <a:lstStyle/>
                    <a:p>
                      <a:r>
                        <a:rPr lang="ko-KR" altLang="en-US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자본총계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97,077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107,654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117,257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122,659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131,035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140,015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151,900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163,845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3207"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  자본총계</a:t>
                      </a:r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(</a:t>
                      </a:r>
                      <a:r>
                        <a:rPr lang="ko-KR" alt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지배</a:t>
                      </a:r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)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95,535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106,293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115,969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121,399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129,915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139,168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151,253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163,397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3207"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  자본총계</a:t>
                      </a:r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(</a:t>
                      </a:r>
                      <a:r>
                        <a:rPr lang="ko-KR" alt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비지배</a:t>
                      </a:r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)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1,542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1,361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1,287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1,259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1,121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900" dirty="0">
                        <a:latin typeface="함초롬돋움" pitchFamily="18" charset="-127"/>
                        <a:ea typeface="함초롬돋움" pitchFamily="18" charset="-127"/>
                        <a:cs typeface="함초롬돋움" pitchFamily="18" charset="-127"/>
                      </a:endParaRP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900" dirty="0">
                        <a:latin typeface="함초롬돋움" pitchFamily="18" charset="-127"/>
                        <a:ea typeface="함초롬돋움" pitchFamily="18" charset="-127"/>
                        <a:cs typeface="함초롬돋움" pitchFamily="18" charset="-127"/>
                      </a:endParaRP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900" dirty="0">
                        <a:latin typeface="함초롬돋움" pitchFamily="18" charset="-127"/>
                        <a:ea typeface="함초롬돋움" pitchFamily="18" charset="-127"/>
                        <a:cs typeface="함초롬돋움" pitchFamily="18" charset="-127"/>
                      </a:endParaRP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3207">
                <a:tc>
                  <a:txBody>
                    <a:bodyPr/>
                    <a:lstStyle/>
                    <a:p>
                      <a:r>
                        <a:rPr lang="ko-KR" altLang="en-US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자본금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3,695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3,695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3,695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3,695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3,695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3,697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3,708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3,708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3207"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영업활동현금흐름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22,403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17,657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21,829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19,944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31,721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27,284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28,144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29,849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3207"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투자활동현금흐름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-22,804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-26,546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-13,103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-19,907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-16,978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-19,734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-20,072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-18,916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3207"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재무활동현금흐름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630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2,461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-1,988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-4,377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-7,575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-3,556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-3,239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-3,421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3207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CAPEX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21,954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19,074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13,607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14,113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16,334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17,372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18,728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18,411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3207">
                <a:tc>
                  <a:txBody>
                    <a:bodyPr/>
                    <a:lstStyle/>
                    <a:p>
                      <a:r>
                        <a:rPr lang="en-US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FCF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449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-1,417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8,222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5,832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15,387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11,564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10,337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11,186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3207"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이자발생부채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25,267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29,469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30,105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29,336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26,587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900" dirty="0">
                        <a:latin typeface="함초롬돋움" pitchFamily="18" charset="-127"/>
                        <a:ea typeface="함초롬돋움" pitchFamily="18" charset="-127"/>
                        <a:cs typeface="함초롬돋움" pitchFamily="18" charset="-127"/>
                      </a:endParaRP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900" dirty="0">
                        <a:latin typeface="함초롬돋움" pitchFamily="18" charset="-127"/>
                        <a:ea typeface="함초롬돋움" pitchFamily="18" charset="-127"/>
                        <a:cs typeface="함초롬돋움" pitchFamily="18" charset="-127"/>
                      </a:endParaRP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900" dirty="0">
                        <a:latin typeface="함초롬돋움" pitchFamily="18" charset="-127"/>
                        <a:ea typeface="함초롬돋움" pitchFamily="18" charset="-127"/>
                        <a:cs typeface="함초롬돋움" pitchFamily="18" charset="-127"/>
                      </a:endParaRP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3207"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영업이익률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12.43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8.21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7.53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5.81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9.03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9.52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9.54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9.35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3207"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순이익률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9.57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6.48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5.49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3.78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5.68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6.34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6.73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6.66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3207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ROE(%)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24.78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14.81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11.39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7.31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9.18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9.62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10.15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9.65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3207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ROA(%)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15.52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9.45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7.47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4.80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6.26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6.70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7.14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6.94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3207"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부채비율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57.46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54.02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48.79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47.79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41.78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42.87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39.98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37.33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63207"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자본유보율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2,492.85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2,804.46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3,066.41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3,206.60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3,434.44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900" dirty="0">
                        <a:latin typeface="함초롬돋움" pitchFamily="18" charset="-127"/>
                        <a:ea typeface="함초롬돋움" pitchFamily="18" charset="-127"/>
                        <a:cs typeface="함초롬돋움" pitchFamily="18" charset="-127"/>
                      </a:endParaRP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900" dirty="0">
                        <a:latin typeface="함초롬돋움" pitchFamily="18" charset="-127"/>
                        <a:ea typeface="함초롬돋움" pitchFamily="18" charset="-127"/>
                        <a:cs typeface="함초롬돋움" pitchFamily="18" charset="-127"/>
                      </a:endParaRP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900" dirty="0">
                        <a:latin typeface="함초롬돋움" pitchFamily="18" charset="-127"/>
                        <a:ea typeface="함초롬돋움" pitchFamily="18" charset="-127"/>
                        <a:cs typeface="함초롬돋움" pitchFamily="18" charset="-127"/>
                      </a:endParaRP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63207">
                <a:tc>
                  <a:txBody>
                    <a:bodyPr/>
                    <a:lstStyle/>
                    <a:p>
                      <a:r>
                        <a:rPr lang="en-US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EPS(</a:t>
                      </a:r>
                      <a:r>
                        <a:rPr lang="ko-KR" altLang="en-US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원</a:t>
                      </a:r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)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28,930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20,223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17,131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11,745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15,602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17,522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19,944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20,555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63207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PER(</a:t>
                      </a:r>
                      <a:r>
                        <a:rPr lang="ko-KR" alt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배</a:t>
                      </a:r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)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10.97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16.32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17.48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15.41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21.06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13.87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12.18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11.82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63207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BPS(</a:t>
                      </a:r>
                      <a:r>
                        <a:rPr lang="ko-KR" alt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원</a:t>
                      </a:r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)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129,918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144,548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157,707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165,091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176,671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189,255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205,689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222,205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63207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PBR(</a:t>
                      </a:r>
                      <a:r>
                        <a:rPr lang="ko-KR" alt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배</a:t>
                      </a:r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)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2.44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2.28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1.90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1.10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1.86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1.28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1.18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1.09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63207">
                <a:tc>
                  <a:txBody>
                    <a:bodyPr/>
                    <a:lstStyle/>
                    <a:p>
                      <a:r>
                        <a:rPr lang="ko-KR" altLang="en-US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현금</a:t>
                      </a:r>
                      <a:r>
                        <a:rPr lang="en-US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DPS(</a:t>
                      </a:r>
                      <a:r>
                        <a:rPr lang="ko-KR" altLang="en-US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원</a:t>
                      </a:r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)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4,000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4,000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4,000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4,000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4,500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4,525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4,575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4,605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63207">
                <a:tc>
                  <a:txBody>
                    <a:bodyPr/>
                    <a:lstStyle/>
                    <a:p>
                      <a:r>
                        <a:rPr lang="ko-KR" altLang="en-US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현금배당수익률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1.26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1.21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1.34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2.21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1.37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1.86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1.88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1.90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63207">
                <a:tc>
                  <a:txBody>
                    <a:bodyPr/>
                    <a:lstStyle/>
                    <a:p>
                      <a:r>
                        <a:rPr lang="ko-KR" altLang="en-US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현금배당성향</a:t>
                      </a:r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(%)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13.78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19.71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23.26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33.93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28.73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0.26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0.23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0.22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60379"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발행주식수</a:t>
                      </a:r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(</a:t>
                      </a:r>
                      <a:r>
                        <a:rPr lang="ko-KR" altLang="en-US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보통주</a:t>
                      </a:r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)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66,271,100</a:t>
                      </a: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66,271,100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66,271,100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66,271,100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dirty="0">
                          <a:latin typeface="함초롬돋움" pitchFamily="18" charset="-127"/>
                          <a:ea typeface="함초롬돋움" pitchFamily="18" charset="-127"/>
                          <a:cs typeface="함초롬돋움" pitchFamily="18" charset="-127"/>
                        </a:rPr>
                        <a:t>66,271,100</a:t>
                      </a: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latin typeface="함초롬돋움" pitchFamily="18" charset="-127"/>
                        <a:ea typeface="함초롬돋움" pitchFamily="18" charset="-127"/>
                        <a:cs typeface="함초롬돋움" pitchFamily="18" charset="-127"/>
                      </a:endParaRPr>
                    </a:p>
                  </a:txBody>
                  <a:tcPr marL="16164" marR="16164" marT="8082" marB="808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latin typeface="함초롬돋움" pitchFamily="18" charset="-127"/>
                        <a:ea typeface="함초롬돋움" pitchFamily="18" charset="-127"/>
                        <a:cs typeface="함초롬돋움" pitchFamily="18" charset="-127"/>
                      </a:endParaRP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latin typeface="함초롬돋움" pitchFamily="18" charset="-127"/>
                        <a:ea typeface="함초롬돋움" pitchFamily="18" charset="-127"/>
                        <a:cs typeface="함초롬돋움" pitchFamily="18" charset="-127"/>
                      </a:endParaRPr>
                    </a:p>
                  </a:txBody>
                  <a:tcPr marL="16164" marR="16164" marT="8082" marB="808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</a:tbl>
          </a:graphicData>
        </a:graphic>
      </p:graphicFrame>
      <p:cxnSp>
        <p:nvCxnSpPr>
          <p:cNvPr id="5" name="직선 연결선 4"/>
          <p:cNvCxnSpPr/>
          <p:nvPr/>
        </p:nvCxnSpPr>
        <p:spPr>
          <a:xfrm>
            <a:off x="0" y="756745"/>
            <a:ext cx="9144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2248" y="204951"/>
            <a:ext cx="36984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2. </a:t>
            </a:r>
            <a:r>
              <a:rPr lang="ko-KR" altLang="en-US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기업가치 모형 적용사례</a:t>
            </a:r>
            <a:endParaRPr lang="ko-KR" altLang="en-US" sz="24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38129" y="204951"/>
            <a:ext cx="1736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3)</a:t>
            </a:r>
            <a:r>
              <a:rPr lang="ko-KR" altLang="en-US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재무제표</a:t>
            </a:r>
            <a:endParaRPr lang="ko-KR" altLang="en-US" sz="24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533400" y="6606540"/>
            <a:ext cx="2057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4340" y="6568440"/>
            <a:ext cx="32303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※</a:t>
            </a:r>
            <a:r>
              <a:rPr lang="ko-KR" altLang="en-US" sz="9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상기 재무제표는</a:t>
            </a:r>
            <a:r>
              <a:rPr lang="en-US" altLang="ko-KR" sz="9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9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기업 공시정보 및 증권정보를 참고하였음</a:t>
            </a:r>
            <a:r>
              <a:rPr lang="en-US" altLang="ko-KR" sz="9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</a:t>
            </a:r>
            <a:endParaRPr lang="ko-KR" altLang="en-US" sz="9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189220" y="845820"/>
            <a:ext cx="11993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</a:t>
            </a:r>
            <a:r>
              <a:rPr lang="ko-KR" altLang="en-US" sz="8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단위 </a:t>
            </a:r>
            <a:r>
              <a:rPr lang="en-US" altLang="ko-KR" sz="8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: </a:t>
            </a:r>
            <a:r>
              <a:rPr lang="ko-KR" altLang="en-US" sz="800" dirty="0" err="1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억원</a:t>
            </a:r>
            <a:r>
              <a:rPr lang="en-US" altLang="ko-KR" sz="8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%, </a:t>
            </a:r>
            <a:r>
              <a:rPr lang="ko-KR" altLang="en-US" sz="8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배</a:t>
            </a:r>
            <a:r>
              <a:rPr lang="en-US" altLang="ko-KR" sz="8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8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주</a:t>
            </a:r>
            <a:r>
              <a:rPr lang="en-US" altLang="ko-KR" sz="8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)</a:t>
            </a:r>
            <a:endParaRPr lang="ko-KR" altLang="en-US" sz="8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2446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304138" y="6614796"/>
            <a:ext cx="5357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9 / 14</a:t>
            </a:r>
            <a:endParaRPr lang="ko-KR" altLang="en-US" sz="105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756745"/>
            <a:ext cx="9144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2248" y="204951"/>
            <a:ext cx="36984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2. </a:t>
            </a:r>
            <a:r>
              <a:rPr lang="ko-KR" altLang="en-US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기업가치 모형 적용사례</a:t>
            </a:r>
            <a:endParaRPr lang="ko-KR" altLang="en-US" sz="24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38129" y="204951"/>
            <a:ext cx="1736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4)</a:t>
            </a:r>
            <a:r>
              <a:rPr lang="ko-KR" altLang="en-US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재무분석</a:t>
            </a:r>
            <a:endParaRPr lang="ko-KR" altLang="en-US" sz="24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533400" y="6606540"/>
            <a:ext cx="2057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4340" y="6568440"/>
            <a:ext cx="32303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※</a:t>
            </a:r>
            <a:r>
              <a:rPr lang="ko-KR" altLang="en-US" sz="9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상기 재무제표는</a:t>
            </a:r>
            <a:r>
              <a:rPr lang="en-US" altLang="ko-KR" sz="9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9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기업 공시정보 및 증권정보를 참고하였음</a:t>
            </a:r>
            <a:r>
              <a:rPr lang="en-US" altLang="ko-KR" sz="9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</a:t>
            </a:r>
            <a:endParaRPr lang="ko-KR" altLang="en-US" sz="9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378" y="1397318"/>
            <a:ext cx="3286125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9673" y="1400175"/>
            <a:ext cx="3305175" cy="260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285" y="3997643"/>
            <a:ext cx="3257550" cy="258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3955" y="3980498"/>
            <a:ext cx="3295650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33400" y="4366260"/>
            <a:ext cx="415498" cy="20313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endParaRPr lang="en-US" altLang="ko-KR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ko-KR" altLang="en-US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재</a:t>
            </a:r>
            <a:endParaRPr lang="en-US" altLang="ko-KR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ko-KR" altLang="en-US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무</a:t>
            </a:r>
            <a:endParaRPr lang="en-US" altLang="ko-KR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ko-KR" altLang="en-US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상</a:t>
            </a:r>
            <a:endParaRPr lang="en-US" altLang="ko-KR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ko-KR" altLang="en-US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태</a:t>
            </a:r>
            <a:endParaRPr lang="en-US" altLang="ko-KR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ko-KR" altLang="en-US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표</a:t>
            </a:r>
            <a:endParaRPr lang="en-US" altLang="ko-KR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endParaRPr lang="ko-KR" altLang="en-US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3400" y="1653540"/>
            <a:ext cx="415498" cy="20313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endParaRPr lang="en-US" altLang="ko-KR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ko-KR" altLang="en-US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손</a:t>
            </a:r>
            <a:endParaRPr lang="en-US" altLang="ko-KR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ko-KR" altLang="en-US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익</a:t>
            </a:r>
            <a:endParaRPr lang="en-US" altLang="ko-KR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ko-KR" altLang="en-US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계</a:t>
            </a:r>
            <a:endParaRPr lang="en-US" altLang="ko-KR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ko-KR" altLang="en-US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산</a:t>
            </a:r>
            <a:endParaRPr lang="en-US" altLang="ko-KR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ko-KR" altLang="en-US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서</a:t>
            </a:r>
            <a:endParaRPr lang="en-US" altLang="ko-KR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endParaRPr lang="en-US" altLang="ko-KR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52242" y="898644"/>
            <a:ext cx="7854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매출액은 감소추이를 보이고 있으나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영업이익 및 순이익은 증가율을 보임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 </a:t>
            </a: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부채비율 건전성 우수함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6669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267269" y="6614796"/>
            <a:ext cx="60946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10 / 14</a:t>
            </a:r>
            <a:endParaRPr lang="ko-KR" altLang="en-US" sz="105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756745"/>
            <a:ext cx="9144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2248" y="204951"/>
            <a:ext cx="36984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2. </a:t>
            </a:r>
            <a:r>
              <a:rPr lang="ko-KR" altLang="en-US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기업가치 모형 적용사례</a:t>
            </a:r>
            <a:endParaRPr lang="ko-KR" altLang="en-US" sz="24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38129" y="204951"/>
            <a:ext cx="1736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4)</a:t>
            </a:r>
            <a:r>
              <a:rPr lang="ko-KR" altLang="en-US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재무분석</a:t>
            </a:r>
            <a:endParaRPr lang="ko-KR" altLang="en-US" sz="24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533400" y="6606540"/>
            <a:ext cx="2057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4340" y="6568440"/>
            <a:ext cx="32303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※</a:t>
            </a:r>
            <a:r>
              <a:rPr lang="ko-KR" altLang="en-US" sz="9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상기 재무제표는</a:t>
            </a:r>
            <a:r>
              <a:rPr lang="en-US" altLang="ko-KR" sz="9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9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기업 공시정보 및 증권정보를 참고하였음</a:t>
            </a:r>
            <a:r>
              <a:rPr lang="en-US" altLang="ko-KR" sz="9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</a:t>
            </a:r>
            <a:endParaRPr lang="ko-KR" altLang="en-US" sz="9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75" y="1643063"/>
            <a:ext cx="3286125" cy="258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6328" y="1607820"/>
            <a:ext cx="3324225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533400" y="1897380"/>
            <a:ext cx="415498" cy="20313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endParaRPr lang="en-US" altLang="ko-KR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ko-KR" altLang="en-US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현</a:t>
            </a:r>
            <a:endParaRPr lang="en-US" altLang="ko-KR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ko-KR" altLang="en-US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금</a:t>
            </a:r>
            <a:endParaRPr lang="en-US" altLang="ko-KR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ko-KR" altLang="en-US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흐</a:t>
            </a:r>
            <a:endParaRPr lang="en-US" altLang="ko-KR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ko-KR" altLang="en-US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름</a:t>
            </a:r>
            <a:endParaRPr lang="en-US" altLang="ko-KR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ko-KR" altLang="en-US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표</a:t>
            </a:r>
            <a:endParaRPr lang="en-US" altLang="ko-KR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endParaRPr lang="ko-KR" altLang="en-US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52243" y="945942"/>
            <a:ext cx="87222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’15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년 영업활동 흐름에 의한 현금흐름의 증가를 보임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투자 및 재무활동의 현금흐름의 증가는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악영향이나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영업활동 흐름에 의한 현금흐름의 증가는 건전성을 의미함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3556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267269" y="6614796"/>
            <a:ext cx="60946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11 / 14</a:t>
            </a:r>
            <a:endParaRPr lang="ko-KR" altLang="en-US" sz="105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0" y="756745"/>
            <a:ext cx="9144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2248" y="204951"/>
            <a:ext cx="36984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2. </a:t>
            </a:r>
            <a:r>
              <a:rPr lang="ko-KR" altLang="en-US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기업가치 모형 적용사례</a:t>
            </a:r>
            <a:endParaRPr lang="ko-KR" altLang="en-US" sz="24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51496" y="204951"/>
            <a:ext cx="44230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5) </a:t>
            </a:r>
            <a:r>
              <a:rPr lang="ko-KR" altLang="en-US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동종</a:t>
            </a:r>
            <a:r>
              <a:rPr lang="en-US" altLang="ko-KR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/</a:t>
            </a:r>
            <a:r>
              <a:rPr lang="ko-KR" altLang="en-US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유사산업 펀더멘털 비교</a:t>
            </a:r>
            <a:endParaRPr lang="ko-KR" altLang="en-US" sz="24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533400" y="6606540"/>
            <a:ext cx="2057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4340" y="6568440"/>
            <a:ext cx="32303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※</a:t>
            </a:r>
            <a:r>
              <a:rPr lang="ko-KR" altLang="en-US" sz="9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상기 재무제표는</a:t>
            </a:r>
            <a:r>
              <a:rPr lang="en-US" altLang="ko-KR" sz="9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9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기업 공시정보 및 증권정보를 참고하였음</a:t>
            </a:r>
            <a:r>
              <a:rPr lang="en-US" altLang="ko-KR" sz="9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</a:t>
            </a:r>
            <a:endParaRPr lang="ko-KR" altLang="en-US" sz="9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235" y="1508760"/>
            <a:ext cx="5457825" cy="501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1" y="1620212"/>
            <a:ext cx="2004060" cy="1386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2689860" y="1556024"/>
            <a:ext cx="754001" cy="492097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2243" y="945942"/>
            <a:ext cx="87222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동종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/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유사업종과 비교시 낮은 부채비율 및 영업이익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/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순이익율이 양호하며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특히 목표주가는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배당평가 모형에서 산출하게 되는 내재가치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(13Page, 327,600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원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)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과 비슷한 수준임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</a:t>
            </a:r>
          </a:p>
        </p:txBody>
      </p:sp>
      <p:sp>
        <p:nvSpPr>
          <p:cNvPr id="3" name="타원 2"/>
          <p:cNvSpPr/>
          <p:nvPr/>
        </p:nvSpPr>
        <p:spPr>
          <a:xfrm>
            <a:off x="1706880" y="5943600"/>
            <a:ext cx="1950720" cy="32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518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267270" y="6614796"/>
            <a:ext cx="60946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12 / 14</a:t>
            </a:r>
            <a:endParaRPr lang="ko-KR" altLang="en-US" sz="105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0" y="756745"/>
            <a:ext cx="9144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52248" y="204951"/>
            <a:ext cx="36984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2. </a:t>
            </a:r>
            <a:r>
              <a:rPr lang="ko-KR" altLang="en-US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기업가치 모형 적용사례</a:t>
            </a:r>
            <a:endParaRPr lang="ko-KR" altLang="en-US" sz="24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52521" y="204951"/>
            <a:ext cx="30219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6) </a:t>
            </a:r>
            <a:r>
              <a:rPr lang="ko-KR" altLang="en-US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배당평가모형 적용</a:t>
            </a:r>
            <a:endParaRPr lang="ko-KR" altLang="en-US" sz="24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2242" y="1052622"/>
            <a:ext cx="922283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㈜엘지화학의 최근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5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년간의 주당 순이익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주당 배당금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배당성향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ROE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추이는 다음과 같음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</a:t>
            </a: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배당성향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ROE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수준은 과거 평균수준이 영구적으로 지속될 것을 예상할 경우로 가정함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</a:t>
            </a: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최근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(’15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년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)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배당금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(d</a:t>
            </a:r>
            <a:r>
              <a:rPr lang="en-US" altLang="ko-KR" sz="105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0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)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는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4,500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원임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</a:t>
            </a:r>
          </a:p>
          <a:p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-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최근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5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년간의 재무제표에 의해 평균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EPS(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주당 순이익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), DPS(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주당 배당금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),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배당성향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ROE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를</a:t>
            </a:r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산출함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</a:t>
            </a: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 (EPS, DPS,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배당성향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ROE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평균은 산술적으로 산출하였음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243" y="4717842"/>
            <a:ext cx="87222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600" b="1" u="sng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배당 수익률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(D</a:t>
            </a:r>
            <a:r>
              <a:rPr lang="en-US" altLang="ko-KR" sz="105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1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/P</a:t>
            </a:r>
            <a:r>
              <a:rPr lang="en-US" altLang="ko-KR" sz="105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0</a:t>
            </a:r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) = </a:t>
            </a:r>
            <a:r>
              <a:rPr lang="en-US" altLang="ko-KR" sz="1600" b="1" u="sng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1.5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600" b="1" u="sng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배당 성장률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사내유보율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*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자기자본이익률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,ROE) = ((1-0.239) * 0.121)*100 = </a:t>
            </a:r>
            <a:r>
              <a:rPr lang="en-US" altLang="ko-KR" sz="1600" b="1" u="sng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9.2%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600" b="1" u="sng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요구</a:t>
            </a:r>
            <a:r>
              <a:rPr lang="en-US" altLang="ko-KR" sz="1600" b="1" u="sng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</a:t>
            </a:r>
            <a:r>
              <a:rPr lang="ko-KR" altLang="en-US" sz="1600" b="1" u="sng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기대</a:t>
            </a:r>
            <a:r>
              <a:rPr lang="en-US" altLang="ko-KR" sz="1600" b="1" u="sng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)</a:t>
            </a:r>
            <a:r>
              <a:rPr lang="ko-KR" altLang="en-US" sz="1600" b="1" u="sng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수익률</a:t>
            </a:r>
            <a:r>
              <a:rPr lang="en-US" altLang="ko-KR" sz="1600" b="1" u="sng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(Ke)</a:t>
            </a:r>
            <a:r>
              <a:rPr lang="ko-KR" altLang="en-US" sz="1600" b="1" u="sng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=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배당 수익률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(D</a:t>
            </a:r>
            <a:r>
              <a:rPr lang="en-US" altLang="ko-KR" sz="105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1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/P</a:t>
            </a:r>
            <a:r>
              <a:rPr lang="en-US" altLang="ko-KR" sz="105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0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) +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배당 성장률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(g)</a:t>
            </a: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                                = 1.5 + 9.2 = </a:t>
            </a:r>
            <a:r>
              <a:rPr lang="en-US" altLang="ko-KR" sz="1600" b="1" u="sng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10.7%  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15" y="2868504"/>
            <a:ext cx="6252845" cy="1698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2446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267269" y="6614796"/>
            <a:ext cx="60946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13 / 14</a:t>
            </a:r>
            <a:endParaRPr lang="ko-KR" altLang="en-US" sz="105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0" y="756745"/>
            <a:ext cx="9144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52248" y="204951"/>
            <a:ext cx="36984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2. </a:t>
            </a:r>
            <a:r>
              <a:rPr lang="ko-KR" altLang="en-US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기업가치 모형 적용사례</a:t>
            </a:r>
            <a:endParaRPr lang="ko-KR" altLang="en-US" sz="24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52521" y="204951"/>
            <a:ext cx="30219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4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6</a:t>
            </a:r>
            <a:r>
              <a:rPr lang="en-US" altLang="ko-KR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) </a:t>
            </a:r>
            <a:r>
              <a:rPr lang="ko-KR" altLang="en-US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배당평가모형 적용</a:t>
            </a:r>
            <a:endParaRPr lang="ko-KR" altLang="en-US" sz="24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2243" y="1120676"/>
            <a:ext cx="87222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① 주어진 재무제표에 근거하여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 </a:t>
            </a:r>
            <a:r>
              <a:rPr lang="ko-KR" altLang="en-US" sz="1600" b="1" u="sng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지속가능 성장률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을 구하면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</a:t>
            </a:r>
          </a:p>
          <a:p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   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지속가능성장률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g = f · ROE = </a:t>
            </a:r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((1-0.239) * 0.121)*100 = </a:t>
            </a:r>
            <a:r>
              <a:rPr lang="en-US" altLang="ko-KR" sz="1600" b="1" u="sng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9.2%</a:t>
            </a:r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</a:p>
          <a:p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② 정률성장모형에 의해서 </a:t>
            </a:r>
            <a:r>
              <a:rPr lang="ko-KR" altLang="en-US" sz="1600" b="1" u="sng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엘지화학의 내재가치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를 구하면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?</a:t>
            </a:r>
          </a:p>
          <a:p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     </a:t>
            </a:r>
            <a:r>
              <a:rPr lang="en-US" altLang="ko-KR" sz="1600" i="1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P</a:t>
            </a:r>
            <a:r>
              <a:rPr lang="en-US" altLang="ko-KR" sz="10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0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= D</a:t>
            </a:r>
            <a:r>
              <a:rPr lang="en-US" altLang="ko-KR" sz="10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0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/ Ke – g </a:t>
            </a:r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= (4500*(1+0.092))/(0.107-0.092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) = </a:t>
            </a:r>
            <a:r>
              <a:rPr lang="en-US" altLang="ko-KR" sz="1600" b="1" u="sng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327,600</a:t>
            </a:r>
            <a:r>
              <a:rPr lang="ko-KR" altLang="en-US" sz="1600" b="1" u="sng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원</a:t>
            </a:r>
            <a:endParaRPr lang="en-US" altLang="ko-KR" sz="1600" b="1" u="sng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endParaRPr lang="en-US" altLang="ko-KR" sz="16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</a:t>
            </a:r>
          </a:p>
          <a:p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  ③ 결론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: 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배당성장모형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(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정률성장모형 적용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)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을 통해 산출된 </a:t>
            </a:r>
            <a:r>
              <a:rPr lang="ko-KR" altLang="en-US" sz="1600" b="1" u="sng" dirty="0" err="1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엘지화학의</a:t>
            </a:r>
            <a:r>
              <a:rPr lang="ko-KR" altLang="en-US" sz="1600" b="1" u="sng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내재가치는</a:t>
            </a:r>
            <a:endParaRPr lang="en-US" altLang="ko-KR" sz="1600" b="1" u="sng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b="1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b="1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              </a:t>
            </a:r>
            <a:r>
              <a:rPr lang="ko-KR" altLang="en-US" sz="1600" b="1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b="1" u="sng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327,600</a:t>
            </a:r>
            <a:r>
              <a:rPr lang="ko-KR" altLang="en-US" sz="1600" b="1" u="sng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원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이며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,</a:t>
            </a:r>
          </a:p>
          <a:p>
            <a:endParaRPr lang="en-US" altLang="ko-KR" sz="1600" dirty="0" smtClean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  <a:p>
            <a:r>
              <a:rPr lang="en-US" altLang="ko-KR" sz="1600" dirty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                   </a:t>
            </a:r>
            <a:r>
              <a:rPr lang="en-US" altLang="ko-KR" sz="1600" b="1" u="sng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11/2 </a:t>
            </a:r>
            <a:r>
              <a:rPr lang="ko-KR" altLang="en-US" sz="1600" b="1" u="sng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현재 엘지화학의 주가는 </a:t>
            </a:r>
            <a:r>
              <a:rPr lang="en-US" altLang="ko-KR" sz="1600" b="1" u="sng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243,000</a:t>
            </a:r>
            <a:r>
              <a:rPr lang="ko-KR" altLang="en-US" sz="1600" b="1" u="sng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원</a:t>
            </a:r>
            <a:r>
              <a:rPr lang="ko-KR" altLang="en-US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임</a:t>
            </a:r>
            <a:r>
              <a:rPr lang="en-US" altLang="ko-KR" sz="16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. 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rcRect t="45031" r="13936" b="5551"/>
          <a:stretch/>
        </p:blipFill>
        <p:spPr>
          <a:xfrm>
            <a:off x="731520" y="2895600"/>
            <a:ext cx="4954780" cy="2072640"/>
          </a:xfrm>
          <a:prstGeom prst="rect">
            <a:avLst/>
          </a:prstGeom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8855" y="3352800"/>
            <a:ext cx="2677344" cy="1680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7647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267269" y="6614796"/>
            <a:ext cx="60946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14 / 14</a:t>
            </a:r>
            <a:endParaRPr lang="ko-KR" altLang="en-US" sz="105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0" y="756745"/>
            <a:ext cx="9144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52248" y="204951"/>
            <a:ext cx="36984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2. </a:t>
            </a:r>
            <a:r>
              <a:rPr lang="ko-KR" altLang="en-US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기업가치 모형 적용사례</a:t>
            </a:r>
            <a:endParaRPr lang="ko-KR" altLang="en-US" sz="24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71894" y="204951"/>
            <a:ext cx="2502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※ </a:t>
            </a:r>
            <a:r>
              <a:rPr lang="ko-KR" altLang="en-US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응용 </a:t>
            </a:r>
            <a:r>
              <a:rPr lang="en-US" altLang="ko-KR" sz="2400" dirty="0" smtClean="0">
                <a:latin typeface="함초롬돋움" pitchFamily="18" charset="-127"/>
                <a:ea typeface="함초롬돋움" pitchFamily="18" charset="-127"/>
                <a:cs typeface="함초롬돋움" pitchFamily="18" charset="-127"/>
              </a:rPr>
              <a:t>Calculate</a:t>
            </a:r>
            <a:endParaRPr lang="ko-KR" altLang="en-US" sz="2400" dirty="0">
              <a:latin typeface="함초롬돋움" pitchFamily="18" charset="-127"/>
              <a:ea typeface="함초롬돋움" pitchFamily="18" charset="-127"/>
              <a:cs typeface="함초롬돋움" pitchFamily="18" charset="-127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522" y="966757"/>
            <a:ext cx="7674956" cy="5571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5550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2253</TotalTime>
  <Words>1976</Words>
  <Application>Microsoft Office PowerPoint</Application>
  <PresentationFormat>화면 슬라이드 쇼(4:3)</PresentationFormat>
  <Paragraphs>608</Paragraphs>
  <Slides>15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HY산B</vt:lpstr>
      <vt:lpstr>맑은 고딕</vt:lpstr>
      <vt:lpstr>함초롬돋움</vt:lpstr>
      <vt:lpstr>Arial</vt:lpstr>
      <vt:lpstr>Wingdings</vt:lpstr>
      <vt:lpstr>Office 테마</vt:lpstr>
      <vt:lpstr>기업가치평가분석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LG화학의 정도경영</dc:title>
  <dc:creator>LG</dc:creator>
  <cp:lastModifiedBy>LG</cp:lastModifiedBy>
  <cp:revision>130</cp:revision>
  <cp:lastPrinted>2016-11-03T05:31:25Z</cp:lastPrinted>
  <dcterms:created xsi:type="dcterms:W3CDTF">2015-05-21T14:47:30Z</dcterms:created>
  <dcterms:modified xsi:type="dcterms:W3CDTF">2021-10-10T11:55:16Z</dcterms:modified>
</cp:coreProperties>
</file>