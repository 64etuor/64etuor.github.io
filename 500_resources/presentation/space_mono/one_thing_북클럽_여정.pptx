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ha Park" userId="d73799b3f3315959" providerId="LiveId" clId="{8550DBCB-4770-4DB1-AA3F-BEAF3119487D}"/>
    <pc:docChg chg="modSld">
      <pc:chgData name="Yangha Park" userId="d73799b3f3315959" providerId="LiveId" clId="{8550DBCB-4770-4DB1-AA3F-BEAF3119487D}" dt="2026-05-13T11:10:53.089" v="4" actId="2711"/>
      <pc:docMkLst>
        <pc:docMk/>
      </pc:docMkLst>
      <pc:sldChg chg="modSp mod">
        <pc:chgData name="Yangha Park" userId="d73799b3f3315959" providerId="LiveId" clId="{8550DBCB-4770-4DB1-AA3F-BEAF3119487D}" dt="2026-05-13T11:10:53.089" v="4" actId="2711"/>
        <pc:sldMkLst>
          <pc:docMk/>
          <pc:sldMk cId="0" sldId="256"/>
        </pc:sldMkLst>
        <pc:spChg chg="mod">
          <ac:chgData name="Yangha Park" userId="d73799b3f3315959" providerId="LiveId" clId="{8550DBCB-4770-4DB1-AA3F-BEAF3119487D}" dt="2026-05-13T11:10:53.089" v="4" actId="2711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Yangha Park" userId="d73799b3f3315959" providerId="LiveId" clId="{8550DBCB-4770-4DB1-AA3F-BEAF3119487D}" dt="2026-05-13T11:04:26.699" v="3" actId="1076"/>
        <pc:sldMkLst>
          <pc:docMk/>
          <pc:sldMk cId="0" sldId="257"/>
        </pc:sldMkLst>
        <pc:spChg chg="mod">
          <ac:chgData name="Yangha Park" userId="d73799b3f3315959" providerId="LiveId" clId="{8550DBCB-4770-4DB1-AA3F-BEAF3119487D}" dt="2026-05-13T11:04:26.699" v="3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Yangha Park" userId="d73799b3f3315959" providerId="LiveId" clId="{8550DBCB-4770-4DB1-AA3F-BEAF3119487D}" dt="2026-05-13T11:03:29.494" v="0" actId="14100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173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37433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797403" y="71438"/>
            <a:ext cx="775097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FF3366">
                    <a:alpha val="1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12450" dirty="0"/>
          </a:p>
        </p:txBody>
      </p:sp>
      <p:sp>
        <p:nvSpPr>
          <p:cNvPr id="5" name="Text 2"/>
          <p:cNvSpPr/>
          <p:nvPr/>
        </p:nvSpPr>
        <p:spPr>
          <a:xfrm>
            <a:off x="908779" y="596503"/>
            <a:ext cx="6384392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ONE THING 북클럽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08779" y="1350637"/>
            <a:ext cx="6883282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/>
                <a:ea typeface="Space Grotesk Bold" pitchFamily="34" charset="-122"/>
                <a:cs typeface="Space Grotesk Bold" pitchFamily="34" charset="-120"/>
              </a:rPr>
              <a:t>선택하고, 실행하고, 회고하다</a:t>
            </a:r>
            <a:endParaRPr lang="en-US" sz="1600" dirty="0">
              <a:latin typeface="JetBrains Mono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3546872"/>
            <a:ext cx="13716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PRESENTER: 박양하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228850" y="3546872"/>
            <a:ext cx="12001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DATE: 2026. 05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5750" y="4171950"/>
            <a:ext cx="8572500" cy="685800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71500" y="4405908"/>
            <a:ext cx="1484114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KEEP CHOOSING.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16536" y="4405908"/>
            <a:ext cx="151090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KEEP DESIGNING.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88361" y="4405908"/>
            <a:ext cx="168413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KEEP JOURNEYING.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285750" y="278863"/>
            <a:ext cx="249495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UIT" pitchFamily="2" charset="-127"/>
                <a:ea typeface="SUIT" pitchFamily="2" charset="-127"/>
                <a:cs typeface="Space Grotesk Bold" pitchFamily="34" charset="-120"/>
              </a:rPr>
              <a:t>원띵을 읽으며 시작된 여정</a:t>
            </a:r>
            <a:endParaRPr lang="en-US" sz="1600" dirty="0">
              <a:latin typeface="SUIT" pitchFamily="2" charset="-127"/>
              <a:ea typeface="SUIT" pitchFamily="2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3488522" cy="1550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1314450"/>
            <a:ext cx="31456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JOURNEY_CONTEXT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8650" y="1578769"/>
            <a:ext cx="165735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더 베러 커뮤니티 헤비팅 참여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58414" y="1578769"/>
            <a:ext cx="124440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원띵 북클럽 4주 + 후기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078831"/>
            <a:ext cx="314562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병행 독서: 『아주 작은 습관의 힘』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371725"/>
            <a:ext cx="314562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개인 실천 → 팀 시스템으로 확장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5750" y="2807494"/>
            <a:ext cx="3488522" cy="1428750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28625" y="2878931"/>
            <a:ext cx="24288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400" dirty="0">
                <a:solidFill>
                  <a:srgbClr val="FF3366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\"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514350" y="3036094"/>
            <a:ext cx="303132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테트리스 블록처럼, 지금 이 판에서 가장 먼저 끼워야 할 블록이 무엇인지를 판단하는 우선순위의 문제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17147" y="1143000"/>
            <a:ext cx="4941075" cy="4000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060022" y="1285875"/>
            <a:ext cx="4655325" cy="289322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TIMELINE_PROGRESSION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022" y="1718072"/>
            <a:ext cx="4625578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00075" y="263426"/>
            <a:ext cx="2461022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원띵은 "선택하는 태도"다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8572472" cy="1153716"/>
          </a:xfrm>
          <a:prstGeom prst="rect">
            <a:avLst/>
          </a:prstGeom>
          <a:solidFill>
            <a:srgbClr val="FFFFFF"/>
          </a:solidFill>
          <a:ln w="18288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14350" y="1042988"/>
            <a:ext cx="1232297" cy="217884"/>
          </a:xfrm>
          <a:prstGeom prst="rect">
            <a:avLst/>
          </a:prstGeom>
          <a:solidFill>
            <a:srgbClr val="FF3366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14350" y="1042988"/>
            <a:ext cx="1232297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FOCUSING_QUESTION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14350" y="1371600"/>
            <a:ext cx="8115272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"지금 내가 할 수 있는 한 가지 일 중에서,
그것을 함으로써 나머지가 더 쉬워지거나 불필요해지는 것은 무엇인가?"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85750" y="2425303"/>
            <a:ext cx="4941075" cy="35004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285750" y="2425303"/>
            <a:ext cx="2470538" cy="32146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85750" y="2425303"/>
            <a:ext cx="2470538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MISCONCEPTION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56288" y="2425303"/>
            <a:ext cx="2470538" cy="321469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756288" y="2425303"/>
            <a:ext cx="14288" cy="32146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2756288" y="2425303"/>
            <a:ext cx="2470538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TRUTH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85750" y="2861072"/>
            <a:ext cx="4941075" cy="689372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285750" y="2861072"/>
            <a:ext cx="2470538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평생 한 가지만 하라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56288" y="2861072"/>
            <a:ext cx="2470538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지금 이 시점의 레버리지 포인트를 찾아라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85750" y="3448645"/>
            <a:ext cx="4941075" cy="50184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285750" y="3448645"/>
            <a:ext cx="2470538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외곬수가 되어야 한다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56288" y="3448645"/>
            <a:ext cx="2470538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순서와 흐름에 대한 감각이다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85750" y="4036219"/>
            <a:ext cx="4941075" cy="50184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285750" y="4036219"/>
            <a:ext cx="2470538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더 많이 하는 능력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56288" y="4036219"/>
            <a:ext cx="2470538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덜 중요한 것을 빼는 능력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69700" y="2425303"/>
            <a:ext cx="3488522" cy="2718197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5541150" y="2611041"/>
            <a:ext cx="31456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DOMINO_EFFECT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41150" y="4612016"/>
            <a:ext cx="314562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"첫 번째 도미노가 넘어지면
</a:t>
            </a:r>
            <a:r>
              <a:rPr lang="en-US" sz="9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나머지가 따라 넘어진다</a:t>
            </a:r>
            <a:r>
              <a:rPr lang="en-US" sz="9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00075" y="263426"/>
            <a:ext cx="4597003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즉시 실행 — DECISION CALIBRATION 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071563"/>
            <a:ext cx="4229100" cy="2280252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14338" y="1200150"/>
            <a:ext cx="453628" cy="20716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14338" y="1200150"/>
            <a:ext cx="45362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ACT_1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53691" y="1200150"/>
            <a:ext cx="182522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아이젠하워 매트릭스 보드 작성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4338" y="1450181"/>
            <a:ext cx="3971925" cy="320018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일론 머스크식 브레인 덤프 → 중요도 판단 → 할 일 선정
Q1(중요+긴급) / Q2(중요+비긴급) / Q3(긴급+비중요) / Q4(비중요+비긴급)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4338" y="1941649"/>
            <a:ext cx="453628" cy="20716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14338" y="1941649"/>
            <a:ext cx="45362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ACT_2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53691" y="1941649"/>
            <a:ext cx="17359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66일 타임라인 포스트잇 보드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4338" y="2363130"/>
            <a:ext cx="453628" cy="20716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14338" y="2363130"/>
            <a:ext cx="45362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ACT_3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53691" y="2363130"/>
            <a:ext cx="99655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작업 환경 최적화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4338" y="2613161"/>
            <a:ext cx="3971925" cy="160009"/>
          </a:xfrm>
          <a:prstGeom prst="rect">
            <a:avLst/>
          </a:prstGeom>
          <a:noFill/>
          <a:ln/>
        </p:spPr>
        <p:txBody>
          <a:bodyPr wrap="none" lIns="306197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멀티 모니터 + AI 에이전트 도입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14338" y="2944620"/>
            <a:ext cx="453628" cy="20716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14338" y="2944620"/>
            <a:ext cx="45362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ACT_4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53691" y="2944620"/>
            <a:ext cx="73223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팀 보드 확장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29150" y="1071563"/>
            <a:ext cx="4229100" cy="1857375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629150" y="1071563"/>
            <a:ext cx="1643063" cy="203597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257925" y="1071563"/>
            <a:ext cx="14288" cy="203597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629150" y="1260872"/>
            <a:ext cx="1643063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629150" y="1071563"/>
            <a:ext cx="1643063" cy="203597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EVIDENCE: ACTION_1_BOARD</a:t>
            </a:r>
            <a:endParaRPr lang="en-US" sz="7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1071563"/>
            <a:ext cx="4229100" cy="185737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85750" y="3654363"/>
            <a:ext cx="8572500" cy="30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WHY_STOPPED // 중단 이유 4가지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85750" y="4140864"/>
            <a:ext cx="2078831" cy="1002636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400050" y="4255164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00050" y="4567703"/>
            <a:ext cx="185023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하기 싫지만 중요한 일을 미룸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2450306" y="4140864"/>
            <a:ext cx="2078831" cy="1002636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/>
          <p:nvPr/>
        </p:nvSpPr>
        <p:spPr>
          <a:xfrm>
            <a:off x="2564606" y="4255164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2564606" y="4567703"/>
            <a:ext cx="185023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근본 원인 수정 대신 작은 것만 고침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614863" y="4140864"/>
            <a:ext cx="2078831" cy="1002636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4729163" y="4255164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729163" y="4567703"/>
            <a:ext cx="185023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중요하지만 일부러 외면하던 것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6779419" y="4140864"/>
            <a:ext cx="2078831" cy="1002636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/>
          <p:nvPr/>
        </p:nvSpPr>
        <p:spPr>
          <a:xfrm>
            <a:off x="6893719" y="4255164"/>
            <a:ext cx="185023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6893719" y="4567703"/>
            <a:ext cx="185023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나 혼자 하는 것은 큰 의미가 없다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00075" y="263426"/>
            <a:ext cx="4030861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브레인 덤프 → 우선순위 판단 → 원띵 선택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4214813" cy="4000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71500" y="1143000"/>
            <a:ext cx="3929063" cy="28575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1414463"/>
            <a:ext cx="3929063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14375" y="1215330"/>
            <a:ext cx="1570927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← 긴급하지 않음 (NOT URGENT)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390407" y="1215330"/>
            <a:ext cx="967280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긴급함 (URGENT) →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 rot="10800000">
            <a:off x="285750" y="1428750"/>
            <a:ext cx="285750" cy="371475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57212" y="1428750"/>
            <a:ext cx="14288" cy="371475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 rot="10800000">
            <a:off x="285750" y="2409592"/>
            <a:ext cx="135731" cy="17530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← 중요하지 않음 (NOT IMPORTANT)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 rot="10800000">
            <a:off x="435769" y="2711416"/>
            <a:ext cx="135731" cy="1149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중요함 (IMPORTANT) →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14375" y="1571625"/>
            <a:ext cx="166449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4375" y="1869877"/>
            <a:ext cx="16644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중요하지만
긴급하지 않음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14375" y="2911078"/>
            <a:ext cx="628650" cy="2178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SCHEDULE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536031" y="1428750"/>
            <a:ext cx="1964531" cy="1857375"/>
          </a:xfrm>
          <a:prstGeom prst="rect">
            <a:avLst/>
          </a:prstGeom>
          <a:solidFill>
            <a:srgbClr val="FF336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2536031" y="3271838"/>
            <a:ext cx="1964531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2678906" y="1571625"/>
            <a:ext cx="167878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678906" y="1869877"/>
            <a:ext cx="16787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중요하고
긴급함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678906" y="2925366"/>
            <a:ext cx="628650" cy="217884"/>
          </a:xfrm>
          <a:prstGeom prst="rect">
            <a:avLst/>
          </a:prstGeom>
          <a:solidFill>
            <a:srgbClr val="FF3366"/>
          </a:solidFill>
          <a:ln w="18288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2678906" y="2925366"/>
            <a:ext cx="628650" cy="2178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DO FIRST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14375" y="3429000"/>
            <a:ext cx="166449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14375" y="3727252"/>
            <a:ext cx="16644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긴급하지만
중요하지 않음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4375" y="4782741"/>
            <a:ext cx="628650" cy="2178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DELEGATE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678906" y="3429000"/>
            <a:ext cx="167878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678906" y="3727252"/>
            <a:ext cx="16787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긴급하지도
중요하지도 않음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678906" y="4782741"/>
            <a:ext cx="689372" cy="21788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ELIMINATE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643438" y="1143000"/>
            <a:ext cx="4214813" cy="21431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214438"/>
            <a:ext cx="4071938" cy="200025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4643438" y="3429000"/>
            <a:ext cx="4214813" cy="1714500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4814888" y="3600450"/>
            <a:ext cx="387191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CORE_PRINCIPLES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814888" y="3864769"/>
            <a:ext cx="142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①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043488" y="3864769"/>
            <a:ext cx="316825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이것을 하면 나머지가 더 쉬워지거나 불필요해지는가?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814888" y="4179094"/>
            <a:ext cx="142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②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043488" y="4179094"/>
            <a:ext cx="22431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현재 내 상태에서 즉시 착수 가능한가?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00075" y="263426"/>
            <a:ext cx="3918347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솔직한 회고 — 왜 원띵을 선택하지 못했나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2762231" cy="19288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1314450"/>
            <a:ext cx="24193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628775"/>
            <a:ext cx="24193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미루기 패턴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962745"/>
            <a:ext cx="24193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하기 싫지만 중요한 일을 미룸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2641402"/>
            <a:ext cx="2419331" cy="25896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"흥미를 중요도로 착각하는 패턴"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90856" y="1143000"/>
            <a:ext cx="2762259" cy="19288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362306" y="1314450"/>
            <a:ext cx="24193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62306" y="1628775"/>
            <a:ext cx="241935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표면 수정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62306" y="1962745"/>
            <a:ext cx="241935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근본 원인을 수정하지 않고 작은 것들만 고침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62306" y="2641402"/>
            <a:ext cx="2419359" cy="25896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"구멍 난 배에서 물을 퍼내는 것"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85750" y="3214688"/>
            <a:ext cx="2762231" cy="19288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386138"/>
            <a:ext cx="24193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3700463"/>
            <a:ext cx="241933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의도적 외면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034433"/>
            <a:ext cx="24193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중요하지만 일부러 외면하고 있던 것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713089"/>
            <a:ext cx="2419331" cy="25896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"고의적이라는 점에서 죄질이 안 좋다"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190856" y="3214688"/>
            <a:ext cx="2762259" cy="19288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3362306" y="3386138"/>
            <a:ext cx="24193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362306" y="3700463"/>
            <a:ext cx="241935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혼자의 한계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62306" y="4034433"/>
            <a:ext cx="241935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나 혼자 하는 것은 큰 의미가 없다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362306" y="4713089"/>
            <a:ext cx="2419359" cy="25896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"조직 시스템으로의 확장 필요성"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095991" y="1143000"/>
            <a:ext cx="2762231" cy="965802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238866" y="1214438"/>
            <a:ext cx="182166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250" dirty="0">
                <a:solidFill>
                  <a:srgbClr val="FF3366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\"</a:t>
            </a:r>
            <a:endParaRPr lang="en-US" sz="3250" dirty="0"/>
          </a:p>
        </p:txBody>
      </p:sp>
      <p:sp>
        <p:nvSpPr>
          <p:cNvPr id="28" name="Text 25"/>
          <p:cNvSpPr/>
          <p:nvPr/>
        </p:nvSpPr>
        <p:spPr>
          <a:xfrm>
            <a:off x="6324591" y="1371600"/>
            <a:ext cx="23050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하고 싶은 일을 하는 게 아니라
</a:t>
            </a:r>
            <a:r>
              <a:rPr lang="en-US" sz="12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해야 하는 일</a:t>
            </a:r>
            <a:r>
              <a:rPr lang="en-US" sz="12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을 한다.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95991" y="2223102"/>
            <a:ext cx="2762231" cy="292039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181716" y="2308827"/>
            <a:ext cx="2590781" cy="20359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ENCOURAGEMENT_NOTE</a:t>
            </a:r>
            <a:endParaRPr lang="en-US" sz="7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16" y="2598148"/>
            <a:ext cx="2590781" cy="2459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00075" y="263426"/>
            <a:ext cx="3918347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혼자의 한계를 넘어 — 팀 시스템으로 확장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2035969" cy="224045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57200" y="1042988"/>
            <a:ext cx="625078" cy="217884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57200" y="1042988"/>
            <a:ext cx="625078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STEP_01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169306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Today's ToDo 도입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734145"/>
            <a:ext cx="1693069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팀원 모두 매일 1~3개 핵심 업무 기록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166342"/>
            <a:ext cx="1693069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"가장 중요한 업무를 맨 위에"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64594" y="1143000"/>
            <a:ext cx="2035969" cy="224045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636044" y="1042988"/>
            <a:ext cx="625078" cy="217884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2636044" y="1042988"/>
            <a:ext cx="625078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STEP_02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636044" y="1371600"/>
            <a:ext cx="1693069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의사결정 트리 하네스 (Decision Tree)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36044" y="1952030"/>
            <a:ext cx="1693069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되돌릴 수 있는 결정 vs 없는 결정 구분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36044" y="2384227"/>
            <a:ext cx="1693069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Bezos Type 1 / Type 2 분류 적용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636044" y="2816423"/>
            <a:ext cx="1693069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프리모템 실시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85750" y="3512046"/>
            <a:ext cx="4214813" cy="163145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57200" y="3426321"/>
            <a:ext cx="625078" cy="217884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57200" y="3426321"/>
            <a:ext cx="625078" cy="21788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STEP_03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57200" y="3754934"/>
            <a:ext cx="387191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Decision OS (Notion AI Agent)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087118"/>
            <a:ext cx="387191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회의록 → Decision Ledger → Action Items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4331791"/>
            <a:ext cx="387191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초안 + 사람이 운영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4576465"/>
            <a:ext cx="387191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결정의 출처, 비용, 상태를 잃지 않는 시스템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43438" y="1143000"/>
            <a:ext cx="4214813" cy="1714500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1143000"/>
            <a:ext cx="4214813" cy="17145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7693819" y="2673548"/>
            <a:ext cx="1164431" cy="183952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7693819" y="2673548"/>
            <a:ext cx="1164431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7693819" y="2673548"/>
            <a:ext cx="14288" cy="18395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7693819" y="2673548"/>
            <a:ext cx="1164431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IMG_01: TODAY'S TODO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4643438" y="3000375"/>
            <a:ext cx="4214813" cy="2000250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3000375"/>
            <a:ext cx="4214813" cy="200025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7642027" y="4816673"/>
            <a:ext cx="1216223" cy="183952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0"/>
          <p:cNvSpPr/>
          <p:nvPr/>
        </p:nvSpPr>
        <p:spPr>
          <a:xfrm>
            <a:off x="7642027" y="4816673"/>
            <a:ext cx="1216223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>
            <a:off x="7642027" y="4816673"/>
            <a:ext cx="14288" cy="18395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/>
          <p:nvPr/>
        </p:nvSpPr>
        <p:spPr>
          <a:xfrm>
            <a:off x="7642027" y="4816673"/>
            <a:ext cx="1216223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IMG_02: DECISION TREE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00075" y="263426"/>
            <a:ext cx="5536406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DECISION OS — 논의를 실행 가능한 상태로 바꾸는 시스템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2762231" cy="12397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28625" y="1285875"/>
            <a:ext cx="247648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1598414"/>
            <a:ext cx="2476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결정의 출처를 잃지 않는다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8625" y="1891308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모든 결정과 액션은 원본 회의록 또는 근거 자료에 연결되어야 한다.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85750" y="2497075"/>
            <a:ext cx="2762231" cy="12397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28625" y="2639950"/>
            <a:ext cx="247648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8625" y="2952490"/>
            <a:ext cx="2476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좋은 점만 보지 않는다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8625" y="3245383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기대효과와 비용을 함께 본다. 무엇을 포기하거나 위험에 노출시키는가 명시.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85750" y="3851151"/>
            <a:ext cx="2762231" cy="12397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28625" y="3994026"/>
            <a:ext cx="247648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28625" y="4306565"/>
            <a:ext cx="2476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상태를 운영한다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8625" y="4599459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결정은 한 번 쓰고 끝나는 메모가 아니라, 바뀌고 실행되는 상태 머신이다.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190856" y="1143000"/>
            <a:ext cx="2762259" cy="4000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333731" y="1285875"/>
            <a:ext cx="2476509" cy="25003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ARCHITECTURE_FLOW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333731" y="1678781"/>
            <a:ext cx="2476509" cy="366117"/>
          </a:xfrm>
          <a:prstGeom prst="rect">
            <a:avLst/>
          </a:prstGeom>
          <a:solidFill>
            <a:srgbClr val="FAFAFA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3333731" y="1678781"/>
            <a:ext cx="2476509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회의록 / 원본 기록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27324" y="2130623"/>
            <a:ext cx="892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333731" y="2427089"/>
            <a:ext cx="2476509" cy="346472"/>
          </a:xfrm>
          <a:prstGeom prst="rect">
            <a:avLst/>
          </a:prstGeom>
          <a:solidFill>
            <a:srgbClr val="111111"/>
          </a:solidFill>
          <a:ln w="18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333731" y="2427089"/>
            <a:ext cx="2476509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[AI Reconciliation Layer]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527324" y="2859286"/>
            <a:ext cx="892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333731" y="3155752"/>
            <a:ext cx="1195406" cy="326827"/>
          </a:xfrm>
          <a:prstGeom prst="rect">
            <a:avLst/>
          </a:prstGeom>
          <a:solidFill>
            <a:srgbClr val="FAFAFA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3333731" y="3155752"/>
            <a:ext cx="1195406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Decision Ledger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600575" y="3155752"/>
            <a:ext cx="1209694" cy="326827"/>
          </a:xfrm>
          <a:prstGeom prst="rect">
            <a:avLst/>
          </a:prstGeom>
          <a:solidFill>
            <a:srgbClr val="FAFAFA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600575" y="3155752"/>
            <a:ext cx="1209694" cy="32682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Action Items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527324" y="3568303"/>
            <a:ext cx="892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333731" y="3864769"/>
            <a:ext cx="2476509" cy="492919"/>
          </a:xfrm>
          <a:prstGeom prst="rect">
            <a:avLst/>
          </a:prstGeom>
          <a:solidFill>
            <a:srgbClr val="FAFAFA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3333731" y="3864769"/>
            <a:ext cx="2476509" cy="4929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Operating Dashboard
</a:t>
            </a:r>
            <a:r>
              <a:rPr lang="en-US" sz="60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(리뷰 / 우선순위)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095991" y="1143000"/>
            <a:ext cx="2762231" cy="21431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428" y="1214438"/>
            <a:ext cx="2619356" cy="200025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6095991" y="3429000"/>
            <a:ext cx="2762231" cy="1714500"/>
          </a:xfrm>
          <a:prstGeom prst="rect">
            <a:avLst/>
          </a:prstGeom>
          <a:solidFill>
            <a:srgbClr val="111111"/>
          </a:solidFill>
          <a:ln w="18288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/>
          <p:cNvSpPr/>
          <p:nvPr/>
        </p:nvSpPr>
        <p:spPr>
          <a:xfrm>
            <a:off x="6267441" y="4046237"/>
            <a:ext cx="24193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"AI는 초안을 만들고,</a:t>
            </a:r>
            <a:r>
              <a:rPr lang="en-US" sz="12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12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사람은 운영한다"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00075" y="263426"/>
            <a:ext cx="2746772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북클럽이 남긴 10가지 메시지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071563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28625" y="1214438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1471613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ONE Thing / 단 하나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8625" y="2627505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선택하고 나머지를 덜어내는 태도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023104" y="1071563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165979" y="1214438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65979" y="1471613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실천 / 실행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165979" y="2627505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생각에 머무르지 않고 작게라도 실행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760459" y="1071563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903334" y="1214438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903334" y="1471613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회고 / 변화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903334" y="2627505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작은 실천의 반복이 패턴의 변화를 만든다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497813" y="1071563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640688" y="1214438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40688" y="1471613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구조화 / 프레임워크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640688" y="2627505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좋은 틀은 생각을 실행 가능한 형태로 바꾼다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35168" y="1071563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378043" y="1214438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78043" y="1471613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빼기 / 집중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78043" y="2767505"/>
            <a:ext cx="133730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집중은 덜 중요한 것을 빼는 능력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85750" y="3164681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28625" y="3307556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28625" y="3564731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질문 / 목적 설계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28625" y="4720623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좋은 질문은 목적을 발견하게 한다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023104" y="3164681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2165979" y="3307556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165979" y="3564731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Anti-fragile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165979" y="4720623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실패를 통해 더 단단해지는 구조 설계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760459" y="3164681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3903334" y="3307556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903334" y="3564731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공유 / 지식 설계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903334" y="4720623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경험을 리믹스하며 지식을 설계하는 장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497813" y="3164681"/>
            <a:ext cx="1623054" cy="197881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5640688" y="3307556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09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640688" y="3564731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Next Thing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640688" y="4720623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각자의 삶으로 돌아가 더 나은 선택을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7235168" y="3164681"/>
            <a:ext cx="1623054" cy="1978819"/>
          </a:xfrm>
          <a:prstGeom prst="rect">
            <a:avLst/>
          </a:prstGeom>
          <a:solidFill>
            <a:srgbClr val="111111"/>
          </a:solidFill>
          <a:ln w="18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7378043" y="3307556"/>
            <a:ext cx="133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378043" y="3564731"/>
            <a:ext cx="133730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북클럽 전체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378043" y="4720623"/>
            <a:ext cx="133730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FAFA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선택하고 실행하고 회고하는 실험의 장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00075" y="263426"/>
            <a:ext cx="4093369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수파리(守破離) — 나는 지금 어디에 있는가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4214813" cy="9001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71475" y="122872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守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2950" y="1233190"/>
            <a:ext cx="137338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수 — 기본을 지키다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71475" y="1543050"/>
            <a:ext cx="40433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"책의 메시지를 이해하고 받아들이기"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71475" y="1787723"/>
            <a:ext cx="4043363" cy="14108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66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→ 원띵 읽기, 북클럽 참여, 포스트잇 보드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85750" y="2100263"/>
            <a:ext cx="4214813" cy="9001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71475" y="218598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破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2950" y="2190452"/>
            <a:ext cx="137338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파 — 틀을 깨뜨리다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1475" y="2500313"/>
            <a:ext cx="40433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"내 현실에서 어떻게 깨뜨리고 다시 세울지 묻기"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1475" y="2744986"/>
            <a:ext cx="4043363" cy="14108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66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→ Decision Calibration System, 팀 시스템 도입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85750" y="3057525"/>
            <a:ext cx="4214813" cy="9001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71475" y="314325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離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42950" y="3147715"/>
            <a:ext cx="153054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리 — 틀에서 벗어나다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71475" y="3457575"/>
            <a:ext cx="40433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"자기만의 방식으로 움직이는 상태"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1475" y="3702248"/>
            <a:ext cx="4043363" cy="14108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66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→ Decision OS, 지속적인 실험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285750" y="4014788"/>
            <a:ext cx="4214813" cy="435769"/>
          </a:xfrm>
          <a:prstGeom prst="rect">
            <a:avLst/>
          </a:prstGeom>
          <a:solidFill>
            <a:srgbClr val="111111"/>
          </a:solidFill>
          <a:ln w="18288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285750" y="4014788"/>
            <a:ext cx="4214813" cy="435769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AF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← 나는 지금 파(破)와 리(離) 사이 →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43438" y="1143000"/>
            <a:ext cx="4214813" cy="2143125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643438" y="1143000"/>
            <a:ext cx="1278731" cy="203597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5907881" y="1143000"/>
            <a:ext cx="14288" cy="203597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643438" y="1332309"/>
            <a:ext cx="1278731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643438" y="1143000"/>
            <a:ext cx="1278731" cy="20359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CONCEPT: SHU_HA_RI</a:t>
            </a:r>
            <a:endParaRPr lang="en-US" sz="7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1143000"/>
            <a:ext cx="4214813" cy="2143125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643438" y="3371850"/>
            <a:ext cx="4214813" cy="177165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/>
          <p:nvPr/>
        </p:nvSpPr>
        <p:spPr>
          <a:xfrm>
            <a:off x="4786313" y="3443288"/>
            <a:ext cx="182166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250" dirty="0">
                <a:solidFill>
                  <a:srgbClr val="FF3366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\"</a:t>
            </a:r>
            <a:endParaRPr lang="en-US" sz="3250" dirty="0"/>
          </a:p>
        </p:txBody>
      </p:sp>
      <p:sp>
        <p:nvSpPr>
          <p:cNvPr id="31" name="Text 27"/>
          <p:cNvSpPr/>
          <p:nvPr/>
        </p:nvSpPr>
        <p:spPr>
          <a:xfrm>
            <a:off x="4729163" y="4017662"/>
            <a:ext cx="40433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"형식은 끝났어도
</a:t>
            </a:r>
            <a:r>
              <a:rPr lang="en-US" sz="12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질문은 아직 끝나지 않았기</a:t>
            </a:r>
            <a:r>
              <a:rPr lang="en-US" sz="12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때문이다."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00075" y="263426"/>
            <a:ext cx="3328988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지금 나의 NEXT THING은 무엇인가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2413388" cy="12573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28625" y="12858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8625" y="15609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내가 반복적으로 몰입하는 주제는 무엇인가?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813438" y="1143000"/>
            <a:ext cx="2413388" cy="12573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956313" y="12858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56313" y="15609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사람들이 나에게 자주 요청하는 도움은 무엇인가?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5750" y="2514600"/>
            <a:ext cx="2413388" cy="12573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28625" y="26574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8625" y="29325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내가 문제라고 느끼는 사회나 현장은 어디인가?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813438" y="2514600"/>
            <a:ext cx="2413388" cy="12573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956313" y="26574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56313" y="29325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돈을 받지 않아도 계속할 수 있는 활동은 무엇인가?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85750" y="3886200"/>
            <a:ext cx="2413388" cy="125730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28625" y="40290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28625" y="4304109"/>
            <a:ext cx="21276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10년 뒤 "이건 남기고 싶다"고 생각하는 것은 무엇인가?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813438" y="3886200"/>
            <a:ext cx="2413388" cy="1257300"/>
          </a:xfrm>
          <a:prstGeom prst="rect">
            <a:avLst/>
          </a:prstGeom>
          <a:solidFill>
            <a:srgbClr val="111111"/>
          </a:solidFill>
          <a:ln w="18288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2956313" y="4029075"/>
            <a:ext cx="21276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Q_06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56313" y="4304109"/>
            <a:ext cx="21276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33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강점, 기여, 가치가 어디에서 만나는가?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69700" y="1143000"/>
            <a:ext cx="3488522" cy="1500188"/>
          </a:xfrm>
          <a:prstGeom prst="rect">
            <a:avLst/>
          </a:prstGeom>
          <a:solidFill>
            <a:srgbClr val="111111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5541150" y="1314450"/>
            <a:ext cx="3145622" cy="25003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DESIGN_TRANSITION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41150" y="1722537"/>
            <a:ext cx="10001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변화가 없다면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627000" y="1738610"/>
            <a:ext cx="685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→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781316" y="1678781"/>
            <a:ext cx="1314450" cy="275034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781316" y="1678781"/>
            <a:ext cx="1314450" cy="275034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ROBUST DESIGN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541150" y="2039541"/>
            <a:ext cx="1000125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변화가 시작되었다면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627000" y="2149376"/>
            <a:ext cx="685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33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781316" y="2089547"/>
            <a:ext cx="1828800" cy="275034"/>
          </a:xfrm>
          <a:prstGeom prst="rect">
            <a:avLst/>
          </a:prstGeom>
          <a:solidFill>
            <a:srgbClr val="FF3366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781316" y="2089547"/>
            <a:ext cx="1828800" cy="275034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ANTI-FRAGILE DESIGN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69700" y="2728913"/>
            <a:ext cx="3488522" cy="2000250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138" y="2800350"/>
            <a:ext cx="3345647" cy="1857375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7745583" y="4545211"/>
            <a:ext cx="1112639" cy="183952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7745583" y="4545211"/>
            <a:ext cx="1112639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4"/>
          <p:cNvSpPr/>
          <p:nvPr/>
        </p:nvSpPr>
        <p:spPr>
          <a:xfrm>
            <a:off x="7745583" y="4545211"/>
            <a:ext cx="14288" cy="18395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5"/>
          <p:cNvSpPr/>
          <p:nvPr/>
        </p:nvSpPr>
        <p:spPr>
          <a:xfrm>
            <a:off x="7745583" y="4545211"/>
            <a:ext cx="1112639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CONCEPT: NEXT_THING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64581" y="911721"/>
            <a:ext cx="441483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KEEP CHOOSING.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2178844" y="1568946"/>
            <a:ext cx="478631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KEEP DESIGNING.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1778794" y="2226171"/>
            <a:ext cx="558641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AFA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KEEP JOURNEYING.</a:t>
            </a:r>
            <a:endParaRPr lang="en-US" sz="3750" dirty="0"/>
          </a:p>
        </p:txBody>
      </p:sp>
      <p:sp>
        <p:nvSpPr>
          <p:cNvPr id="6" name="Shape 3"/>
          <p:cNvSpPr/>
          <p:nvPr/>
        </p:nvSpPr>
        <p:spPr>
          <a:xfrm>
            <a:off x="2615505" y="3169146"/>
            <a:ext cx="3912989" cy="587573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615505" y="3169146"/>
            <a:ext cx="3912989" cy="587573"/>
          </a:xfrm>
          <a:prstGeom prst="rect">
            <a:avLst/>
          </a:prstGeom>
          <a:noFill/>
          <a:ln/>
        </p:spPr>
        <p:txBody>
          <a:bodyPr wrap="square" lIns="272161" tIns="136017" rIns="272161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336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지금 나의 Next Thing은 무엇인가?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0" y="4028182"/>
            <a:ext cx="36576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3" dirty="0">
                <a:solidFill>
                  <a:srgbClr val="66666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END_OF_PRESENTATION // THANK_YOU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952</Words>
  <Application>Microsoft Office PowerPoint</Application>
  <PresentationFormat>On-screen Show (16:9)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JetBrains Mono Bold</vt:lpstr>
      <vt:lpstr>Noto Sans KR Bold</vt:lpstr>
      <vt:lpstr>SUIT</vt:lpstr>
      <vt:lpstr>Arial</vt:lpstr>
      <vt:lpstr>Space Grotesk</vt:lpstr>
      <vt:lpstr>Space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s1733</cp:lastModifiedBy>
  <cp:revision>1</cp:revision>
  <dcterms:created xsi:type="dcterms:W3CDTF">2026-05-13T11:02:45Z</dcterms:created>
  <dcterms:modified xsi:type="dcterms:W3CDTF">2026-05-13T11:11:02Z</dcterms:modified>
</cp:coreProperties>
</file>