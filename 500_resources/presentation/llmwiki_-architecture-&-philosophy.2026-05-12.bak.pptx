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494997"/>
            <a:ext cx="42862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KNOWLEDGE SYSTEM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1832539"/>
            <a:ext cx="4286250" cy="6515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6000"/>
              </a:lnSpc>
              <a:buNone/>
            </a:pPr>
            <a:r>
              <a:rPr lang="en-US" sz="4950" b="1" spc="-2" kern="0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llm</a:t>
            </a:r>
            <a:r>
              <a:rPr lang="en-US" sz="4950" b="1" spc="-2" kern="0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wiki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571500" y="2655494"/>
            <a:ext cx="4286250" cy="42862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Architecture &amp; Philosophy</a:t>
            </a:r>
            <a:r>
              <a:rPr lang="en-US" sz="10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10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— LLM이 매 턴 신뢰하며 읽는 볼트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71500" y="3484169"/>
            <a:ext cx="76616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Yangha Park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909167" y="3492205"/>
            <a:ext cx="425053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2026.05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0"/>
            <a:ext cx="4000500" cy="5143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02786" y="4845248"/>
            <a:ext cx="5697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30363D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v1.0 · 2026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8590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/ PARADIGM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483626"/>
          </a:xfrm>
          <a:prstGeom prst="rect">
            <a:avLst/>
          </a:prstGeom>
          <a:noFill/>
          <a:ln/>
        </p:spPr>
        <p:txBody>
          <a:bodyPr wrap="square" lIns="544322" tIns="204089" rIns="544322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왜 노트 시스템을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다시 설계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해야 하는가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1067628"/>
            <a:ext cx="382547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HUMAN-OPTIMIZED SYSTEMS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57200" y="1340876"/>
            <a:ext cx="364331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PARA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878681" y="1340876"/>
            <a:ext cx="778669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Zettelkasten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714500" y="1340876"/>
            <a:ext cx="364331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BASB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457200" y="1667703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667703"/>
            <a:ext cx="14288" cy="292894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1753428"/>
            <a:ext cx="128588" cy="10001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1525" y="1739140"/>
            <a:ext cx="24467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단일 사용자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— 한 사람의 시선·기억·습관에 최적화</a:t>
            </a:r>
            <a:endParaRPr lang="en-US" sz="700" dirty="0"/>
          </a:p>
        </p:txBody>
      </p:sp>
      <p:sp>
        <p:nvSpPr>
          <p:cNvPr id="13" name="Shape 9"/>
          <p:cNvSpPr/>
          <p:nvPr/>
        </p:nvSpPr>
        <p:spPr>
          <a:xfrm>
            <a:off x="457200" y="2060609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0"/>
          <p:cNvSpPr/>
          <p:nvPr/>
        </p:nvSpPr>
        <p:spPr>
          <a:xfrm>
            <a:off x="457200" y="2060609"/>
            <a:ext cx="14288" cy="292894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2146334"/>
            <a:ext cx="128588" cy="10001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1525" y="2132047"/>
            <a:ext cx="24717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폴더 위계 + 백링크 + MOC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— 인간 탐색 패턴 기반</a:t>
            </a:r>
            <a:endParaRPr lang="en-US" sz="700" dirty="0"/>
          </a:p>
        </p:txBody>
      </p:sp>
      <p:sp>
        <p:nvSpPr>
          <p:cNvPr id="17" name="Shape 12"/>
          <p:cNvSpPr/>
          <p:nvPr/>
        </p:nvSpPr>
        <p:spPr>
          <a:xfrm>
            <a:off x="457200" y="2453515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Shape 13"/>
          <p:cNvSpPr/>
          <p:nvPr/>
        </p:nvSpPr>
        <p:spPr>
          <a:xfrm>
            <a:off x="457200" y="2453515"/>
            <a:ext cx="14288" cy="292894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13" y="2539240"/>
            <a:ext cx="128588" cy="10001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1525" y="2524953"/>
            <a:ext cx="160734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비용 구조 단순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— 읽기 비용 = 0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457200" y="2846422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16"/>
          <p:cNvSpPr/>
          <p:nvPr/>
        </p:nvSpPr>
        <p:spPr>
          <a:xfrm>
            <a:off x="457200" y="2846422"/>
            <a:ext cx="14288" cy="292894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3" y="2932147"/>
            <a:ext cx="128588" cy="10001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71525" y="2917859"/>
            <a:ext cx="17645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표기 불일치</a:t>
            </a: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— 사람은 문맥으로 보정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4861322" y="1067628"/>
            <a:ext cx="3825478" cy="116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2" kern="0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LLM-OPTIMIZED: LLMWIKI</a:t>
            </a:r>
            <a:endParaRPr lang="en-US" sz="550" dirty="0"/>
          </a:p>
        </p:txBody>
      </p:sp>
      <p:sp>
        <p:nvSpPr>
          <p:cNvPr id="26" name="Text 19"/>
          <p:cNvSpPr/>
          <p:nvPr/>
        </p:nvSpPr>
        <p:spPr>
          <a:xfrm>
            <a:off x="4861322" y="1340876"/>
            <a:ext cx="519708" cy="198239"/>
          </a:xfrm>
          <a:prstGeom prst="rect">
            <a:avLst/>
          </a:prstGeom>
          <a:noFill/>
          <a:ln/>
        </p:spPr>
        <p:txBody>
          <a:bodyPr wrap="none" lIns="85090" tIns="34036" rIns="85090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llmwiki</a:t>
            </a:r>
            <a:endParaRPr lang="en-US" sz="600" dirty="0"/>
          </a:p>
        </p:txBody>
      </p:sp>
      <p:sp>
        <p:nvSpPr>
          <p:cNvPr id="27" name="Shape 20"/>
          <p:cNvSpPr/>
          <p:nvPr/>
        </p:nvSpPr>
        <p:spPr>
          <a:xfrm>
            <a:off x="4861322" y="1667703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1"/>
          <p:cNvSpPr/>
          <p:nvPr/>
        </p:nvSpPr>
        <p:spPr>
          <a:xfrm>
            <a:off x="4861322" y="1667703"/>
            <a:ext cx="14288" cy="292894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334" y="1753428"/>
            <a:ext cx="128588" cy="100013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175647" y="1739140"/>
            <a:ext cx="21895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매 턴 LLM이 읽는다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— 컨텍스트 = 토큰 비용</a:t>
            </a:r>
            <a:endParaRPr lang="en-US" sz="700" dirty="0"/>
          </a:p>
        </p:txBody>
      </p:sp>
      <p:sp>
        <p:nvSpPr>
          <p:cNvPr id="31" name="Shape 23"/>
          <p:cNvSpPr/>
          <p:nvPr/>
        </p:nvSpPr>
        <p:spPr>
          <a:xfrm>
            <a:off x="4861322" y="2060609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Shape 24"/>
          <p:cNvSpPr/>
          <p:nvPr/>
        </p:nvSpPr>
        <p:spPr>
          <a:xfrm>
            <a:off x="4861322" y="2060609"/>
            <a:ext cx="14288" cy="292894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1334" y="2146334"/>
            <a:ext cx="128588" cy="10001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175647" y="2132047"/>
            <a:ext cx="2228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잘못된 라우팅 1번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= 무관한 파일 2~3개 오픈</a:t>
            </a:r>
            <a:endParaRPr lang="en-US" sz="700" dirty="0"/>
          </a:p>
        </p:txBody>
      </p:sp>
      <p:sp>
        <p:nvSpPr>
          <p:cNvPr id="35" name="Shape 26"/>
          <p:cNvSpPr/>
          <p:nvPr/>
        </p:nvSpPr>
        <p:spPr>
          <a:xfrm>
            <a:off x="4861322" y="2453515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Shape 27"/>
          <p:cNvSpPr/>
          <p:nvPr/>
        </p:nvSpPr>
        <p:spPr>
          <a:xfrm>
            <a:off x="4861322" y="2453515"/>
            <a:ext cx="14288" cy="292894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1334" y="2539240"/>
            <a:ext cx="128588" cy="100013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175647" y="2524953"/>
            <a:ext cx="23074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표기 불일치 1곳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= 다른 노트 검색 정확도 저하</a:t>
            </a:r>
            <a:endParaRPr lang="en-US" sz="700" dirty="0"/>
          </a:p>
        </p:txBody>
      </p:sp>
      <p:sp>
        <p:nvSpPr>
          <p:cNvPr id="39" name="Shape 29"/>
          <p:cNvSpPr/>
          <p:nvPr/>
        </p:nvSpPr>
        <p:spPr>
          <a:xfrm>
            <a:off x="4861322" y="2846422"/>
            <a:ext cx="3825478" cy="29289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Shape 30"/>
          <p:cNvSpPr/>
          <p:nvPr/>
        </p:nvSpPr>
        <p:spPr>
          <a:xfrm>
            <a:off x="4861322" y="2846422"/>
            <a:ext cx="14288" cy="292894"/>
          </a:xfrm>
          <a:prstGeom prst="rect">
            <a:avLst/>
          </a:prstGeom>
          <a:solidFill>
            <a:srgbClr val="F0B429"/>
          </a:solidFill>
          <a:ln/>
        </p:spPr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61334" y="2932147"/>
            <a:ext cx="128588" cy="100013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175647" y="2917859"/>
            <a:ext cx="20502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로드 빈도 × 추상도</a:t>
            </a: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로 3-Layer 분리 필요</a:t>
            </a:r>
            <a:endParaRPr lang="en-US" sz="700" dirty="0"/>
          </a:p>
        </p:txBody>
      </p:sp>
      <p:sp>
        <p:nvSpPr>
          <p:cNvPr id="43" name="Shape 32"/>
          <p:cNvSpPr/>
          <p:nvPr/>
        </p:nvSpPr>
        <p:spPr>
          <a:xfrm>
            <a:off x="4861322" y="3296478"/>
            <a:ext cx="3825478" cy="66001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4" name="Shape 33"/>
          <p:cNvSpPr/>
          <p:nvPr/>
        </p:nvSpPr>
        <p:spPr>
          <a:xfrm>
            <a:off x="4861322" y="3296478"/>
            <a:ext cx="3825478" cy="14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5" name="Text 34"/>
          <p:cNvSpPr/>
          <p:nvPr/>
        </p:nvSpPr>
        <p:spPr>
          <a:xfrm>
            <a:off x="4989909" y="3396490"/>
            <a:ext cx="3568303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같은 자료를 담더라도 — 사람을 위한 시스템과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LLM이 매 턴 신뢰하며 읽는 시스템은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b="1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다른 형상으로 수렴한다.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1233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/ CORE CONCEPT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llmwiki = 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본체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+ 보강재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18022"/>
            <a:ext cx="4301849" cy="328612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101949" y="1262546"/>
            <a:ext cx="3584851" cy="710803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101949" y="1262546"/>
            <a:ext cx="3584851" cy="710803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1150" spc="1" kern="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llmwiki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=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본체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+ </a:t>
            </a:r>
            <a:r>
              <a:rPr lang="en-US" sz="1150" spc="1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보강재①</a:t>
            </a:r>
            <a:r>
              <a:rPr lang="en-US" sz="1150" spc="1" kern="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+ </a:t>
            </a:r>
            <a:r>
              <a:rPr lang="en-US" sz="1150" spc="1" kern="0" dirty="0">
                <a:solidFill>
                  <a:srgbClr val="3FB9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보강재②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101949" y="2080506"/>
            <a:ext cx="3584851" cy="78112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5"/>
          <p:cNvSpPr/>
          <p:nvPr/>
        </p:nvSpPr>
        <p:spPr>
          <a:xfrm>
            <a:off x="5101949" y="2080506"/>
            <a:ext cx="3584851" cy="1428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6"/>
          <p:cNvSpPr/>
          <p:nvPr/>
        </p:nvSpPr>
        <p:spPr>
          <a:xfrm>
            <a:off x="5244824" y="2216237"/>
            <a:ext cx="329910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본체 — 3-Layer Notes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244824" y="2428763"/>
            <a:ext cx="329910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Hub · Maps · Programs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로드 빈도와 추상도에 따라 분리된 노트 계층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5101949" y="2968786"/>
            <a:ext cx="3584851" cy="78112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9"/>
          <p:cNvSpPr/>
          <p:nvPr/>
        </p:nvSpPr>
        <p:spPr>
          <a:xfrm>
            <a:off x="5101949" y="2968786"/>
            <a:ext cx="3584851" cy="1428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4" name="Text 10"/>
          <p:cNvSpPr/>
          <p:nvPr/>
        </p:nvSpPr>
        <p:spPr>
          <a:xfrm>
            <a:off x="5244824" y="3104517"/>
            <a:ext cx="329910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보강재① — Deterministic Lint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244824" y="3317044"/>
            <a:ext cx="329910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구조적 부패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를 결정적으로 차단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32개 정적 검사 · 매 vault-edit 종료 조건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5101949" y="3857067"/>
            <a:ext cx="3584851" cy="781124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3"/>
          <p:cNvSpPr/>
          <p:nvPr/>
        </p:nvSpPr>
        <p:spPr>
          <a:xfrm>
            <a:off x="5101949" y="3857067"/>
            <a:ext cx="3584851" cy="1428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4"/>
          <p:cNvSpPr/>
          <p:nvPr/>
        </p:nvSpPr>
        <p:spPr>
          <a:xfrm>
            <a:off x="5244824" y="3992798"/>
            <a:ext cx="329910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보강재② — Read Telemetry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244824" y="4205325"/>
            <a:ext cx="3299101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행동적 부패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를 신호로 감지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읽힘 패턴 → 죽은 노트 후보 적발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1233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/ ARCHITECTURE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489347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3-Layer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Architecture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543943"/>
            <a:ext cx="14288" cy="271462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Text 3"/>
          <p:cNvSpPr/>
          <p:nvPr/>
        </p:nvSpPr>
        <p:spPr>
          <a:xfrm rot="-5400000">
            <a:off x="242888" y="2837855"/>
            <a:ext cx="10572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LOAD FREQUENCY ↑</a:t>
            </a:r>
            <a:endParaRPr lang="en-US" sz="600" dirty="0"/>
          </a:p>
        </p:txBody>
      </p:sp>
      <p:sp>
        <p:nvSpPr>
          <p:cNvPr id="7" name="Shape 4"/>
          <p:cNvSpPr/>
          <p:nvPr/>
        </p:nvSpPr>
        <p:spPr>
          <a:xfrm>
            <a:off x="1767743" y="1672530"/>
            <a:ext cx="1366410" cy="64293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5"/>
          <p:cNvSpPr/>
          <p:nvPr/>
        </p:nvSpPr>
        <p:spPr>
          <a:xfrm>
            <a:off x="1767743" y="1672530"/>
            <a:ext cx="1366410" cy="21431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Shape 6"/>
          <p:cNvSpPr/>
          <p:nvPr/>
        </p:nvSpPr>
        <p:spPr>
          <a:xfrm>
            <a:off x="3127009" y="1672530"/>
            <a:ext cx="7144" cy="64293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Shape 7"/>
          <p:cNvSpPr/>
          <p:nvPr/>
        </p:nvSpPr>
        <p:spPr>
          <a:xfrm>
            <a:off x="1767743" y="2308324"/>
            <a:ext cx="136641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1" name="Shape 8"/>
          <p:cNvSpPr/>
          <p:nvPr/>
        </p:nvSpPr>
        <p:spPr>
          <a:xfrm>
            <a:off x="1767743" y="1672530"/>
            <a:ext cx="7144" cy="64293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9"/>
          <p:cNvSpPr/>
          <p:nvPr/>
        </p:nvSpPr>
        <p:spPr>
          <a:xfrm>
            <a:off x="2003571" y="1760041"/>
            <a:ext cx="8947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LAYER 1 — HUB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882043" y="1952923"/>
            <a:ext cx="113781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매 턴 로드 (Every Turn)</a:t>
            </a:r>
            <a:endParaRPr lang="en-US" sz="650" dirty="0"/>
          </a:p>
        </p:txBody>
      </p:sp>
      <p:sp>
        <p:nvSpPr>
          <p:cNvPr id="14" name="Shape 11"/>
          <p:cNvSpPr/>
          <p:nvPr/>
        </p:nvSpPr>
        <p:spPr>
          <a:xfrm>
            <a:off x="1255347" y="2429768"/>
            <a:ext cx="2391203" cy="78581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2"/>
          <p:cNvSpPr/>
          <p:nvPr/>
        </p:nvSpPr>
        <p:spPr>
          <a:xfrm>
            <a:off x="1255347" y="2429768"/>
            <a:ext cx="2391203" cy="21431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6" name="Shape 13"/>
          <p:cNvSpPr/>
          <p:nvPr/>
        </p:nvSpPr>
        <p:spPr>
          <a:xfrm>
            <a:off x="3639406" y="2429768"/>
            <a:ext cx="7144" cy="78581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7" name="Shape 14"/>
          <p:cNvSpPr/>
          <p:nvPr/>
        </p:nvSpPr>
        <p:spPr>
          <a:xfrm>
            <a:off x="1255347" y="3208437"/>
            <a:ext cx="2391203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Shape 15"/>
          <p:cNvSpPr/>
          <p:nvPr/>
        </p:nvSpPr>
        <p:spPr>
          <a:xfrm>
            <a:off x="1255347" y="2429768"/>
            <a:ext cx="7144" cy="785813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Text 16"/>
          <p:cNvSpPr/>
          <p:nvPr/>
        </p:nvSpPr>
        <p:spPr>
          <a:xfrm>
            <a:off x="1946421" y="2657475"/>
            <a:ext cx="100905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LAYER 2 — MAPS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772292" y="2850356"/>
            <a:ext cx="135731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라우팅 시 로드 (On Demand)</a:t>
            </a:r>
            <a:endParaRPr lang="en-US" sz="650" dirty="0"/>
          </a:p>
        </p:txBody>
      </p:sp>
      <p:sp>
        <p:nvSpPr>
          <p:cNvPr id="21" name="Shape 18"/>
          <p:cNvSpPr/>
          <p:nvPr/>
        </p:nvSpPr>
        <p:spPr>
          <a:xfrm>
            <a:off x="742950" y="3329880"/>
            <a:ext cx="3416024" cy="92868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19"/>
          <p:cNvSpPr/>
          <p:nvPr/>
        </p:nvSpPr>
        <p:spPr>
          <a:xfrm>
            <a:off x="742950" y="3329880"/>
            <a:ext cx="3416024" cy="21431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3" name="Shape 20"/>
          <p:cNvSpPr/>
          <p:nvPr/>
        </p:nvSpPr>
        <p:spPr>
          <a:xfrm>
            <a:off x="4151830" y="3329880"/>
            <a:ext cx="7144" cy="9286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Shape 21"/>
          <p:cNvSpPr/>
          <p:nvPr/>
        </p:nvSpPr>
        <p:spPr>
          <a:xfrm>
            <a:off x="742950" y="4251424"/>
            <a:ext cx="3416024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Shape 22"/>
          <p:cNvSpPr/>
          <p:nvPr/>
        </p:nvSpPr>
        <p:spPr>
          <a:xfrm>
            <a:off x="742950" y="3329880"/>
            <a:ext cx="7144" cy="9286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6" name="Text 23"/>
          <p:cNvSpPr/>
          <p:nvPr/>
        </p:nvSpPr>
        <p:spPr>
          <a:xfrm>
            <a:off x="1776757" y="3629025"/>
            <a:ext cx="134838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949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LAYER 3 — PROGRAMS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661564" y="3821906"/>
            <a:ext cx="157876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키워드 트리거 시 로드 (Keyword)</a:t>
            </a:r>
            <a:endParaRPr lang="en-US" sz="650" dirty="0"/>
          </a:p>
        </p:txBody>
      </p:sp>
      <p:sp>
        <p:nvSpPr>
          <p:cNvPr id="28" name="Shape 25"/>
          <p:cNvSpPr/>
          <p:nvPr/>
        </p:nvSpPr>
        <p:spPr>
          <a:xfrm>
            <a:off x="4587599" y="1894880"/>
            <a:ext cx="225028" cy="187523"/>
          </a:xfrm>
          <a:prstGeom prst="rect">
            <a:avLst/>
          </a:prstGeom>
          <a:solidFill>
            <a:srgbClr val="161B22"/>
          </a:solidFill>
          <a:ln w="9144">
            <a:solidFill>
              <a:srgbClr val="58A6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87599" y="1894880"/>
            <a:ext cx="225028" cy="18752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58A6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L1</a:t>
            </a:r>
            <a:endParaRPr lang="en-US" sz="550" dirty="0"/>
          </a:p>
        </p:txBody>
      </p:sp>
      <p:sp>
        <p:nvSpPr>
          <p:cNvPr id="30" name="Text 27"/>
          <p:cNvSpPr/>
          <p:nvPr/>
        </p:nvSpPr>
        <p:spPr>
          <a:xfrm>
            <a:off x="4884065" y="1882378"/>
            <a:ext cx="18788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Hub (가장 좁고, 가장 자주)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87599" y="2152055"/>
            <a:ext cx="4099201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모든 규칙을 한 곳에 넣으면 토큰이 낭비된다. Hub는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불변 규칙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과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라우팅 테이블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만을 담아 매 턴 자동으로 컨텍스트에 주입된다.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4587599" y="2678906"/>
            <a:ext cx="225028" cy="187523"/>
          </a:xfrm>
          <a:prstGeom prst="rect">
            <a:avLst/>
          </a:prstGeom>
          <a:solidFill>
            <a:srgbClr val="161B22"/>
          </a:solidFill>
          <a:ln w="9144">
            <a:solidFill>
              <a:srgbClr val="F0B42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87599" y="2678906"/>
            <a:ext cx="225028" cy="18752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L2</a:t>
            </a:r>
            <a:endParaRPr lang="en-US" sz="550" dirty="0"/>
          </a:p>
        </p:txBody>
      </p:sp>
      <p:sp>
        <p:nvSpPr>
          <p:cNvPr id="34" name="Text 31"/>
          <p:cNvSpPr/>
          <p:nvPr/>
        </p:nvSpPr>
        <p:spPr>
          <a:xfrm>
            <a:off x="4884065" y="2666405"/>
            <a:ext cx="140017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Maps (참조 데이터)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87599" y="2936081"/>
            <a:ext cx="4099201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태그 카탈로그, 폴더 배치 트리 등 자주 바뀌지 않지만 라우팅이 필요할 때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만 펼쳐 보는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참조 데이터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. 작업당 최대 3개까지만 로드된다.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587599" y="3462933"/>
            <a:ext cx="225028" cy="187523"/>
          </a:xfrm>
          <a:prstGeom prst="rect">
            <a:avLst/>
          </a:prstGeom>
          <a:solidFill>
            <a:srgbClr val="161B22"/>
          </a:solidFill>
          <a:ln w="9144">
            <a:solidFill>
              <a:srgbClr val="8B949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87599" y="3462933"/>
            <a:ext cx="225028" cy="187523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L3</a:t>
            </a:r>
            <a:endParaRPr lang="en-US" sz="550" dirty="0"/>
          </a:p>
        </p:txBody>
      </p:sp>
      <p:sp>
        <p:nvSpPr>
          <p:cNvPr id="38" name="Text 35"/>
          <p:cNvSpPr/>
          <p:nvPr/>
        </p:nvSpPr>
        <p:spPr>
          <a:xfrm>
            <a:off x="4884065" y="3450431"/>
            <a:ext cx="2453878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Programs (가장 넓고, 가장 드물게)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587599" y="3720108"/>
            <a:ext cx="4099201" cy="34290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특정 작업(예: 책 노트 만들기, 클리핑 가공)을 위한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독립된 워크플로우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.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키워드 매칭이 없으면 절대 호출되지 않아 컨텍스트를 보호한다.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435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7929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/ LAYER 1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Layer 1 — Hub: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매 턴 로드되는 불변 규칙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153716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100" y="1110853"/>
            <a:ext cx="1375172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가장 작고 중요한 층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4363" y="1391245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매 턴 자동으로 컨텍스트에 들어오는 핵심 파일.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토큰 누수를 막기 위해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단 두 가지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만 담는다.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1952030"/>
            <a:ext cx="11251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4027" y="1909167"/>
            <a:ext cx="1366242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불변 규칙 (SSOT)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14363" y="2189559"/>
            <a:ext cx="33887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어떤 조건에서도 어겨선 안 되는 단일 진실 공급원.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614363" y="2446734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Frontmatter 7개 필수 필드 표준</a:t>
            </a:r>
            <a:endParaRPr lang="en-US" sz="750" dirty="0"/>
          </a:p>
        </p:txBody>
      </p:sp>
      <p:sp>
        <p:nvSpPr>
          <p:cNvPr id="12" name="Text 7"/>
          <p:cNvSpPr/>
          <p:nvPr/>
        </p:nvSpPr>
        <p:spPr>
          <a:xfrm>
            <a:off x="614363" y="2652117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태그 분류 및 형식 (소문자, 2-level 한도)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614363" y="2857500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파일명 금기 문자 규칙</a:t>
            </a:r>
            <a:endParaRPr lang="en-US" sz="7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280767"/>
            <a:ext cx="160734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2247" y="3237905"/>
            <a:ext cx="115550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라우팅 테이블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14363" y="3518297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작업 유형에 따라 어떤 Map이나 Program으로 분기할지 알려주는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전체 시스템의 인덱스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.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614363" y="3946922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LLM은 사용자의 요청을 Description과 매칭</a:t>
            </a:r>
            <a:endParaRPr lang="en-US" sz="750" dirty="0"/>
          </a:p>
        </p:txBody>
      </p:sp>
      <p:sp>
        <p:nvSpPr>
          <p:cNvPr id="18" name="Text 12"/>
          <p:cNvSpPr/>
          <p:nvPr/>
        </p:nvSpPr>
        <p:spPr>
          <a:xfrm>
            <a:off x="614363" y="4152305"/>
            <a:ext cx="3388733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비대해지지 않게 유지하는 것이 핵심 위생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4431720" y="1107281"/>
            <a:ext cx="4255080" cy="3005733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431720" y="1107281"/>
            <a:ext cx="4255080" cy="29825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1" name="Shape 15"/>
          <p:cNvSpPr/>
          <p:nvPr/>
        </p:nvSpPr>
        <p:spPr>
          <a:xfrm>
            <a:off x="4431720" y="1398389"/>
            <a:ext cx="4255080" cy="7144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6020" y="1195685"/>
            <a:ext cx="85725" cy="1143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03183" y="1178719"/>
            <a:ext cx="54649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AGENTS.md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4667464" y="1476970"/>
            <a:ext cx="944761" cy="11608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18"/>
          <p:cNvSpPr/>
          <p:nvPr/>
        </p:nvSpPr>
        <p:spPr>
          <a:xfrm>
            <a:off x="4667464" y="1476970"/>
            <a:ext cx="944761" cy="116086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58A6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IMMUTABLE RULES</a:t>
            </a:r>
            <a:endParaRPr lang="en-US" sz="550" dirty="0"/>
          </a:p>
        </p:txBody>
      </p:sp>
      <p:sp>
        <p:nvSpPr>
          <p:cNvPr id="26" name="Text 19"/>
          <p:cNvSpPr/>
          <p:nvPr/>
        </p:nvSpPr>
        <p:spPr>
          <a:xfrm>
            <a:off x="4696039" y="1662708"/>
            <a:ext cx="12573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 Frontmatter Standard</a:t>
            </a:r>
            <a:endParaRPr lang="en-US" sz="650" dirty="0"/>
          </a:p>
        </p:txBody>
      </p:sp>
      <p:sp>
        <p:nvSpPr>
          <p:cNvPr id="27" name="Text 20"/>
          <p:cNvSpPr/>
          <p:nvPr/>
        </p:nvSpPr>
        <p:spPr>
          <a:xfrm>
            <a:off x="4696039" y="1843088"/>
            <a:ext cx="37264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title: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"string"</a:t>
            </a:r>
            <a:endParaRPr lang="en-US" sz="650" dirty="0"/>
          </a:p>
        </p:txBody>
      </p:sp>
      <p:sp>
        <p:nvSpPr>
          <p:cNvPr id="28" name="Text 21"/>
          <p:cNvSpPr/>
          <p:nvPr/>
        </p:nvSpPr>
        <p:spPr>
          <a:xfrm>
            <a:off x="4696039" y="2023467"/>
            <a:ext cx="37264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type: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[reference|literature|log|...]</a:t>
            </a:r>
            <a:endParaRPr lang="en-US" sz="650" dirty="0"/>
          </a:p>
        </p:txBody>
      </p:sp>
      <p:sp>
        <p:nvSpPr>
          <p:cNvPr id="29" name="Text 22"/>
          <p:cNvSpPr/>
          <p:nvPr/>
        </p:nvSpPr>
        <p:spPr>
          <a:xfrm>
            <a:off x="4696039" y="2203847"/>
            <a:ext cx="372644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status: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[draft|permanent|archived]</a:t>
            </a:r>
            <a:endParaRPr lang="en-US" sz="650" dirty="0"/>
          </a:p>
        </p:txBody>
      </p:sp>
      <p:sp>
        <p:nvSpPr>
          <p:cNvPr id="30" name="Shape 23"/>
          <p:cNvSpPr/>
          <p:nvPr/>
        </p:nvSpPr>
        <p:spPr>
          <a:xfrm>
            <a:off x="4667464" y="2584252"/>
            <a:ext cx="834033" cy="11608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1" name="Text 24"/>
          <p:cNvSpPr/>
          <p:nvPr/>
        </p:nvSpPr>
        <p:spPr>
          <a:xfrm>
            <a:off x="4667464" y="2584252"/>
            <a:ext cx="834033" cy="116086"/>
          </a:xfrm>
          <a:prstGeom prst="rect">
            <a:avLst/>
          </a:prstGeom>
          <a:noFill/>
          <a:ln/>
        </p:spPr>
        <p:txBody>
          <a:bodyPr wrap="none" lIns="68072" tIns="0" rIns="68072" bIns="0" rtlCol="0" anchor="t">
            <a:spAutoFit/>
          </a:bodyPr>
          <a:lstStyle/>
          <a:p>
            <a:pPr algn="l" indent="0" marL="0">
              <a:buNone/>
            </a:pPr>
            <a:r>
              <a:rPr lang="en-US" sz="550" b="1" spc="1" kern="0" dirty="0">
                <a:solidFill>
                  <a:srgbClr val="58A6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ROUTING TABLE</a:t>
            </a:r>
            <a:endParaRPr lang="en-US" sz="550" dirty="0"/>
          </a:p>
        </p:txBody>
      </p:sp>
      <p:sp>
        <p:nvSpPr>
          <p:cNvPr id="32" name="Shape 25"/>
          <p:cNvSpPr/>
          <p:nvPr/>
        </p:nvSpPr>
        <p:spPr>
          <a:xfrm>
            <a:off x="4699611" y="2830711"/>
            <a:ext cx="1363005" cy="248245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699611" y="2830711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Task Type</a:t>
            </a:r>
            <a:endParaRPr lang="en-US" sz="600" dirty="0"/>
          </a:p>
        </p:txBody>
      </p:sp>
      <p:sp>
        <p:nvSpPr>
          <p:cNvPr id="34" name="Shape 27"/>
          <p:cNvSpPr/>
          <p:nvPr/>
        </p:nvSpPr>
        <p:spPr>
          <a:xfrm>
            <a:off x="6062616" y="2830711"/>
            <a:ext cx="2356293" cy="248245"/>
          </a:xfrm>
          <a:prstGeom prst="rect">
            <a:avLst/>
          </a:prstGeom>
          <a:solidFill>
            <a:srgbClr val="21262D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062616" y="2830711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Target Map / Program</a:t>
            </a:r>
            <a:endParaRPr lang="en-US" sz="600" dirty="0"/>
          </a:p>
        </p:txBody>
      </p:sp>
      <p:sp>
        <p:nvSpPr>
          <p:cNvPr id="36" name="Text 29"/>
          <p:cNvSpPr/>
          <p:nvPr/>
        </p:nvSpPr>
        <p:spPr>
          <a:xfrm>
            <a:off x="4699611" y="3071813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책 노트 생성</a:t>
            </a:r>
            <a:endParaRPr lang="en-US" sz="600" dirty="0"/>
          </a:p>
        </p:txBody>
      </p:sp>
      <p:sp>
        <p:nvSpPr>
          <p:cNvPr id="37" name="Text 30"/>
          <p:cNvSpPr/>
          <p:nvPr/>
        </p:nvSpPr>
        <p:spPr>
          <a:xfrm>
            <a:off x="6062616" y="3071813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skills/book-note/SKILL.md</a:t>
            </a:r>
            <a:endParaRPr lang="en-US" sz="600" dirty="0"/>
          </a:p>
        </p:txBody>
      </p:sp>
      <p:sp>
        <p:nvSpPr>
          <p:cNvPr id="38" name="Text 31"/>
          <p:cNvSpPr/>
          <p:nvPr/>
        </p:nvSpPr>
        <p:spPr>
          <a:xfrm>
            <a:off x="4699611" y="3320058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볼트 정합성 검사</a:t>
            </a:r>
            <a:endParaRPr lang="en-US" sz="600" dirty="0"/>
          </a:p>
        </p:txBody>
      </p:sp>
      <p:sp>
        <p:nvSpPr>
          <p:cNvPr id="39" name="Text 32"/>
          <p:cNvSpPr/>
          <p:nvPr/>
        </p:nvSpPr>
        <p:spPr>
          <a:xfrm>
            <a:off x="6062616" y="3320058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skills/vault-lint/SKILL.md</a:t>
            </a:r>
            <a:endParaRPr lang="en-US" sz="600" dirty="0"/>
          </a:p>
        </p:txBody>
      </p:sp>
      <p:sp>
        <p:nvSpPr>
          <p:cNvPr id="40" name="Text 33"/>
          <p:cNvSpPr/>
          <p:nvPr/>
        </p:nvSpPr>
        <p:spPr>
          <a:xfrm>
            <a:off x="4699611" y="3568303"/>
            <a:ext cx="1363005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태그 구조 확인</a:t>
            </a:r>
            <a:endParaRPr lang="en-US" sz="600" dirty="0"/>
          </a:p>
        </p:txBody>
      </p:sp>
      <p:sp>
        <p:nvSpPr>
          <p:cNvPr id="41" name="Text 34"/>
          <p:cNvSpPr/>
          <p:nvPr/>
        </p:nvSpPr>
        <p:spPr>
          <a:xfrm>
            <a:off x="6062616" y="3568303"/>
            <a:ext cx="2356293" cy="248245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schema/tag-system.md</a:t>
            </a:r>
            <a:endParaRPr lang="en-US" sz="600" dirty="0"/>
          </a:p>
        </p:txBody>
      </p:sp>
      <p:sp>
        <p:nvSpPr>
          <p:cNvPr id="42" name="Shape 35"/>
          <p:cNvSpPr/>
          <p:nvPr/>
        </p:nvSpPr>
        <p:spPr>
          <a:xfrm>
            <a:off x="4431720" y="4227314"/>
            <a:ext cx="4255080" cy="987623"/>
          </a:xfrm>
          <a:prstGeom prst="rect">
            <a:avLst/>
          </a:prstGeom>
          <a:solidFill>
            <a:srgbClr val="161B22">
              <a:alpha val="70000"/>
            </a:srgbClr>
          </a:solidFill>
          <a:ln w="9144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4431720" y="4227314"/>
            <a:ext cx="4255080" cy="29825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4" name="Shape 37"/>
          <p:cNvSpPr/>
          <p:nvPr/>
        </p:nvSpPr>
        <p:spPr>
          <a:xfrm>
            <a:off x="4431720" y="4518422"/>
            <a:ext cx="4255080" cy="7144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6020" y="4315718"/>
            <a:ext cx="85725" cy="11430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703183" y="4298752"/>
            <a:ext cx="546497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MEMORY.md</a:t>
            </a:r>
            <a:endParaRPr lang="en-US" sz="700" dirty="0"/>
          </a:p>
        </p:txBody>
      </p:sp>
      <p:sp>
        <p:nvSpPr>
          <p:cNvPr id="47" name="Text 39"/>
          <p:cNvSpPr/>
          <p:nvPr/>
        </p:nvSpPr>
        <p:spPr>
          <a:xfrm>
            <a:off x="4574595" y="4604147"/>
            <a:ext cx="160020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E76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# User Preferences &amp; Context</a:t>
            </a:r>
            <a:endParaRPr lang="en-US" sz="650" dirty="0"/>
          </a:p>
        </p:txBody>
      </p:sp>
      <p:sp>
        <p:nvSpPr>
          <p:cNvPr id="48" name="Text 40"/>
          <p:cNvSpPr/>
          <p:nvPr/>
        </p:nvSpPr>
        <p:spPr>
          <a:xfrm>
            <a:off x="4574595" y="4927402"/>
            <a:ext cx="396933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language: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</a:t>
            </a:r>
            <a:r>
              <a:rPr lang="en-US" sz="650" dirty="0">
                <a:solidFill>
                  <a:srgbClr val="3FB95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"Korean primary, English terms"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7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12335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/ ARCHITECTURE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489347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Layer 2 &amp; 3 —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Maps &amp; Programs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3584377" y="1159073"/>
            <a:ext cx="1975247" cy="1014413"/>
          </a:xfrm>
          <a:prstGeom prst="rect">
            <a:avLst/>
          </a:prstGeom>
          <a:solidFill>
            <a:srgbClr val="161B22"/>
          </a:solidFill>
          <a:ln w="9144">
            <a:solidFill>
              <a:srgbClr val="58A6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77270" y="1273373"/>
            <a:ext cx="1389459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LAYER 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3877270" y="1400175"/>
            <a:ext cx="1389459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877270" y="1712714"/>
            <a:ext cx="1389459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라우팅 테이블 (AGENTS.md)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877270" y="1918097"/>
            <a:ext cx="1389459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매 턴 자동 로드</a:t>
            </a:r>
            <a:endParaRPr lang="en-US" sz="600" dirty="0"/>
          </a:p>
        </p:txBody>
      </p:sp>
      <p:sp>
        <p:nvSpPr>
          <p:cNvPr id="10" name="Shape 7"/>
          <p:cNvSpPr/>
          <p:nvPr/>
        </p:nvSpPr>
        <p:spPr>
          <a:xfrm>
            <a:off x="2428875" y="2373511"/>
            <a:ext cx="14288" cy="214313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1" name="Shape 8"/>
          <p:cNvSpPr/>
          <p:nvPr/>
        </p:nvSpPr>
        <p:spPr>
          <a:xfrm>
            <a:off x="6700838" y="2373511"/>
            <a:ext cx="14288" cy="214313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2" name="Shape 9"/>
          <p:cNvSpPr/>
          <p:nvPr/>
        </p:nvSpPr>
        <p:spPr>
          <a:xfrm>
            <a:off x="1143000" y="2659261"/>
            <a:ext cx="3000375" cy="2473523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0"/>
          <p:cNvSpPr/>
          <p:nvPr/>
        </p:nvSpPr>
        <p:spPr>
          <a:xfrm>
            <a:off x="1143000" y="2659261"/>
            <a:ext cx="3000375" cy="28575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4" name="Text 11"/>
          <p:cNvSpPr/>
          <p:nvPr/>
        </p:nvSpPr>
        <p:spPr>
          <a:xfrm>
            <a:off x="1257300" y="2773561"/>
            <a:ext cx="27717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LAYER 2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1257300" y="2928938"/>
            <a:ext cx="277177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Maps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57300" y="3355777"/>
            <a:ext cx="2771775" cy="948333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400175" y="3498652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tag-system.md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400175" y="3743325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vault-map.md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400175" y="3987998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template-catalog.md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257300" y="4461272"/>
            <a:ext cx="2771775" cy="5143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참조 데이터 (Reference Data)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자주 바뀌지 않으며, 라우팅 필요 시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작업당 최대 3개까지만 로드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000625" y="2659261"/>
            <a:ext cx="3000375" cy="2430661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19"/>
          <p:cNvSpPr/>
          <p:nvPr/>
        </p:nvSpPr>
        <p:spPr>
          <a:xfrm>
            <a:off x="5000625" y="2659261"/>
            <a:ext cx="3000375" cy="28575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3" name="Text 20"/>
          <p:cNvSpPr/>
          <p:nvPr/>
        </p:nvSpPr>
        <p:spPr>
          <a:xfrm>
            <a:off x="5114925" y="2773561"/>
            <a:ext cx="277177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LAYER 3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14925" y="2928938"/>
            <a:ext cx="2771775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Programs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114925" y="3355777"/>
            <a:ext cx="2771775" cy="653653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257800" y="3498652"/>
            <a:ext cx="2486025" cy="158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skills/*/SKILL.md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257800" y="3714750"/>
            <a:ext cx="2486025" cy="137517"/>
          </a:xfrm>
          <a:prstGeom prst="rect">
            <a:avLst/>
          </a:prstGeom>
          <a:noFill/>
          <a:ln/>
        </p:spPr>
        <p:txBody>
          <a:bodyPr wrap="square" lIns="187071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(e.g., 책 노트 만들기, 클리핑 가공)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114925" y="4166592"/>
            <a:ext cx="2771775" cy="514350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트리거 기반 워크플로우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키워드 매칭이 없으면 절대 호출되지 않음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독립적인 실행 단계 포함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0572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07 / STATIC LINT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보강재 ①: vault-lint.py — 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32개의 결정적 검사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1235869"/>
            <a:ext cx="340302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사람의 눈이 미치지 않는 일관성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505545"/>
            <a:ext cx="34030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사람이 시각으로 잡을 수 있는 양에는 한계가 있고, 잡지 못한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어긋남은 누적된다.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vault-lint.py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는 사람의 시선이 닿지 않는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자리를 결정적으로 잡는다.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2319933"/>
            <a:ext cx="340302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매 턴의 종료 조건 (Exit Condition)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2589609"/>
            <a:ext cx="34030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매 vault-edit 턴의 종료 조건으로 실행되며,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exit code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가 곧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통과/실패를 결정한다.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3018234"/>
            <a:ext cx="3403020" cy="598289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018234"/>
            <a:ext cx="3403020" cy="59828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$ python3 vault-lint.py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 Exit 0: Pass (Commit allowed)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 Exit 1: Fail (LLM must fix errors)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457200" y="3902273"/>
            <a:ext cx="3403020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규칙은 코드로만 존재한다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171950"/>
            <a:ext cx="34030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산문(Prose)은 규칙을 </a:t>
            </a:r>
            <a:r>
              <a:rPr lang="en-US" sz="800" i="1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설명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할 뿐, </a:t>
            </a:r>
            <a:r>
              <a:rPr lang="en-US" sz="7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재정의하지 않는다.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 같은 규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칙을 두 곳에 적으면 즉시 두 가지 버전을 가지게 되기 때문이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145970" y="1107281"/>
            <a:ext cx="4540830" cy="3750469"/>
          </a:xfrm>
          <a:prstGeom prst="rect">
            <a:avLst/>
          </a:prstGeom>
          <a:solidFill>
            <a:srgbClr val="161B22"/>
          </a:solidFill>
          <a:ln w="18288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73287" y="1321594"/>
            <a:ext cx="4099201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 CATEGORIES / 32 CHECKS BREAKDOWN</a:t>
            </a:r>
            <a:endParaRPr lang="en-US" sz="7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87" y="1612702"/>
            <a:ext cx="408265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9251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08 / ASYMMETRY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폴더별 비대칭: </a:t>
            </a:r>
            <a:r>
              <a:rPr lang="en-US" sz="19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면제는 협상이 아니라 상수다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107281"/>
            <a:ext cx="3338085" cy="107870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107281"/>
            <a:ext cx="28575" cy="107870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4"/>
          <p:cNvSpPr/>
          <p:nvPr/>
        </p:nvSpPr>
        <p:spPr>
          <a:xfrm>
            <a:off x="600075" y="1250156"/>
            <a:ext cx="305233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산문 규칙의 한계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075" y="1528763"/>
            <a:ext cx="30523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모든 폴더에 동일한 강도의 규칙을 적용할 수는 없습니다.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하지만 산문(자연어)으로 예외를 적어두면 LLM은 매번 해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석을 달리하며 </a:t>
            </a:r>
            <a:r>
              <a:rPr lang="en-US" sz="750" b="1" dirty="0">
                <a:solidFill>
                  <a:srgbClr val="58A6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규칙 적용이 어긋나게 됩니다.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2357438"/>
            <a:ext cx="3338085" cy="107870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2357438"/>
            <a:ext cx="28575" cy="1078706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1" name="Text 8"/>
          <p:cNvSpPr/>
          <p:nvPr/>
        </p:nvSpPr>
        <p:spPr>
          <a:xfrm>
            <a:off x="600075" y="2500313"/>
            <a:ext cx="305233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코드 상수로 못박기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0075" y="2778919"/>
            <a:ext cx="305233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예외 집합을 코드 상수로 하드코딩하는 것은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"면제를 협상하지 않는다"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는 정책의 물리적 구현입니다. 4개의 상수가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lint의 모든 비대칭을 결정적으로 정의합니다.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23910" y="1107281"/>
            <a:ext cx="4462890" cy="3429000"/>
          </a:xfrm>
          <a:prstGeom prst="rect">
            <a:avLst/>
          </a:prstGeom>
          <a:solidFill>
            <a:srgbClr val="161B22"/>
          </a:solidFill>
          <a:ln w="18288">
            <a:solidFill>
              <a:srgbClr val="3036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198" y="1352848"/>
            <a:ext cx="128588" cy="128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1223" y="1321594"/>
            <a:ext cx="110013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llmwiki_vault/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22636" y="1512689"/>
            <a:ext cx="14288" cy="719733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511" y="1654671"/>
            <a:ext cx="128588" cy="1143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65536" y="1626989"/>
            <a:ext cx="69651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200_Books/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4665511" y="1839516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한국어 책 노트 (영문 description 불필요)</a:t>
            </a:r>
            <a:endParaRPr lang="en-US" sz="650" dirty="0"/>
          </a:p>
        </p:txBody>
      </p:sp>
      <p:sp>
        <p:nvSpPr>
          <p:cNvPr id="20" name="Shape 15"/>
          <p:cNvSpPr/>
          <p:nvPr/>
        </p:nvSpPr>
        <p:spPr>
          <a:xfrm>
            <a:off x="4865536" y="2034183"/>
            <a:ext cx="1578769" cy="198239"/>
          </a:xfrm>
          <a:prstGeom prst="rect">
            <a:avLst/>
          </a:prstGeom>
          <a:solidFill>
            <a:srgbClr val="F0B429">
              <a:alpha val="10000"/>
            </a:srgbClr>
          </a:solidFill>
          <a:ln w="9144">
            <a:solidFill>
              <a:srgbClr val="F0B42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65536" y="2034183"/>
            <a:ext cx="1578769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DESCRIPTION_OPTIONAL_FOLDERS</a:t>
            </a:r>
            <a:endParaRPr lang="en-US" sz="600" dirty="0"/>
          </a:p>
        </p:txBody>
      </p:sp>
      <p:sp>
        <p:nvSpPr>
          <p:cNvPr id="22" name="Shape 17"/>
          <p:cNvSpPr/>
          <p:nvPr/>
        </p:nvSpPr>
        <p:spPr>
          <a:xfrm>
            <a:off x="4522636" y="1712714"/>
            <a:ext cx="114300" cy="14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Shape 18"/>
          <p:cNvSpPr/>
          <p:nvPr/>
        </p:nvSpPr>
        <p:spPr>
          <a:xfrm>
            <a:off x="4522636" y="2275284"/>
            <a:ext cx="14288" cy="719733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511" y="2417266"/>
            <a:ext cx="128588" cy="1143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865536" y="2389584"/>
            <a:ext cx="696516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400_Areas/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665511" y="2602111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개인 자격증, 사적인 기록</a:t>
            </a:r>
            <a:endParaRPr lang="en-US" sz="650" dirty="0"/>
          </a:p>
        </p:txBody>
      </p:sp>
      <p:sp>
        <p:nvSpPr>
          <p:cNvPr id="27" name="Shape 21"/>
          <p:cNvSpPr/>
          <p:nvPr/>
        </p:nvSpPr>
        <p:spPr>
          <a:xfrm>
            <a:off x="4865536" y="2796778"/>
            <a:ext cx="1268016" cy="198239"/>
          </a:xfrm>
          <a:prstGeom prst="rect">
            <a:avLst/>
          </a:prstGeom>
          <a:solidFill>
            <a:srgbClr val="58A6FF">
              <a:alpha val="10000"/>
            </a:srgbClr>
          </a:solidFill>
          <a:ln w="9144">
            <a:solidFill>
              <a:srgbClr val="58A6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865536" y="2796778"/>
            <a:ext cx="1268016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PERSONAL_VOICE_FOLDERS</a:t>
            </a:r>
            <a:endParaRPr lang="en-US" sz="600" dirty="0"/>
          </a:p>
        </p:txBody>
      </p:sp>
      <p:sp>
        <p:nvSpPr>
          <p:cNvPr id="29" name="Shape 23"/>
          <p:cNvSpPr/>
          <p:nvPr/>
        </p:nvSpPr>
        <p:spPr>
          <a:xfrm>
            <a:off x="4522636" y="2475309"/>
            <a:ext cx="114300" cy="14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Shape 24"/>
          <p:cNvSpPr/>
          <p:nvPr/>
        </p:nvSpPr>
        <p:spPr>
          <a:xfrm>
            <a:off x="4522636" y="3037880"/>
            <a:ext cx="14288" cy="719733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511" y="3179862"/>
            <a:ext cx="128588" cy="11430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865536" y="3152180"/>
            <a:ext cx="90547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900_Writings/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4665511" y="3364706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에세이 초안 (Related 섹션 규칙 면제)</a:t>
            </a:r>
            <a:endParaRPr lang="en-US" sz="650" dirty="0"/>
          </a:p>
        </p:txBody>
      </p:sp>
      <p:sp>
        <p:nvSpPr>
          <p:cNvPr id="34" name="Shape 27"/>
          <p:cNvSpPr/>
          <p:nvPr/>
        </p:nvSpPr>
        <p:spPr>
          <a:xfrm>
            <a:off x="4865536" y="3559373"/>
            <a:ext cx="1578769" cy="198239"/>
          </a:xfrm>
          <a:prstGeom prst="rect">
            <a:avLst/>
          </a:prstGeom>
          <a:solidFill>
            <a:srgbClr val="F0B429">
              <a:alpha val="10000"/>
            </a:srgbClr>
          </a:solidFill>
          <a:ln w="9144">
            <a:solidFill>
              <a:srgbClr val="F0B429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4865536" y="3559373"/>
            <a:ext cx="1578769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RELATED_RULES_EXEMPT_FOLDERS</a:t>
            </a:r>
            <a:endParaRPr lang="en-US" sz="600" dirty="0"/>
          </a:p>
        </p:txBody>
      </p:sp>
      <p:sp>
        <p:nvSpPr>
          <p:cNvPr id="36" name="Shape 29"/>
          <p:cNvSpPr/>
          <p:nvPr/>
        </p:nvSpPr>
        <p:spPr>
          <a:xfrm>
            <a:off x="4522636" y="3237905"/>
            <a:ext cx="114300" cy="14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7" name="Shape 30"/>
          <p:cNvSpPr/>
          <p:nvPr/>
        </p:nvSpPr>
        <p:spPr>
          <a:xfrm>
            <a:off x="4522636" y="3800475"/>
            <a:ext cx="14288" cy="719733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5511" y="3942457"/>
            <a:ext cx="128588" cy="1143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865536" y="3914775"/>
            <a:ext cx="766167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000_System/</a:t>
            </a:r>
            <a:endParaRPr lang="en-US" sz="800" dirty="0"/>
          </a:p>
        </p:txBody>
      </p:sp>
      <p:sp>
        <p:nvSpPr>
          <p:cNvPr id="40" name="Text 32"/>
          <p:cNvSpPr/>
          <p:nvPr/>
        </p:nvSpPr>
        <p:spPr>
          <a:xfrm>
            <a:off x="4665511" y="4127302"/>
            <a:ext cx="3806977" cy="137517"/>
          </a:xfrm>
          <a:prstGeom prst="rect">
            <a:avLst/>
          </a:prstGeom>
          <a:noFill/>
          <a:ln/>
        </p:spPr>
        <p:txBody>
          <a:bodyPr wrap="square" lIns="238125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시스템 스키마 및 메타 데이터</a:t>
            </a:r>
            <a:endParaRPr lang="en-US" sz="650" dirty="0"/>
          </a:p>
        </p:txBody>
      </p:sp>
      <p:sp>
        <p:nvSpPr>
          <p:cNvPr id="41" name="Shape 33"/>
          <p:cNvSpPr/>
          <p:nvPr/>
        </p:nvSpPr>
        <p:spPr>
          <a:xfrm>
            <a:off x="4865536" y="4321969"/>
            <a:ext cx="1371600" cy="198239"/>
          </a:xfrm>
          <a:prstGeom prst="rect">
            <a:avLst/>
          </a:prstGeom>
          <a:solidFill>
            <a:srgbClr val="58A6FF">
              <a:alpha val="10000"/>
            </a:srgbClr>
          </a:solidFill>
          <a:ln w="9144">
            <a:solidFill>
              <a:srgbClr val="58A6F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4865536" y="4321969"/>
            <a:ext cx="1371600" cy="198239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TAG_FLOOR_EXEMPT_FOLDERS</a:t>
            </a:r>
            <a:endParaRPr lang="en-US" sz="600" dirty="0"/>
          </a:p>
        </p:txBody>
      </p:sp>
      <p:sp>
        <p:nvSpPr>
          <p:cNvPr id="43" name="Shape 35"/>
          <p:cNvSpPr/>
          <p:nvPr/>
        </p:nvSpPr>
        <p:spPr>
          <a:xfrm>
            <a:off x="4522636" y="4000500"/>
            <a:ext cx="114300" cy="14288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9251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09 / TELEMETRY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보강재 ②: Read Telemetry —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행동적 부패를 감지한다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1153716"/>
            <a:ext cx="96441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7953" y="1110853"/>
            <a:ext cx="204311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정적 검사가 보지 못하는 부패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614363" y="1391245"/>
            <a:ext cx="338873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구조적으로는 완벽하지만(Lint Pass)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아무도 들여다보지 않는 노트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. 구조적으로는 건강하지만 행동적으로는 죽어 있는 상태를 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감지해야 합니다.</a:t>
            </a:r>
            <a:endParaRPr lang="en-US" sz="8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123480"/>
            <a:ext cx="112514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84027" y="2080617"/>
            <a:ext cx="1389459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1단계: read_log.py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14363" y="2361009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Claude Code의 트랜스크립트(JSONL)를 스캔하여 파일 접근 기록을 추출합니다.</a:t>
            </a:r>
            <a:endParaRPr lang="en-US" sz="800" dirty="0"/>
          </a:p>
        </p:txBody>
      </p:sp>
      <p:sp>
        <p:nvSpPr>
          <p:cNvPr id="11" name="Shape 6"/>
          <p:cNvSpPr/>
          <p:nvPr/>
        </p:nvSpPr>
        <p:spPr>
          <a:xfrm>
            <a:off x="614363" y="2789634"/>
            <a:ext cx="3388733" cy="575072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28663" y="2903934"/>
            <a:ext cx="316013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Extracts: Read / Edit / Write / Glob / Grep</a:t>
            </a:r>
            <a:endParaRPr lang="en-US" sz="650" dirty="0"/>
          </a:p>
        </p:txBody>
      </p:sp>
      <p:sp>
        <p:nvSpPr>
          <p:cNvPr id="13" name="Text 8"/>
          <p:cNvSpPr/>
          <p:nvPr/>
        </p:nvSpPr>
        <p:spPr>
          <a:xfrm>
            <a:off x="728663" y="3098602"/>
            <a:ext cx="155591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→ 월별 TSV로 적재 (멱등성 보장)</a:t>
            </a:r>
            <a:endParaRPr lang="en-US" sz="6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568303"/>
            <a:ext cx="128588" cy="1285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00100" y="3525441"/>
            <a:ext cx="1646634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2단계: dead_notes.py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14363" y="3805833"/>
            <a:ext cx="338873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TSV 데이터와 Vault 구조를 교차 분석하여 </a:t>
            </a:r>
            <a:r>
              <a:rPr lang="en-US" sz="750" b="1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죽은 노트 후보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를 적</a:t>
            </a: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발합니다.</a:t>
            </a:r>
            <a:endParaRPr lang="en-US" sz="800" dirty="0"/>
          </a:p>
        </p:txBody>
      </p:sp>
      <p:sp>
        <p:nvSpPr>
          <p:cNvPr id="17" name="Shape 11"/>
          <p:cNvSpPr/>
          <p:nvPr/>
        </p:nvSpPr>
        <p:spPr>
          <a:xfrm>
            <a:off x="614363" y="4234458"/>
            <a:ext cx="3388733" cy="575072"/>
          </a:xfrm>
          <a:prstGeom prst="rect">
            <a:avLst/>
          </a:prstGeom>
          <a:solidFill>
            <a:srgbClr val="161B22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728663" y="4348758"/>
            <a:ext cx="316013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Condition for Dead Note:</a:t>
            </a:r>
            <a:endParaRPr lang="en-US" sz="650" dirty="0"/>
          </a:p>
        </p:txBody>
      </p:sp>
      <p:sp>
        <p:nvSpPr>
          <p:cNvPr id="19" name="Text 13"/>
          <p:cNvSpPr/>
          <p:nvPr/>
        </p:nvSpPr>
        <p:spPr>
          <a:xfrm>
            <a:off x="728663" y="4543425"/>
            <a:ext cx="201453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90일간 0번 읽힘 + 인바운드 wikilink 0개</a:t>
            </a:r>
            <a:endParaRPr lang="en-US" sz="650" dirty="0"/>
          </a:p>
        </p:txBody>
      </p:sp>
      <p:sp>
        <p:nvSpPr>
          <p:cNvPr id="20" name="Text 14"/>
          <p:cNvSpPr/>
          <p:nvPr/>
        </p:nvSpPr>
        <p:spPr>
          <a:xfrm>
            <a:off x="5909165" y="4855964"/>
            <a:ext cx="1585913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STRUCTURAL HEALTH (LINT)</a:t>
            </a:r>
            <a:endParaRPr lang="en-US" sz="600" dirty="0"/>
          </a:p>
        </p:txBody>
      </p:sp>
      <p:sp>
        <p:nvSpPr>
          <p:cNvPr id="21" name="Text 15"/>
          <p:cNvSpPr/>
          <p:nvPr/>
        </p:nvSpPr>
        <p:spPr>
          <a:xfrm rot="-5400000">
            <a:off x="4701871" y="2990552"/>
            <a:ext cx="1916311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BEHAVIORAL HEALTH (TELEMETRY)</a:t>
            </a:r>
            <a:endParaRPr lang="en-US" sz="600" dirty="0"/>
          </a:p>
        </p:txBody>
      </p:sp>
      <p:sp>
        <p:nvSpPr>
          <p:cNvPr id="22" name="Text 16"/>
          <p:cNvSpPr/>
          <p:nvPr/>
        </p:nvSpPr>
        <p:spPr>
          <a:xfrm>
            <a:off x="5712712" y="4855964"/>
            <a:ext cx="2643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3FB95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PASS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7427212" y="4855964"/>
            <a:ext cx="2643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FAIL</a:t>
            </a:r>
            <a:endParaRPr lang="en-US" sz="600" dirty="0"/>
          </a:p>
        </p:txBody>
      </p:sp>
      <p:sp>
        <p:nvSpPr>
          <p:cNvPr id="24" name="Text 18"/>
          <p:cNvSpPr/>
          <p:nvPr/>
        </p:nvSpPr>
        <p:spPr>
          <a:xfrm rot="-5400000">
            <a:off x="4701871" y="2133302"/>
            <a:ext cx="2643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3FB95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READ</a:t>
            </a:r>
            <a:endParaRPr lang="en-US" sz="600" dirty="0"/>
          </a:p>
        </p:txBody>
      </p:sp>
      <p:sp>
        <p:nvSpPr>
          <p:cNvPr id="25" name="Text 19"/>
          <p:cNvSpPr/>
          <p:nvPr/>
        </p:nvSpPr>
        <p:spPr>
          <a:xfrm rot="-5400000">
            <a:off x="4701871" y="3847802"/>
            <a:ext cx="3964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UNREAD</a:t>
            </a:r>
            <a:endParaRPr lang="en-US" sz="600" dirty="0"/>
          </a:p>
        </p:txBody>
      </p:sp>
      <p:sp>
        <p:nvSpPr>
          <p:cNvPr id="26" name="Shape 20"/>
          <p:cNvSpPr/>
          <p:nvPr/>
        </p:nvSpPr>
        <p:spPr>
          <a:xfrm>
            <a:off x="4987621" y="1339453"/>
            <a:ext cx="3429000" cy="3429000"/>
          </a:xfrm>
          <a:prstGeom prst="rect">
            <a:avLst/>
          </a:prstGeom>
          <a:solidFill>
            <a:srgbClr val="30363D"/>
          </a:solidFill>
          <a:ln w="18288">
            <a:solidFill>
              <a:srgbClr val="30363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987621" y="1339453"/>
            <a:ext cx="1707356" cy="170735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8" name="Text 22"/>
          <p:cNvSpPr/>
          <p:nvPr/>
        </p:nvSpPr>
        <p:spPr>
          <a:xfrm>
            <a:off x="5575195" y="1935956"/>
            <a:ext cx="53220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Healthy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5580552" y="2175272"/>
            <a:ext cx="52149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구조 완벽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활발한 참조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6709265" y="1339453"/>
            <a:ext cx="1707356" cy="170735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1" name="Text 25"/>
          <p:cNvSpPr/>
          <p:nvPr/>
        </p:nvSpPr>
        <p:spPr>
          <a:xfrm>
            <a:off x="7232545" y="1935956"/>
            <a:ext cx="660797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Needs Fix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180752" y="2175272"/>
            <a:ext cx="76438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자주 읽히나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구조적 오류 존재</a:t>
            </a:r>
            <a:endParaRPr lang="en-US" sz="650" dirty="0"/>
          </a:p>
        </p:txBody>
      </p:sp>
      <p:sp>
        <p:nvSpPr>
          <p:cNvPr id="33" name="Shape 27"/>
          <p:cNvSpPr/>
          <p:nvPr/>
        </p:nvSpPr>
        <p:spPr>
          <a:xfrm>
            <a:off x="4987621" y="3061097"/>
            <a:ext cx="1707356" cy="1707356"/>
          </a:xfrm>
          <a:prstGeom prst="rect">
            <a:avLst/>
          </a:prstGeom>
          <a:solidFill>
            <a:srgbClr val="58A6FF">
              <a:alpha val="10000"/>
            </a:srgbClr>
          </a:solidFill>
          <a:ln w="18288">
            <a:solidFill>
              <a:srgbClr val="58A6F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485898" y="3560266"/>
            <a:ext cx="71080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Dead Note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5487684" y="3799582"/>
            <a:ext cx="7072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구조는 완벽하나</a:t>
            </a:r>
            <a:endParaRPr lang="en-US" sz="650" dirty="0"/>
          </a:p>
        </p:txBody>
      </p:sp>
      <p:sp>
        <p:nvSpPr>
          <p:cNvPr id="36" name="Text 30"/>
          <p:cNvSpPr/>
          <p:nvPr/>
        </p:nvSpPr>
        <p:spPr>
          <a:xfrm>
            <a:off x="5459109" y="3937099"/>
            <a:ext cx="7643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아무도 읽지 않음</a:t>
            </a:r>
            <a:endParaRPr lang="en-US" sz="650" dirty="0"/>
          </a:p>
        </p:txBody>
      </p:sp>
      <p:sp>
        <p:nvSpPr>
          <p:cNvPr id="37" name="Text 31"/>
          <p:cNvSpPr/>
          <p:nvPr/>
        </p:nvSpPr>
        <p:spPr>
          <a:xfrm>
            <a:off x="5384099" y="4131766"/>
            <a:ext cx="9144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58A6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Telemetry Target</a:t>
            </a:r>
            <a:endParaRPr lang="en-US" sz="650" dirty="0"/>
          </a:p>
        </p:txBody>
      </p:sp>
      <p:sp>
        <p:nvSpPr>
          <p:cNvPr id="38" name="Shape 32"/>
          <p:cNvSpPr/>
          <p:nvPr/>
        </p:nvSpPr>
        <p:spPr>
          <a:xfrm>
            <a:off x="6709265" y="3061097"/>
            <a:ext cx="1707356" cy="1707356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9" name="Text 33"/>
          <p:cNvSpPr/>
          <p:nvPr/>
        </p:nvSpPr>
        <p:spPr>
          <a:xfrm>
            <a:off x="7305768" y="3657600"/>
            <a:ext cx="51435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949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Archive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7255762" y="3896916"/>
            <a:ext cx="614363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구조도 깨지고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읽히지도 않음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05727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10 / MAINTENANCE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Maintenance Cadence: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보강재도 노화한다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107281"/>
            <a:ext cx="3261289" cy="125372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107281"/>
            <a:ext cx="28575" cy="1253728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7" name="Text 4"/>
          <p:cNvSpPr/>
          <p:nvPr/>
        </p:nvSpPr>
        <p:spPr>
          <a:xfrm>
            <a:off x="600075" y="1250156"/>
            <a:ext cx="297553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보강재 자체의 노화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0075" y="1535906"/>
            <a:ext cx="116264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보강재도 노화합니다.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762720" y="1519833"/>
            <a:ext cx="807244" cy="189309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762720" y="1519833"/>
            <a:ext cx="807244" cy="18930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read_log.py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555677" y="1535906"/>
            <a:ext cx="94833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를 매월 돌리지 않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0075" y="1707356"/>
            <a:ext cx="293072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으면 telemetry가 stale해지고, stale telemetry로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00075" y="1880592"/>
            <a:ext cx="280392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돌린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880467" y="1864519"/>
            <a:ext cx="935831" cy="189309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0467" y="1864519"/>
            <a:ext cx="935831" cy="189309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58A6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dead_notes.py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802011" y="1880592"/>
            <a:ext cx="172343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는 거짓 양성을 쏟아냅니다. 이를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00075" y="2052042"/>
            <a:ext cx="56078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막기 위해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60859" y="2052042"/>
            <a:ext cx="601861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메타 보강재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762720" y="2052042"/>
            <a:ext cx="775097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가 필요합니다.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532459"/>
            <a:ext cx="3261289" cy="1591270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532459"/>
            <a:ext cx="3261289" cy="298252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22" name="Shape 19"/>
          <p:cNvSpPr/>
          <p:nvPr/>
        </p:nvSpPr>
        <p:spPr>
          <a:xfrm>
            <a:off x="457200" y="2823567"/>
            <a:ext cx="3261289" cy="7144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628007"/>
            <a:ext cx="112514" cy="10001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55452" y="2603897"/>
            <a:ext cx="1275159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maintenance_status.py</a:t>
            </a:r>
            <a:endParaRPr lang="en-US" sz="700" dirty="0"/>
          </a:p>
        </p:txBody>
      </p:sp>
      <p:sp>
        <p:nvSpPr>
          <p:cNvPr id="25" name="Shape 21"/>
          <p:cNvSpPr/>
          <p:nvPr/>
        </p:nvSpPr>
        <p:spPr>
          <a:xfrm>
            <a:off x="571500" y="2937867"/>
            <a:ext cx="642938" cy="198239"/>
          </a:xfrm>
          <a:prstGeom prst="rect">
            <a:avLst/>
          </a:prstGeom>
          <a:solidFill>
            <a:srgbClr val="3FB950">
              <a:alpha val="10000"/>
            </a:srgbClr>
          </a:solidFill>
          <a:ln w="9144">
            <a:solidFill>
              <a:srgbClr val="3FB95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71500" y="2937867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95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FRESH</a:t>
            </a:r>
            <a:endParaRPr lang="en-US" sz="600" dirty="0"/>
          </a:p>
        </p:txBody>
      </p:sp>
      <p:sp>
        <p:nvSpPr>
          <p:cNvPr id="27" name="Text 23"/>
          <p:cNvSpPr/>
          <p:nvPr/>
        </p:nvSpPr>
        <p:spPr>
          <a:xfrm>
            <a:off x="1328738" y="2961084"/>
            <a:ext cx="12144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최근 실행됨, 신뢰 구간 내</a:t>
            </a:r>
            <a:endParaRPr lang="en-US" sz="650" dirty="0"/>
          </a:p>
        </p:txBody>
      </p:sp>
      <p:sp>
        <p:nvSpPr>
          <p:cNvPr id="28" name="Shape 24"/>
          <p:cNvSpPr/>
          <p:nvPr/>
        </p:nvSpPr>
        <p:spPr>
          <a:xfrm>
            <a:off x="571500" y="3207544"/>
            <a:ext cx="642938" cy="198239"/>
          </a:xfrm>
          <a:prstGeom prst="rect">
            <a:avLst/>
          </a:prstGeom>
          <a:solidFill>
            <a:srgbClr val="F0B429">
              <a:alpha val="10000"/>
            </a:srgbClr>
          </a:solidFill>
          <a:ln w="9144">
            <a:solidFill>
              <a:srgbClr val="F0B42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71500" y="3207544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DUE SOON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1328738" y="3230761"/>
            <a:ext cx="9715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실행 주기 임박, 경고</a:t>
            </a:r>
            <a:endParaRPr lang="en-US" sz="650" dirty="0"/>
          </a:p>
        </p:txBody>
      </p:sp>
      <p:sp>
        <p:nvSpPr>
          <p:cNvPr id="31" name="Shape 27"/>
          <p:cNvSpPr/>
          <p:nvPr/>
        </p:nvSpPr>
        <p:spPr>
          <a:xfrm>
            <a:off x="571500" y="3477220"/>
            <a:ext cx="642938" cy="198239"/>
          </a:xfrm>
          <a:prstGeom prst="rect">
            <a:avLst/>
          </a:prstGeom>
          <a:solidFill>
            <a:srgbClr val="F85149">
              <a:alpha val="10000"/>
            </a:srgbClr>
          </a:solidFill>
          <a:ln w="9144">
            <a:solidFill>
              <a:srgbClr val="F8514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71500" y="3477220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8514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STALE</a:t>
            </a:r>
            <a:endParaRPr lang="en-US" sz="600" dirty="0"/>
          </a:p>
        </p:txBody>
      </p:sp>
      <p:sp>
        <p:nvSpPr>
          <p:cNvPr id="33" name="Text 29"/>
          <p:cNvSpPr/>
          <p:nvPr/>
        </p:nvSpPr>
        <p:spPr>
          <a:xfrm>
            <a:off x="1328738" y="3500438"/>
            <a:ext cx="130730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실행 주기 초과, 신뢰도 하락</a:t>
            </a:r>
            <a:endParaRPr lang="en-US" sz="650" dirty="0"/>
          </a:p>
        </p:txBody>
      </p:sp>
      <p:sp>
        <p:nvSpPr>
          <p:cNvPr id="34" name="Shape 30"/>
          <p:cNvSpPr/>
          <p:nvPr/>
        </p:nvSpPr>
        <p:spPr>
          <a:xfrm>
            <a:off x="571500" y="3746897"/>
            <a:ext cx="642938" cy="198239"/>
          </a:xfrm>
          <a:prstGeom prst="rect">
            <a:avLst/>
          </a:prstGeom>
          <a:solidFill>
            <a:srgbClr val="8B949E">
              <a:alpha val="10000"/>
            </a:srgbClr>
          </a:solidFill>
          <a:ln w="9144">
            <a:solidFill>
              <a:srgbClr val="8B949E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71500" y="3746897"/>
            <a:ext cx="642938" cy="198239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NEVER RUN</a:t>
            </a:r>
            <a:endParaRPr lang="en-US" sz="600" dirty="0"/>
          </a:p>
        </p:txBody>
      </p:sp>
      <p:sp>
        <p:nvSpPr>
          <p:cNvPr id="36" name="Text 32"/>
          <p:cNvSpPr/>
          <p:nvPr/>
        </p:nvSpPr>
        <p:spPr>
          <a:xfrm>
            <a:off x="1328738" y="3770114"/>
            <a:ext cx="6715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실행 기록 없음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4075677" y="1107281"/>
            <a:ext cx="4611123" cy="3429000"/>
          </a:xfrm>
          <a:prstGeom prst="rect">
            <a:avLst/>
          </a:prstGeom>
          <a:solidFill>
            <a:srgbClr val="161B22"/>
          </a:solidFill>
          <a:ln w="18288">
            <a:solidFill>
              <a:srgbClr val="30363D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4259545" y="1278731"/>
            <a:ext cx="425580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7 SCRIPTS EXECUTION CADENCE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4259545" y="1541264"/>
            <a:ext cx="15716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SCRIPT</a:t>
            </a:r>
            <a:endParaRPr lang="en-US" sz="600" dirty="0"/>
          </a:p>
        </p:txBody>
      </p:sp>
      <p:sp>
        <p:nvSpPr>
          <p:cNvPr id="40" name="Text 36"/>
          <p:cNvSpPr/>
          <p:nvPr/>
        </p:nvSpPr>
        <p:spPr>
          <a:xfrm>
            <a:off x="5831170" y="1541264"/>
            <a:ext cx="571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CADENCE</a:t>
            </a:r>
            <a:endParaRPr lang="en-US" sz="600" dirty="0"/>
          </a:p>
        </p:txBody>
      </p:sp>
      <p:sp>
        <p:nvSpPr>
          <p:cNvPr id="41" name="Text 37"/>
          <p:cNvSpPr/>
          <p:nvPr/>
        </p:nvSpPr>
        <p:spPr>
          <a:xfrm>
            <a:off x="6402670" y="1541264"/>
            <a:ext cx="211268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FREQUENCY SCALE (0 - 90 DAYS)</a:t>
            </a:r>
            <a:endParaRPr lang="en-US" sz="600" dirty="0"/>
          </a:p>
        </p:txBody>
      </p:sp>
      <p:sp>
        <p:nvSpPr>
          <p:cNvPr id="42" name="Text 38"/>
          <p:cNvSpPr/>
          <p:nvPr/>
        </p:nvSpPr>
        <p:spPr>
          <a:xfrm>
            <a:off x="4259545" y="1882378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vault-lint.py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831170" y="1887736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매 턴</a:t>
            </a:r>
            <a:endParaRPr lang="en-US" sz="650" dirty="0"/>
          </a:p>
        </p:txBody>
      </p:sp>
      <p:sp>
        <p:nvSpPr>
          <p:cNvPr id="44" name="Shape 40"/>
          <p:cNvSpPr/>
          <p:nvPr/>
        </p:nvSpPr>
        <p:spPr>
          <a:xfrm>
            <a:off x="6402670" y="1913632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4259545" y="2209205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read_log.py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5831170" y="2214563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30일</a:t>
            </a:r>
            <a:endParaRPr lang="en-US" sz="650" dirty="0"/>
          </a:p>
        </p:txBody>
      </p:sp>
      <p:sp>
        <p:nvSpPr>
          <p:cNvPr id="47" name="Shape 43"/>
          <p:cNvSpPr/>
          <p:nvPr/>
        </p:nvSpPr>
        <p:spPr>
          <a:xfrm>
            <a:off x="6402670" y="2240459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4259545" y="2536031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dead_notes.py</a:t>
            </a:r>
            <a:endParaRPr lang="en-US" sz="750" dirty="0"/>
          </a:p>
        </p:txBody>
      </p:sp>
      <p:sp>
        <p:nvSpPr>
          <p:cNvPr id="49" name="Text 45"/>
          <p:cNvSpPr/>
          <p:nvPr/>
        </p:nvSpPr>
        <p:spPr>
          <a:xfrm>
            <a:off x="5831170" y="2541389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30일</a:t>
            </a:r>
            <a:endParaRPr lang="en-US" sz="650" dirty="0"/>
          </a:p>
        </p:txBody>
      </p:sp>
      <p:sp>
        <p:nvSpPr>
          <p:cNvPr id="50" name="Shape 46"/>
          <p:cNvSpPr/>
          <p:nvPr/>
        </p:nvSpPr>
        <p:spPr>
          <a:xfrm>
            <a:off x="6402670" y="2567285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4259545" y="2862858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instruction_audit.py</a:t>
            </a:r>
            <a:endParaRPr lang="en-US" sz="750" dirty="0"/>
          </a:p>
        </p:txBody>
      </p:sp>
      <p:sp>
        <p:nvSpPr>
          <p:cNvPr id="52" name="Text 48"/>
          <p:cNvSpPr/>
          <p:nvPr/>
        </p:nvSpPr>
        <p:spPr>
          <a:xfrm>
            <a:off x="5831170" y="2868216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30일</a:t>
            </a:r>
            <a:endParaRPr lang="en-US" sz="650" dirty="0"/>
          </a:p>
        </p:txBody>
      </p:sp>
      <p:sp>
        <p:nvSpPr>
          <p:cNvPr id="53" name="Shape 49"/>
          <p:cNvSpPr/>
          <p:nvPr/>
        </p:nvSpPr>
        <p:spPr>
          <a:xfrm>
            <a:off x="6402670" y="2894112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259545" y="3189684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graph_health.py</a:t>
            </a:r>
            <a:endParaRPr lang="en-US" sz="750" dirty="0"/>
          </a:p>
        </p:txBody>
      </p:sp>
      <p:sp>
        <p:nvSpPr>
          <p:cNvPr id="55" name="Text 51"/>
          <p:cNvSpPr/>
          <p:nvPr/>
        </p:nvSpPr>
        <p:spPr>
          <a:xfrm>
            <a:off x="5831170" y="3195042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60일</a:t>
            </a:r>
            <a:endParaRPr lang="en-US" sz="650" dirty="0"/>
          </a:p>
        </p:txBody>
      </p:sp>
      <p:sp>
        <p:nvSpPr>
          <p:cNvPr id="56" name="Shape 52"/>
          <p:cNvSpPr/>
          <p:nvPr/>
        </p:nvSpPr>
        <p:spPr>
          <a:xfrm>
            <a:off x="6402670" y="3220938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4259545" y="3516511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status_aging.py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5831170" y="3521869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90일</a:t>
            </a:r>
            <a:endParaRPr lang="en-US" sz="650" dirty="0"/>
          </a:p>
        </p:txBody>
      </p:sp>
      <p:sp>
        <p:nvSpPr>
          <p:cNvPr id="59" name="Shape 55"/>
          <p:cNvSpPr/>
          <p:nvPr/>
        </p:nvSpPr>
        <p:spPr>
          <a:xfrm>
            <a:off x="6402670" y="3547765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4259545" y="3843338"/>
            <a:ext cx="1571625" cy="148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log_archive.py</a:t>
            </a:r>
            <a:endParaRPr lang="en-US" sz="750" dirty="0"/>
          </a:p>
        </p:txBody>
      </p:sp>
      <p:sp>
        <p:nvSpPr>
          <p:cNvPr id="61" name="Text 57"/>
          <p:cNvSpPr/>
          <p:nvPr/>
        </p:nvSpPr>
        <p:spPr>
          <a:xfrm>
            <a:off x="5831170" y="3848695"/>
            <a:ext cx="5715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90일</a:t>
            </a:r>
            <a:endParaRPr lang="en-US" sz="650" dirty="0"/>
          </a:p>
        </p:txBody>
      </p:sp>
      <p:sp>
        <p:nvSpPr>
          <p:cNvPr id="62" name="Shape 58"/>
          <p:cNvSpPr/>
          <p:nvPr/>
        </p:nvSpPr>
        <p:spPr>
          <a:xfrm>
            <a:off x="6402670" y="3874591"/>
            <a:ext cx="2112680" cy="85725"/>
          </a:xfrm>
          <a:prstGeom prst="rect">
            <a:avLst/>
          </a:prstGeom>
          <a:solidFill>
            <a:srgbClr val="0D1117"/>
          </a:solidFill>
          <a:ln w="9144">
            <a:solidFill>
              <a:srgbClr val="30363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99119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11 / BOUNDARIES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SSOT 경계 규칙: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같은 정보는 한 곳에만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57200" y="1064419"/>
            <a:ext cx="8229600" cy="365727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산문은 같은 규칙을 두 군데 적기 시작하면 곧장 </a:t>
            </a:r>
            <a:r>
              <a:rPr lang="en-US" sz="80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두 가지 진실</a:t>
            </a: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을 갖게 된다.</a:t>
            </a: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8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이 시스템은 같은 정보를 두 곳에 두지 않는다는 단순한 규칙(SSOT)을 세 가지 영역의 경계로 끌어올린다.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57200" y="1658745"/>
            <a:ext cx="2628900" cy="2030611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1658745"/>
            <a:ext cx="2628900" cy="28575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Shape 5"/>
          <p:cNvSpPr/>
          <p:nvPr/>
        </p:nvSpPr>
        <p:spPr>
          <a:xfrm>
            <a:off x="3078956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3682212"/>
            <a:ext cx="262890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824837"/>
            <a:ext cx="214313" cy="1714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00113" y="1801620"/>
            <a:ext cx="84117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LLM Layer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600075" y="2312398"/>
            <a:ext cx="23336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Agent 라우팅 및 워크플로우 분기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00075" y="2587433"/>
            <a:ext cx="23336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모델 선택 및 파라미터 설정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0075" y="2862467"/>
            <a:ext cx="233363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시스템 프롬프트 주입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457200" y="3316095"/>
            <a:ext cx="2619384" cy="373261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7" name="Shape 13"/>
          <p:cNvSpPr/>
          <p:nvPr/>
        </p:nvSpPr>
        <p:spPr>
          <a:xfrm>
            <a:off x="457200" y="3316095"/>
            <a:ext cx="2619384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Text 14"/>
          <p:cNvSpPr/>
          <p:nvPr/>
        </p:nvSpPr>
        <p:spPr>
          <a:xfrm>
            <a:off x="457200" y="3316095"/>
            <a:ext cx="2619384" cy="373261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58A6FF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라우팅은 여기서만 정의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3248034" y="1658745"/>
            <a:ext cx="2633672" cy="2030611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0" name="Shape 16"/>
          <p:cNvSpPr/>
          <p:nvPr/>
        </p:nvSpPr>
        <p:spPr>
          <a:xfrm>
            <a:off x="3248034" y="1658745"/>
            <a:ext cx="2633672" cy="28575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21" name="Shape 17"/>
          <p:cNvSpPr/>
          <p:nvPr/>
        </p:nvSpPr>
        <p:spPr>
          <a:xfrm>
            <a:off x="5874562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2" name="Shape 18"/>
          <p:cNvSpPr/>
          <p:nvPr/>
        </p:nvSpPr>
        <p:spPr>
          <a:xfrm>
            <a:off x="3248034" y="3682212"/>
            <a:ext cx="2633672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Shape 19"/>
          <p:cNvSpPr/>
          <p:nvPr/>
        </p:nvSpPr>
        <p:spPr>
          <a:xfrm>
            <a:off x="3248034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5653" y="1824837"/>
            <a:ext cx="150019" cy="1714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631397" y="1801620"/>
            <a:ext cx="93047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Vault Layer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395653" y="2312398"/>
            <a:ext cx="23383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노트 콘텐츠 및 메타데이터 규칙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395653" y="2587433"/>
            <a:ext cx="23383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태그 및 폴더 스키마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3395653" y="2862467"/>
            <a:ext cx="2338378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정합성 검사 (Lint)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3252778" y="3316095"/>
            <a:ext cx="2624128" cy="373261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0" name="Shape 25"/>
          <p:cNvSpPr/>
          <p:nvPr/>
        </p:nvSpPr>
        <p:spPr>
          <a:xfrm>
            <a:off x="3252778" y="3316095"/>
            <a:ext cx="2624128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Text 26"/>
          <p:cNvSpPr/>
          <p:nvPr/>
        </p:nvSpPr>
        <p:spPr>
          <a:xfrm>
            <a:off x="3252778" y="3316095"/>
            <a:ext cx="2624128" cy="373261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F0B429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규칙은 LINT 코드가 권위</a:t>
            </a:r>
            <a:endParaRPr lang="en-US" sz="650" dirty="0"/>
          </a:p>
        </p:txBody>
      </p:sp>
      <p:sp>
        <p:nvSpPr>
          <p:cNvPr id="32" name="Shape 27"/>
          <p:cNvSpPr/>
          <p:nvPr/>
        </p:nvSpPr>
        <p:spPr>
          <a:xfrm>
            <a:off x="6048356" y="1658745"/>
            <a:ext cx="2638416" cy="2030611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Shape 28"/>
          <p:cNvSpPr/>
          <p:nvPr/>
        </p:nvSpPr>
        <p:spPr>
          <a:xfrm>
            <a:off x="6048356" y="1658745"/>
            <a:ext cx="2638416" cy="28575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4" name="Shape 29"/>
          <p:cNvSpPr/>
          <p:nvPr/>
        </p:nvSpPr>
        <p:spPr>
          <a:xfrm>
            <a:off x="8679628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Shape 30"/>
          <p:cNvSpPr/>
          <p:nvPr/>
        </p:nvSpPr>
        <p:spPr>
          <a:xfrm>
            <a:off x="6048356" y="3682212"/>
            <a:ext cx="2638416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6" name="Shape 31"/>
          <p:cNvSpPr/>
          <p:nvPr/>
        </p:nvSpPr>
        <p:spPr>
          <a:xfrm>
            <a:off x="6048356" y="1658745"/>
            <a:ext cx="7144" cy="2030611"/>
          </a:xfrm>
          <a:prstGeom prst="rect">
            <a:avLst/>
          </a:prstGeom>
          <a:solidFill>
            <a:srgbClr val="30363D"/>
          </a:solidFill>
          <a:ln/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775" y="1824837"/>
            <a:ext cx="171450" cy="17145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457950" y="1801620"/>
            <a:ext cx="117871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Memory Layer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6200775" y="2312398"/>
            <a:ext cx="2343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사용자 선호도 (Preferences)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6200775" y="2587433"/>
            <a:ext cx="2343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세션 간 지속되는 사실 및 맥락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200775" y="2862467"/>
            <a:ext cx="2343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개인화된 작업 지침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6057900" y="3280377"/>
            <a:ext cx="2628900" cy="373261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3" name="Shape 37"/>
          <p:cNvSpPr/>
          <p:nvPr/>
        </p:nvSpPr>
        <p:spPr>
          <a:xfrm>
            <a:off x="6057900" y="3280377"/>
            <a:ext cx="262890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4" name="Text 38"/>
          <p:cNvSpPr/>
          <p:nvPr/>
        </p:nvSpPr>
        <p:spPr>
          <a:xfrm>
            <a:off x="6057900" y="3280377"/>
            <a:ext cx="2628900" cy="373261"/>
          </a:xfrm>
          <a:prstGeom prst="rect">
            <a:avLst/>
          </a:prstGeom>
          <a:noFill/>
          <a:ln/>
        </p:spPr>
        <p:txBody>
          <a:bodyPr wrap="square" lIns="170053" tIns="136017" rIns="170053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3FB950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개인화 정보는 여기서만</a:t>
            </a:r>
            <a:endParaRPr lang="en-US" sz="650" dirty="0"/>
          </a:p>
        </p:txBody>
      </p:sp>
      <p:sp>
        <p:nvSpPr>
          <p:cNvPr id="45" name="Shape 39"/>
          <p:cNvSpPr/>
          <p:nvPr/>
        </p:nvSpPr>
        <p:spPr>
          <a:xfrm>
            <a:off x="457200" y="3875094"/>
            <a:ext cx="8229600" cy="1034058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6" name="Shape 40"/>
          <p:cNvSpPr/>
          <p:nvPr/>
        </p:nvSpPr>
        <p:spPr>
          <a:xfrm>
            <a:off x="457200" y="3875094"/>
            <a:ext cx="822960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7" name="Shape 41"/>
          <p:cNvSpPr/>
          <p:nvPr/>
        </p:nvSpPr>
        <p:spPr>
          <a:xfrm>
            <a:off x="8679656" y="3875094"/>
            <a:ext cx="7144" cy="103405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8" name="Shape 42"/>
          <p:cNvSpPr/>
          <p:nvPr/>
        </p:nvSpPr>
        <p:spPr>
          <a:xfrm>
            <a:off x="457200" y="4902008"/>
            <a:ext cx="822960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9" name="Shape 43"/>
          <p:cNvSpPr/>
          <p:nvPr/>
        </p:nvSpPr>
        <p:spPr>
          <a:xfrm>
            <a:off x="457200" y="3875094"/>
            <a:ext cx="42863" cy="1034058"/>
          </a:xfrm>
          <a:prstGeom prst="rect">
            <a:avLst/>
          </a:prstGeom>
          <a:solidFill>
            <a:srgbClr val="E6EDF3"/>
          </a:solidFill>
          <a:ln/>
        </p:spPr>
      </p:sp>
      <p:sp>
        <p:nvSpPr>
          <p:cNvPr id="50" name="Text 44"/>
          <p:cNvSpPr/>
          <p:nvPr/>
        </p:nvSpPr>
        <p:spPr>
          <a:xfrm>
            <a:off x="685800" y="4046544"/>
            <a:ext cx="77724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DECISION RULE</a:t>
            </a:r>
            <a:endParaRPr lang="en-US" sz="600" dirty="0"/>
          </a:p>
        </p:txBody>
      </p:sp>
      <p:sp>
        <p:nvSpPr>
          <p:cNvPr id="51" name="Text 45"/>
          <p:cNvSpPr/>
          <p:nvPr/>
        </p:nvSpPr>
        <p:spPr>
          <a:xfrm>
            <a:off x="685800" y="4259070"/>
            <a:ext cx="7772400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"이 정보가 </a:t>
            </a:r>
            <a:r>
              <a:rPr lang="en-US" sz="12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인간으로서 나에게 유용한가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(→ Memory),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아니면 </a:t>
            </a:r>
            <a:r>
              <a:rPr lang="en-US" sz="12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지식 아티팩트로서 유용한가</a:t>
            </a:r>
            <a:r>
              <a:rPr lang="en-US" sz="1250" dirty="0">
                <a:solidFill>
                  <a:srgbClr val="E6ED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(→ Vault)?"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7175"/>
            <a:ext cx="1321594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F0B42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12 / SELF-CORRECTION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0" y="383977"/>
            <a:ext cx="9144000" cy="508992"/>
          </a:xfrm>
          <a:prstGeom prst="rect">
            <a:avLst/>
          </a:prstGeom>
          <a:noFill/>
          <a:ln/>
        </p:spPr>
        <p:txBody>
          <a:bodyPr wrap="square" lIns="544322" tIns="170053" rIns="544322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자기 정정 루프: </a:t>
            </a:r>
            <a:r>
              <a:rPr lang="en-US" sz="1900" b="1" dirty="0">
                <a:solidFill>
                  <a:srgbClr val="58A6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시스템이 스스로 건강을 유지한다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457200" y="1178719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178719"/>
            <a:ext cx="2457450" cy="28575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Shape 4"/>
          <p:cNvSpPr/>
          <p:nvPr/>
        </p:nvSpPr>
        <p:spPr>
          <a:xfrm>
            <a:off x="2907506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2457450"/>
            <a:ext cx="245745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0" name="Text 7"/>
          <p:cNvSpPr/>
          <p:nvPr/>
        </p:nvSpPr>
        <p:spPr>
          <a:xfrm>
            <a:off x="600075" y="1441810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STEP 01</a:t>
            </a:r>
            <a:endParaRPr lang="en-US" sz="6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672196"/>
            <a:ext cx="112514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84027" y="1640049"/>
            <a:ext cx="79474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본체 (Body)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00075" y="1904367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3-Layer 노트 구조.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콘텐츠가 만들어지고 저장되는 시스템의 중심.</a:t>
            </a:r>
            <a:endParaRPr lang="en-US" sz="650" dirty="0"/>
          </a:p>
        </p:txBody>
      </p:sp>
      <p:sp>
        <p:nvSpPr>
          <p:cNvPr id="14" name="Shape 10"/>
          <p:cNvSpPr/>
          <p:nvPr/>
        </p:nvSpPr>
        <p:spPr>
          <a:xfrm>
            <a:off x="2914650" y="1814513"/>
            <a:ext cx="357188" cy="14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15" name="Text 11"/>
          <p:cNvSpPr/>
          <p:nvPr/>
        </p:nvSpPr>
        <p:spPr>
          <a:xfrm>
            <a:off x="2914650" y="1178719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16" name="Shape 12"/>
          <p:cNvSpPr/>
          <p:nvPr/>
        </p:nvSpPr>
        <p:spPr>
          <a:xfrm>
            <a:off x="3343275" y="1178719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3"/>
          <p:cNvSpPr/>
          <p:nvPr/>
        </p:nvSpPr>
        <p:spPr>
          <a:xfrm>
            <a:off x="3343275" y="1178719"/>
            <a:ext cx="2457450" cy="28575"/>
          </a:xfrm>
          <a:prstGeom prst="rect">
            <a:avLst/>
          </a:prstGeom>
          <a:solidFill>
            <a:srgbClr val="F0B429"/>
          </a:solidFill>
          <a:ln/>
        </p:spPr>
      </p:sp>
      <p:sp>
        <p:nvSpPr>
          <p:cNvPr id="18" name="Shape 14"/>
          <p:cNvSpPr/>
          <p:nvPr/>
        </p:nvSpPr>
        <p:spPr>
          <a:xfrm>
            <a:off x="5793581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9" name="Shape 15"/>
          <p:cNvSpPr/>
          <p:nvPr/>
        </p:nvSpPr>
        <p:spPr>
          <a:xfrm>
            <a:off x="3343275" y="2457450"/>
            <a:ext cx="245745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Shape 16"/>
          <p:cNvSpPr/>
          <p:nvPr/>
        </p:nvSpPr>
        <p:spPr>
          <a:xfrm>
            <a:off x="3343275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7"/>
          <p:cNvSpPr/>
          <p:nvPr/>
        </p:nvSpPr>
        <p:spPr>
          <a:xfrm>
            <a:off x="3486150" y="1441810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STEP 02</a:t>
            </a:r>
            <a:endParaRPr lang="en-US" sz="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1672196"/>
            <a:ext cx="128588" cy="128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86175" y="1640049"/>
            <a:ext cx="5857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정적 Lint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486150" y="1904367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구조적 부패 차단.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매 턴 정합성을 강제하여 형태를 유지.</a:t>
            </a:r>
            <a:endParaRPr lang="en-US" sz="650" dirty="0"/>
          </a:p>
        </p:txBody>
      </p:sp>
      <p:sp>
        <p:nvSpPr>
          <p:cNvPr id="25" name="Shape 20"/>
          <p:cNvSpPr/>
          <p:nvPr/>
        </p:nvSpPr>
        <p:spPr>
          <a:xfrm>
            <a:off x="5800725" y="1814513"/>
            <a:ext cx="357188" cy="14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26" name="Text 21"/>
          <p:cNvSpPr/>
          <p:nvPr/>
        </p:nvSpPr>
        <p:spPr>
          <a:xfrm>
            <a:off x="5800725" y="1178719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7" name="Shape 22"/>
          <p:cNvSpPr/>
          <p:nvPr/>
        </p:nvSpPr>
        <p:spPr>
          <a:xfrm>
            <a:off x="6229350" y="1178719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3"/>
          <p:cNvSpPr/>
          <p:nvPr/>
        </p:nvSpPr>
        <p:spPr>
          <a:xfrm>
            <a:off x="6229350" y="1178719"/>
            <a:ext cx="2457450" cy="28575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9" name="Shape 24"/>
          <p:cNvSpPr/>
          <p:nvPr/>
        </p:nvSpPr>
        <p:spPr>
          <a:xfrm>
            <a:off x="8679656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Shape 25"/>
          <p:cNvSpPr/>
          <p:nvPr/>
        </p:nvSpPr>
        <p:spPr>
          <a:xfrm>
            <a:off x="6229350" y="2457450"/>
            <a:ext cx="245745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1" name="Shape 26"/>
          <p:cNvSpPr/>
          <p:nvPr/>
        </p:nvSpPr>
        <p:spPr>
          <a:xfrm>
            <a:off x="6229350" y="1178719"/>
            <a:ext cx="7144" cy="12858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27"/>
          <p:cNvSpPr/>
          <p:nvPr/>
        </p:nvSpPr>
        <p:spPr>
          <a:xfrm>
            <a:off x="6372225" y="1441810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STEP 03</a:t>
            </a:r>
            <a:endParaRPr lang="en-US" sz="6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225" y="1672196"/>
            <a:ext cx="128588" cy="128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572250" y="1640049"/>
            <a:ext cx="10036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행동 Telemetry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72225" y="1904367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죽은 노트 적발.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읽힘 신호로 방치된 노트를 감지.</a:t>
            </a:r>
            <a:endParaRPr lang="en-US" sz="650" dirty="0"/>
          </a:p>
        </p:txBody>
      </p:sp>
      <p:sp>
        <p:nvSpPr>
          <p:cNvPr id="36" name="Shape 30"/>
          <p:cNvSpPr/>
          <p:nvPr/>
        </p:nvSpPr>
        <p:spPr>
          <a:xfrm>
            <a:off x="1678781" y="2536031"/>
            <a:ext cx="14288" cy="500063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37" name="Text 31"/>
          <p:cNvSpPr/>
          <p:nvPr/>
        </p:nvSpPr>
        <p:spPr>
          <a:xfrm>
            <a:off x="457200" y="2464594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38" name="Shape 32"/>
          <p:cNvSpPr/>
          <p:nvPr/>
        </p:nvSpPr>
        <p:spPr>
          <a:xfrm>
            <a:off x="3273623" y="2316919"/>
            <a:ext cx="2596753" cy="866849"/>
          </a:xfrm>
          <a:prstGeom prst="rect">
            <a:avLst/>
          </a:prstGeom>
          <a:solidFill>
            <a:srgbClr val="58A6FF">
              <a:alpha val="5000"/>
            </a:srgbClr>
          </a:solidFill>
          <a:ln w="9144">
            <a:solidFill>
              <a:srgbClr val="58A6FF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280767" y="2324063"/>
            <a:ext cx="28575" cy="85256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0" name="Text 34"/>
          <p:cNvSpPr/>
          <p:nvPr/>
        </p:nvSpPr>
        <p:spPr>
          <a:xfrm>
            <a:off x="3566517" y="2438363"/>
            <a:ext cx="2010966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00" spc="2" kern="0" dirty="0">
                <a:solidFill>
                  <a:srgbClr val="58A6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CORE PRINCIPLE</a:t>
            </a:r>
            <a:endParaRPr lang="en-US" sz="600" dirty="0"/>
          </a:p>
        </p:txBody>
      </p:sp>
      <p:sp>
        <p:nvSpPr>
          <p:cNvPr id="41" name="Text 35"/>
          <p:cNvSpPr/>
          <p:nvPr/>
        </p:nvSpPr>
        <p:spPr>
          <a:xfrm>
            <a:off x="3566517" y="2622314"/>
            <a:ext cx="2010966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자동화는 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신호의 정확도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까지,</a:t>
            </a:r>
            <a:r>
              <a:rPr lang="en-US" sz="11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판단은 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사람의 영역</a:t>
            </a:r>
            <a:r>
              <a:rPr lang="en-US" sz="1100" b="1" dirty="0">
                <a:solidFill>
                  <a:srgbClr val="F0B429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으로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5834658" y="2324063"/>
            <a:ext cx="28575" cy="85256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3" name="Shape 37"/>
          <p:cNvSpPr/>
          <p:nvPr/>
        </p:nvSpPr>
        <p:spPr>
          <a:xfrm>
            <a:off x="7450931" y="2464594"/>
            <a:ext cx="14288" cy="500063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44" name="Text 38"/>
          <p:cNvSpPr/>
          <p:nvPr/>
        </p:nvSpPr>
        <p:spPr>
          <a:xfrm>
            <a:off x="6229350" y="2464594"/>
            <a:ext cx="2457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5" name="Shape 39"/>
          <p:cNvSpPr/>
          <p:nvPr/>
        </p:nvSpPr>
        <p:spPr>
          <a:xfrm>
            <a:off x="1685925" y="3671888"/>
            <a:ext cx="1228725" cy="14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46" name="Shape 40"/>
          <p:cNvSpPr/>
          <p:nvPr/>
        </p:nvSpPr>
        <p:spPr>
          <a:xfrm>
            <a:off x="1678781" y="3036094"/>
            <a:ext cx="14288" cy="64293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47" name="Text 41"/>
          <p:cNvSpPr/>
          <p:nvPr/>
        </p:nvSpPr>
        <p:spPr>
          <a:xfrm>
            <a:off x="457200" y="3036094"/>
            <a:ext cx="2457450" cy="1285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48" name="Shape 42"/>
          <p:cNvSpPr/>
          <p:nvPr/>
        </p:nvSpPr>
        <p:spPr>
          <a:xfrm>
            <a:off x="2986088" y="3671888"/>
            <a:ext cx="357188" cy="14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49" name="Text 43"/>
          <p:cNvSpPr/>
          <p:nvPr/>
        </p:nvSpPr>
        <p:spPr>
          <a:xfrm>
            <a:off x="2914650" y="3036094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50" name="Shape 44"/>
          <p:cNvSpPr/>
          <p:nvPr/>
        </p:nvSpPr>
        <p:spPr>
          <a:xfrm>
            <a:off x="3343275" y="3036094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1" name="Shape 45"/>
          <p:cNvSpPr/>
          <p:nvPr/>
        </p:nvSpPr>
        <p:spPr>
          <a:xfrm>
            <a:off x="3343275" y="3036094"/>
            <a:ext cx="2457450" cy="28575"/>
          </a:xfrm>
          <a:prstGeom prst="rect">
            <a:avLst/>
          </a:prstGeom>
          <a:solidFill>
            <a:srgbClr val="39C5CF"/>
          </a:solidFill>
          <a:ln/>
        </p:spPr>
      </p:sp>
      <p:sp>
        <p:nvSpPr>
          <p:cNvPr id="52" name="Shape 46"/>
          <p:cNvSpPr/>
          <p:nvPr/>
        </p:nvSpPr>
        <p:spPr>
          <a:xfrm>
            <a:off x="5793581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3" name="Shape 47"/>
          <p:cNvSpPr/>
          <p:nvPr/>
        </p:nvSpPr>
        <p:spPr>
          <a:xfrm>
            <a:off x="3343275" y="4314825"/>
            <a:ext cx="245745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4" name="Shape 48"/>
          <p:cNvSpPr/>
          <p:nvPr/>
        </p:nvSpPr>
        <p:spPr>
          <a:xfrm>
            <a:off x="3343275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5" name="Text 49"/>
          <p:cNvSpPr/>
          <p:nvPr/>
        </p:nvSpPr>
        <p:spPr>
          <a:xfrm>
            <a:off x="3486150" y="3304542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STEP 05</a:t>
            </a:r>
            <a:endParaRPr lang="en-US" sz="600" dirty="0"/>
          </a:p>
        </p:txBody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50" y="3529571"/>
            <a:ext cx="96441" cy="128588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3654028" y="3502782"/>
            <a:ext cx="117157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Instruction Audit</a:t>
            </a:r>
            <a:endParaRPr lang="en-US" sz="1000" dirty="0"/>
          </a:p>
        </p:txBody>
      </p:sp>
      <p:sp>
        <p:nvSpPr>
          <p:cNvPr id="58" name="Text 51"/>
          <p:cNvSpPr/>
          <p:nvPr/>
        </p:nvSpPr>
        <p:spPr>
          <a:xfrm>
            <a:off x="3486150" y="3756385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지침 자체 정리.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안 쓰이는 규칙을 적발해 본체로 피드백.</a:t>
            </a:r>
            <a:endParaRPr lang="en-US" sz="650" dirty="0"/>
          </a:p>
        </p:txBody>
      </p:sp>
      <p:sp>
        <p:nvSpPr>
          <p:cNvPr id="59" name="Shape 52"/>
          <p:cNvSpPr/>
          <p:nvPr/>
        </p:nvSpPr>
        <p:spPr>
          <a:xfrm>
            <a:off x="5872163" y="3671888"/>
            <a:ext cx="357188" cy="14288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60" name="Text 53"/>
          <p:cNvSpPr/>
          <p:nvPr/>
        </p:nvSpPr>
        <p:spPr>
          <a:xfrm>
            <a:off x="5800725" y="3036094"/>
            <a:ext cx="428625" cy="1285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61" name="Shape 54"/>
          <p:cNvSpPr/>
          <p:nvPr/>
        </p:nvSpPr>
        <p:spPr>
          <a:xfrm>
            <a:off x="6229350" y="3036094"/>
            <a:ext cx="2457450" cy="1285875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2" name="Shape 55"/>
          <p:cNvSpPr/>
          <p:nvPr/>
        </p:nvSpPr>
        <p:spPr>
          <a:xfrm>
            <a:off x="6229350" y="3036094"/>
            <a:ext cx="2457450" cy="28575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63" name="Shape 56"/>
          <p:cNvSpPr/>
          <p:nvPr/>
        </p:nvSpPr>
        <p:spPr>
          <a:xfrm>
            <a:off x="8679656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4" name="Shape 57"/>
          <p:cNvSpPr/>
          <p:nvPr/>
        </p:nvSpPr>
        <p:spPr>
          <a:xfrm>
            <a:off x="6229350" y="4314825"/>
            <a:ext cx="2457450" cy="7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5" name="Shape 58"/>
          <p:cNvSpPr/>
          <p:nvPr/>
        </p:nvSpPr>
        <p:spPr>
          <a:xfrm>
            <a:off x="6229350" y="3036094"/>
            <a:ext cx="7144" cy="1285875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6" name="Text 59"/>
          <p:cNvSpPr/>
          <p:nvPr/>
        </p:nvSpPr>
        <p:spPr>
          <a:xfrm>
            <a:off x="6372225" y="3304542"/>
            <a:ext cx="21717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spc="2" kern="0" dirty="0">
                <a:solidFill>
                  <a:srgbClr val="8B949E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STEP 04</a:t>
            </a:r>
            <a:endParaRPr lang="en-US" sz="600" dirty="0"/>
          </a:p>
        </p:txBody>
      </p:sp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225" y="3529571"/>
            <a:ext cx="128588" cy="128588"/>
          </a:xfrm>
          <a:prstGeom prst="rect">
            <a:avLst/>
          </a:prstGeom>
        </p:spPr>
      </p:pic>
      <p:sp>
        <p:nvSpPr>
          <p:cNvPr id="68" name="Text 60"/>
          <p:cNvSpPr/>
          <p:nvPr/>
        </p:nvSpPr>
        <p:spPr>
          <a:xfrm>
            <a:off x="6572250" y="3502782"/>
            <a:ext cx="138945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EDF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Maintenance Status</a:t>
            </a:r>
            <a:endParaRPr lang="en-US" sz="1000" dirty="0"/>
          </a:p>
        </p:txBody>
      </p:sp>
      <p:sp>
        <p:nvSpPr>
          <p:cNvPr id="69" name="Text 61"/>
          <p:cNvSpPr/>
          <p:nvPr/>
        </p:nvSpPr>
        <p:spPr>
          <a:xfrm>
            <a:off x="6372225" y="3756385"/>
            <a:ext cx="217170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50" b="1" dirty="0">
                <a:solidFill>
                  <a:srgbClr val="E6EDF3"/>
                </a:solidFill>
                <a:latin typeface="Space Mono Bold" pitchFamily="34" charset="0"/>
                <a:ea typeface="Space Mono Bold" pitchFamily="34" charset="-122"/>
                <a:cs typeface="Space Mono Bold" pitchFamily="34" charset="-120"/>
              </a:rPr>
              <a:t>보강재 노화 감지.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
</a:t>
            </a:r>
            <a:r>
              <a:rPr lang="en-US" sz="650" dirty="0">
                <a:solidFill>
                  <a:srgbClr val="8B949E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스크립트 자체의 실행 주기를 점검.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2026-05-11T11:10:40Z</dcterms:created>
  <dcterms:modified xsi:type="dcterms:W3CDTF">2026-05-11T11:10:40Z</dcterms:modified>
</cp:coreProperties>
</file>