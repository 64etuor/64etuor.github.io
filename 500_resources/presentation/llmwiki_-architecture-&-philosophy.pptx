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94997"/>
            <a:ext cx="4286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KNOWLEDGE SYSTEM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1832539"/>
            <a:ext cx="4286250" cy="651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950" b="1" spc="-2" kern="0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llm</a:t>
            </a:r>
            <a:r>
              <a:rPr lang="en-US" sz="4950" b="1" spc="-2" kern="0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wiki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571500" y="2655494"/>
            <a:ext cx="4286250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Architecture &amp; Philosophy</a:t>
            </a: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— LLM이 매 턴 신뢰하며 읽는 볼트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484169"/>
            <a:ext cx="7661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Yangha Park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09167" y="3492205"/>
            <a:ext cx="42505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2026.05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0"/>
            <a:ext cx="4000500" cy="5143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2786" y="4845248"/>
            <a:ext cx="5697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30363D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v1.0 · 2026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8590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01 / PARADIGM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3626"/>
          </a:xfrm>
          <a:prstGeom prst="rect">
            <a:avLst/>
          </a:prstGeom>
          <a:noFill/>
          <a:ln/>
        </p:spPr>
        <p:txBody>
          <a:bodyPr wrap="square" lIns="544322" tIns="204089" rIns="544322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왜 노트 시스템을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다시 설계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해야 하는가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067628"/>
            <a:ext cx="38254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HUMAN-OPTIMIZED SYSTEMS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57200" y="1340876"/>
            <a:ext cx="364331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PARA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878681" y="1340876"/>
            <a:ext cx="778669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Zettelkasten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714500" y="1340876"/>
            <a:ext cx="364331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BASB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457200" y="1667703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667703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753428"/>
            <a:ext cx="128588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525" y="1739140"/>
            <a:ext cx="24467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단일 사용자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한 사람의 시선·기억·습관에 최적화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57200" y="2060609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57200" y="2060609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2146334"/>
            <a:ext cx="128588" cy="1000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1525" y="2132047"/>
            <a:ext cx="2471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폴더 위계 + 백링크 + MOC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인간 탐색 패턴 기반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457200" y="2453515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457200" y="2453515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2539240"/>
            <a:ext cx="128588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1525" y="2524953"/>
            <a:ext cx="16073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비용 구조 단순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읽기 비용 = 0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457200" y="2846422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457200" y="2846422"/>
            <a:ext cx="14288" cy="29289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2932147"/>
            <a:ext cx="128588" cy="1000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1525" y="2917859"/>
            <a:ext cx="17645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표기 불일치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사람은 문맥으로 보정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4861322" y="1067628"/>
            <a:ext cx="38254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LLM-OPTIMIZED: LLMWIKI</a:t>
            </a:r>
            <a:endParaRPr lang="en-US" sz="550" dirty="0"/>
          </a:p>
        </p:txBody>
      </p:sp>
      <p:sp>
        <p:nvSpPr>
          <p:cNvPr id="26" name="Text 19"/>
          <p:cNvSpPr/>
          <p:nvPr/>
        </p:nvSpPr>
        <p:spPr>
          <a:xfrm>
            <a:off x="4861322" y="1340876"/>
            <a:ext cx="519708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llmwiki</a:t>
            </a:r>
            <a:endParaRPr lang="en-US" sz="600" dirty="0"/>
          </a:p>
        </p:txBody>
      </p:sp>
      <p:sp>
        <p:nvSpPr>
          <p:cNvPr id="27" name="Shape 20"/>
          <p:cNvSpPr/>
          <p:nvPr/>
        </p:nvSpPr>
        <p:spPr>
          <a:xfrm>
            <a:off x="4861322" y="1667703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4861322" y="1667703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334" y="1753428"/>
            <a:ext cx="128588" cy="10001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75647" y="1739140"/>
            <a:ext cx="21895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매 턴 LLM이 읽는다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— 컨텍스트 = 토큰 비용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4861322" y="2060609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2" name="Shape 24"/>
          <p:cNvSpPr/>
          <p:nvPr/>
        </p:nvSpPr>
        <p:spPr>
          <a:xfrm>
            <a:off x="4861322" y="2060609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334" y="2146334"/>
            <a:ext cx="128588" cy="10001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75647" y="2132047"/>
            <a:ext cx="2228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잘못된 라우팅 1번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= 무관한 파일 2~3개 오픈</a:t>
            </a:r>
            <a:endParaRPr lang="en-US" sz="700" dirty="0"/>
          </a:p>
        </p:txBody>
      </p:sp>
      <p:sp>
        <p:nvSpPr>
          <p:cNvPr id="35" name="Shape 26"/>
          <p:cNvSpPr/>
          <p:nvPr/>
        </p:nvSpPr>
        <p:spPr>
          <a:xfrm>
            <a:off x="4861322" y="2453515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6" name="Shape 27"/>
          <p:cNvSpPr/>
          <p:nvPr/>
        </p:nvSpPr>
        <p:spPr>
          <a:xfrm>
            <a:off x="4861322" y="2453515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334" y="2539240"/>
            <a:ext cx="128588" cy="10001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75647" y="2524953"/>
            <a:ext cx="23074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표기 불일치 1곳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= 다른 노트 검색 정확도 저하</a:t>
            </a:r>
            <a:endParaRPr lang="en-US" sz="700" dirty="0"/>
          </a:p>
        </p:txBody>
      </p:sp>
      <p:sp>
        <p:nvSpPr>
          <p:cNvPr id="39" name="Shape 29"/>
          <p:cNvSpPr/>
          <p:nvPr/>
        </p:nvSpPr>
        <p:spPr>
          <a:xfrm>
            <a:off x="4861322" y="2846422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40" name="Shape 30"/>
          <p:cNvSpPr/>
          <p:nvPr/>
        </p:nvSpPr>
        <p:spPr>
          <a:xfrm>
            <a:off x="4861322" y="2846422"/>
            <a:ext cx="14288" cy="292894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334" y="2932147"/>
            <a:ext cx="128588" cy="10001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175647" y="2917859"/>
            <a:ext cx="20502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로드 빈도 × 추상도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로 3-Layer 분리 필요</a:t>
            </a:r>
            <a:endParaRPr lang="en-US" sz="700" dirty="0"/>
          </a:p>
        </p:txBody>
      </p:sp>
      <p:sp>
        <p:nvSpPr>
          <p:cNvPr id="43" name="Shape 32"/>
          <p:cNvSpPr/>
          <p:nvPr/>
        </p:nvSpPr>
        <p:spPr>
          <a:xfrm>
            <a:off x="4861322" y="3296478"/>
            <a:ext cx="3825478" cy="66001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44" name="Shape 33"/>
          <p:cNvSpPr/>
          <p:nvPr/>
        </p:nvSpPr>
        <p:spPr>
          <a:xfrm>
            <a:off x="4861322" y="3296478"/>
            <a:ext cx="3825478" cy="1428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45" name="Text 34"/>
          <p:cNvSpPr/>
          <p:nvPr/>
        </p:nvSpPr>
        <p:spPr>
          <a:xfrm>
            <a:off x="4989909" y="3396490"/>
            <a:ext cx="3568303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같은 자료를 담더라도 — 사람을 위한 시스템과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LLM이 매 턴 신뢰하며 읽는 시스템은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다른 형상으로 수렴한다.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02 / CORE CONCEPT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llmwiki =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본체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 + 보강재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8022"/>
            <a:ext cx="4301849" cy="32861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01949" y="1262546"/>
            <a:ext cx="3584851" cy="71080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101949" y="1262546"/>
            <a:ext cx="3584851" cy="710803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50" spc="1" kern="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llmwiki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=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본체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150" spc="1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보강재①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+ </a:t>
            </a:r>
            <a:r>
              <a:rPr lang="en-US" sz="1150" spc="1" kern="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보강재②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101949" y="2080506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5101949" y="2080506"/>
            <a:ext cx="3584851" cy="1428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5244824" y="2216237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본체 — 3-Layer Notes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244824" y="2428763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Hub · Maps · Programs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로드 빈도와 추상도에 따라 분리된 노트 계층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5101949" y="2968786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101949" y="2968786"/>
            <a:ext cx="3584851" cy="14288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244824" y="3104517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보강재① — Deterministic Lint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244824" y="3317044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구조적 부패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결정적으로 차단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32개 정적 검사 · 매 vault-edit 종료 조건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5101949" y="3857067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101949" y="3857067"/>
            <a:ext cx="3584851" cy="14288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5244824" y="3992798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보강재② — Read Telemetry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244824" y="4205325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행동적 부패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신호로 감지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읽힘 패턴 → 죽은 노트 후보 적발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03 /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934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3-Layer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543943"/>
            <a:ext cx="14288" cy="271462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 rot="-5400000">
            <a:off x="242888" y="283785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LOAD FREQUENCY ↑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1767743" y="1672530"/>
            <a:ext cx="1366410" cy="64293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67743" y="1672530"/>
            <a:ext cx="1366410" cy="21431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127009" y="1672530"/>
            <a:ext cx="7144" cy="64293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767743" y="2308324"/>
            <a:ext cx="136641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767743" y="1672530"/>
            <a:ext cx="7144" cy="64293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003571" y="1760041"/>
            <a:ext cx="8947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1 — HUB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82043" y="1952923"/>
            <a:ext cx="113781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로드 (Every Turn)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255347" y="2429768"/>
            <a:ext cx="2391203" cy="785813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1255347" y="2429768"/>
            <a:ext cx="2391203" cy="21431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3639406" y="2429768"/>
            <a:ext cx="7144" cy="78581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55347" y="3208437"/>
            <a:ext cx="2391203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55347" y="2429768"/>
            <a:ext cx="7144" cy="78581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946421" y="2657475"/>
            <a:ext cx="10090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2 — MAPS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72292" y="2850356"/>
            <a:ext cx="13573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라우팅 시 로드 (On Demand)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742950" y="3329880"/>
            <a:ext cx="3416024" cy="92868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742950" y="3329880"/>
            <a:ext cx="3416024" cy="21431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151830" y="3329880"/>
            <a:ext cx="7144" cy="9286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42950" y="4251424"/>
            <a:ext cx="3416024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742950" y="3329880"/>
            <a:ext cx="7144" cy="9286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776757" y="3629025"/>
            <a:ext cx="134838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3 — PROGRAMS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661564" y="3821906"/>
            <a:ext cx="157876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키워드 트리거 시 로드 (Keyword)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587599" y="1894880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4587599" y="1894880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4884065" y="1882378"/>
            <a:ext cx="18788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Hub (가장 좁고, 가장 자주)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87599" y="2152055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모든 규칙을 한 곳에 넣으면 토큰이 낭비된다. Hub는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불변 규칙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라우팅 테이블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만을 담아 매 턴 자동으로 컨텍스트에 주입된다.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87599" y="2678906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587599" y="2678906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L2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4884065" y="2666405"/>
            <a:ext cx="14001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Maps (참조 데이터)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87599" y="2936081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카탈로그, 폴더 배치 트리 등 자주 바뀌지 않지만 라우팅이 필요할 때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만 펼쳐 보는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참조 데이터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 작업당 최대 3개까지만 로드된다.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587599" y="3462933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8B949E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4587599" y="3462933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L3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4884065" y="3450431"/>
            <a:ext cx="245387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Programs (가장 넓고, 가장 드물게)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87599" y="3720108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특정 작업(예: 책 노트 만들기, 클리핑 가공)을 위한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독립된 워크플로우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키워드 매칭이 없으면 절대 호출되지 않아 컨텍스트를 보호한다.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7929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04 / LAYER 1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1 — Hub: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매 턴 로드되는 불변 규칙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53716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1110853"/>
            <a:ext cx="137517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가장 작고 중요한 층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4363" y="1391245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자동으로 컨텍스트에 들어오는 핵심 파일.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토큰 누수를 막기 위해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단 두 가지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만 담는다.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195203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4027" y="1909167"/>
            <a:ext cx="136624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1. 불변 규칙 (SSOT)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4363" y="2189559"/>
            <a:ext cx="33887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어떤 조건에서도 어겨선 안 되는 단일 진실 공급원.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614363" y="2446734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Frontmatter 7개 필수 필드 표준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614363" y="2652117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분류 및 형식 (소문자, 2-level 한도)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614363" y="2857500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파일명 금기 문자 규칙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280767"/>
            <a:ext cx="160734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2247" y="3237905"/>
            <a:ext cx="115550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2. 라우팅 테이블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4363" y="3518297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작업 유형에 따라 어떤 Map이나 Program으로 분기할지 알려주는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전체 시스템의 인덱스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614363" y="3946922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LLM은 사용자의 요청을 Description과 매칭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14363" y="4152305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비대해지지 않게 유지하는 것이 핵심 위생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431720" y="1107281"/>
            <a:ext cx="4255080" cy="300573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4431720" y="1107281"/>
            <a:ext cx="4255080" cy="29825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4431720" y="1398389"/>
            <a:ext cx="425508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020" y="1195685"/>
            <a:ext cx="85725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3183" y="1178719"/>
            <a:ext cx="5464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AGENTS.md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667464" y="1476970"/>
            <a:ext cx="944761" cy="11608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4667464" y="1476970"/>
            <a:ext cx="944761" cy="116086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IMMUTABLE RULES</a:t>
            </a:r>
            <a:endParaRPr lang="en-US" sz="550" dirty="0"/>
          </a:p>
        </p:txBody>
      </p:sp>
      <p:sp>
        <p:nvSpPr>
          <p:cNvPr id="26" name="Text 19"/>
          <p:cNvSpPr/>
          <p:nvPr/>
        </p:nvSpPr>
        <p:spPr>
          <a:xfrm>
            <a:off x="4696039" y="1662708"/>
            <a:ext cx="1257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# Frontmatter Standard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4696039" y="1843088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title: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"string"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4696039" y="2023467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type: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[reference|literature|log|...]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4696039" y="2203847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status: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[draft|permanent|archived]</a:t>
            </a:r>
            <a:endParaRPr lang="en-US" sz="650" dirty="0"/>
          </a:p>
        </p:txBody>
      </p:sp>
      <p:sp>
        <p:nvSpPr>
          <p:cNvPr id="30" name="Shape 23"/>
          <p:cNvSpPr/>
          <p:nvPr/>
        </p:nvSpPr>
        <p:spPr>
          <a:xfrm>
            <a:off x="4667464" y="2584252"/>
            <a:ext cx="834033" cy="11608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1" name="Text 24"/>
          <p:cNvSpPr/>
          <p:nvPr/>
        </p:nvSpPr>
        <p:spPr>
          <a:xfrm>
            <a:off x="4667464" y="2584252"/>
            <a:ext cx="834033" cy="116086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ROUTING TABLE</a:t>
            </a:r>
            <a:endParaRPr lang="en-US" sz="550" dirty="0"/>
          </a:p>
        </p:txBody>
      </p:sp>
      <p:sp>
        <p:nvSpPr>
          <p:cNvPr id="32" name="Shape 25"/>
          <p:cNvSpPr/>
          <p:nvPr/>
        </p:nvSpPr>
        <p:spPr>
          <a:xfrm>
            <a:off x="4699611" y="2830711"/>
            <a:ext cx="1363005" cy="248245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4699611" y="2830711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Task Type</a:t>
            </a:r>
            <a:endParaRPr lang="en-US" sz="600" dirty="0"/>
          </a:p>
        </p:txBody>
      </p:sp>
      <p:sp>
        <p:nvSpPr>
          <p:cNvPr id="34" name="Shape 27"/>
          <p:cNvSpPr/>
          <p:nvPr/>
        </p:nvSpPr>
        <p:spPr>
          <a:xfrm>
            <a:off x="6062616" y="2830711"/>
            <a:ext cx="2356293" cy="248245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6062616" y="2830711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Target Map / Program</a:t>
            </a:r>
            <a:endParaRPr lang="en-US" sz="600" dirty="0"/>
          </a:p>
        </p:txBody>
      </p:sp>
      <p:sp>
        <p:nvSpPr>
          <p:cNvPr id="36" name="Text 29"/>
          <p:cNvSpPr/>
          <p:nvPr/>
        </p:nvSpPr>
        <p:spPr>
          <a:xfrm>
            <a:off x="4699611" y="3071813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책 노트 생성</a:t>
            </a:r>
            <a:endParaRPr lang="en-US" sz="600" dirty="0"/>
          </a:p>
        </p:txBody>
      </p:sp>
      <p:sp>
        <p:nvSpPr>
          <p:cNvPr id="37" name="Text 30"/>
          <p:cNvSpPr/>
          <p:nvPr/>
        </p:nvSpPr>
        <p:spPr>
          <a:xfrm>
            <a:off x="6062616" y="3071813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skills/process-book-note/SKILL.md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699611" y="3320058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볼트 정합성 검사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6062616" y="3320058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skills/vault-lint/SKILL.md</a:t>
            </a:r>
            <a:endParaRPr lang="en-US" sz="600" dirty="0"/>
          </a:p>
        </p:txBody>
      </p:sp>
      <p:sp>
        <p:nvSpPr>
          <p:cNvPr id="40" name="Text 33"/>
          <p:cNvSpPr/>
          <p:nvPr/>
        </p:nvSpPr>
        <p:spPr>
          <a:xfrm>
            <a:off x="4699611" y="3568303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구조 확인</a:t>
            </a:r>
            <a:endParaRPr lang="en-US" sz="600" dirty="0"/>
          </a:p>
        </p:txBody>
      </p:sp>
      <p:sp>
        <p:nvSpPr>
          <p:cNvPr id="41" name="Text 34"/>
          <p:cNvSpPr/>
          <p:nvPr/>
        </p:nvSpPr>
        <p:spPr>
          <a:xfrm>
            <a:off x="6062616" y="3568303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schema/tag-system.md</a:t>
            </a:r>
            <a:endParaRPr lang="en-US" sz="600" dirty="0"/>
          </a:p>
        </p:txBody>
      </p:sp>
      <p:sp>
        <p:nvSpPr>
          <p:cNvPr id="42" name="Shape 35"/>
          <p:cNvSpPr/>
          <p:nvPr/>
        </p:nvSpPr>
        <p:spPr>
          <a:xfrm>
            <a:off x="4431720" y="4227314"/>
            <a:ext cx="4255080" cy="987623"/>
          </a:xfrm>
          <a:prstGeom prst="rect">
            <a:avLst/>
          </a:prstGeom>
          <a:solidFill>
            <a:srgbClr val="161B22">
              <a:alpha val="70000"/>
            </a:srgbClr>
          </a:solidFill>
          <a:ln w="9144">
            <a:solidFill>
              <a:srgbClr val="30363D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36"/>
          <p:cNvSpPr/>
          <p:nvPr/>
        </p:nvSpPr>
        <p:spPr>
          <a:xfrm>
            <a:off x="4431720" y="4227314"/>
            <a:ext cx="4255080" cy="29825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4431720" y="4518422"/>
            <a:ext cx="425508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6020" y="4315718"/>
            <a:ext cx="85725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703183" y="4298752"/>
            <a:ext cx="5464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MEMORY.md</a:t>
            </a:r>
            <a:endParaRPr lang="en-US" sz="700" dirty="0"/>
          </a:p>
        </p:txBody>
      </p:sp>
      <p:sp>
        <p:nvSpPr>
          <p:cNvPr id="47" name="Text 39"/>
          <p:cNvSpPr/>
          <p:nvPr/>
        </p:nvSpPr>
        <p:spPr>
          <a:xfrm>
            <a:off x="4574595" y="4604147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# User Preferences &amp; Context</a:t>
            </a:r>
            <a:endParaRPr lang="en-US" sz="650" dirty="0"/>
          </a:p>
        </p:txBody>
      </p:sp>
      <p:sp>
        <p:nvSpPr>
          <p:cNvPr id="48" name="Text 40"/>
          <p:cNvSpPr/>
          <p:nvPr/>
        </p:nvSpPr>
        <p:spPr>
          <a:xfrm>
            <a:off x="4574595" y="4927402"/>
            <a:ext cx="396933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language: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"Korean primary, English terms"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06 /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934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Layer 2 &amp; 3 —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Maps &amp; Programs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584377" y="1159073"/>
            <a:ext cx="1975247" cy="1014413"/>
          </a:xfrm>
          <a:prstGeom prst="rect">
            <a:avLst/>
          </a:prstGeom>
          <a:solidFill>
            <a:srgbClr val="161B22"/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77270" y="1273373"/>
            <a:ext cx="13894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LAYER 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877270" y="1400175"/>
            <a:ext cx="13894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77270" y="1712714"/>
            <a:ext cx="1389459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라우팅 테이블 (AGENTS.md)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877270" y="1918097"/>
            <a:ext cx="13894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자동 로드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428875" y="2373511"/>
            <a:ext cx="14288" cy="214313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700838" y="2373511"/>
            <a:ext cx="14288" cy="214313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143000" y="2659261"/>
            <a:ext cx="3000375" cy="2473523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143000" y="2659261"/>
            <a:ext cx="3000375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57300" y="2773561"/>
            <a:ext cx="27717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LAYER 2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57300" y="2928938"/>
            <a:ext cx="27717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Maps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57300" y="3355777"/>
            <a:ext cx="2771775" cy="948333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0175" y="3620989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tag-system.md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00175" y="3865662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vault-map.md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400175" y="-1000000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7300" y="4461272"/>
            <a:ext cx="2771775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참조 데이터 (Reference Data)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자주 바뀌지 않으며, 라우팅 필요 시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작업당 최대 3개까지만 로드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00625" y="2659261"/>
            <a:ext cx="3000375" cy="243066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000625" y="2659261"/>
            <a:ext cx="3000375" cy="28575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114925" y="2773561"/>
            <a:ext cx="27717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LAYER 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14925" y="2928938"/>
            <a:ext cx="27717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Programs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14925" y="3355777"/>
            <a:ext cx="2771775" cy="653653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257800" y="3498652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skills/*/SKILL.md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57800" y="3714750"/>
            <a:ext cx="2486025" cy="137517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(e.g., 책 노트 만들기, 클리핑 가공)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114925" y="4166592"/>
            <a:ext cx="2771775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트리거 기반 워크플로우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키워드 매칭이 없으면 절대 호출되지 않음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독립적인 실행 단계 포함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07 / STATIC LINT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 ①: vault-lint.py —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32개의 결정적 검사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235869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사람의 눈이 미치지 않는 일관성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505545"/>
            <a:ext cx="3403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사람이 시각으로 잡을 수 있는 양에는 한계가 있고, 잡지 못한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어긋남은 누적된다.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vault-lint.py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는 사람의 시선이 닿지 않는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자리를 결정적으로 잡는다.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319933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매 턴의 종료 조건 (Exit Condition)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89609"/>
            <a:ext cx="3403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vault-edit 턴의 종료 조건으로 실행되며,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exit code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가 곧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통과/실패를 결정한다.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3018234"/>
            <a:ext cx="3403020" cy="59828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3018234"/>
            <a:ext cx="3403020" cy="59828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$ python3 vault-lint.py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&gt; Exit 0: Pass (Commit allowed)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&gt; Exit 1: Fail (LLM must fix errors)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57200" y="3902273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규칙은 코드로만 존재한다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171950"/>
            <a:ext cx="3403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산문(Prose)은 규칙을 </a:t>
            </a:r>
            <a:r>
              <a:rPr lang="en-US" sz="800" i="1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설명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할 뿐,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재정의하지 않는다.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 같은 규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칙을 두 곳에 적으면 즉시 두 가지 버전을 가지게 되기 때문이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145970" y="1107281"/>
            <a:ext cx="4540830" cy="3750469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373287" y="1321594"/>
            <a:ext cx="409920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7 CATEGORIES / 32 CHECKS BREAKDOWN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87" y="1612702"/>
            <a:ext cx="408265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251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08 / ASYMMETRY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폴더별 비대칭: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면제는 협상이 아니라 상수다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07281"/>
            <a:ext cx="3338085" cy="107870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07281"/>
            <a:ext cx="28575" cy="107870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00075" y="1250156"/>
            <a:ext cx="305233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산문 규칙의 한계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1528763"/>
            <a:ext cx="30523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모든 폴더에 동일한 강도의 규칙을 적용할 수는 없습니다.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하지만 산문(자연어)으로 예외를 적어두면 LLM은 매번 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석을 달리하며 </a:t>
            </a:r>
            <a:r>
              <a:rPr lang="en-US" sz="7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규칙 적용이 어긋나게 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2357438"/>
            <a:ext cx="3338085" cy="107870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2357438"/>
            <a:ext cx="28575" cy="1078706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00075" y="2500313"/>
            <a:ext cx="305233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코드 상수로 못박기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0075" y="2778919"/>
            <a:ext cx="30523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예외 집합을 코드 상수로 하드코딩하는 것은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"면제를 협상하지 않는다"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는 정책의 물리적 구현입니다. 4개의 상수가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lint의 모든 비대칭을 결정적으로 정의합니다.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23910" y="1107281"/>
            <a:ext cx="4462890" cy="34290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98" y="1352848"/>
            <a:ext cx="128588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1223" y="1321594"/>
            <a:ext cx="11001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llmwiki_vault/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22636" y="1512689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511" y="1654671"/>
            <a:ext cx="128588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65536" y="1626989"/>
            <a:ext cx="6965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200_Books/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665511" y="1839516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한국어 책 노트 (영문 description 불필요)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4865536" y="2034183"/>
            <a:ext cx="1578769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4865536" y="2034183"/>
            <a:ext cx="1578769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DESCRIPTION_OPTIONAL_FOLDERS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4522636" y="1712714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4522636" y="2275284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511" y="2417266"/>
            <a:ext cx="128588" cy="114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65536" y="2389584"/>
            <a:ext cx="6965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400_Areas/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665511" y="2602111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자격증 카드 (단일 태그 허용)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4865536" y="2796778"/>
            <a:ext cx="1268016" cy="198239"/>
          </a:xfrm>
          <a:prstGeom prst="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4865536" y="2796778"/>
            <a:ext cx="1268016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TAG_FLOOR_EXEMPT_FOLDERS</a:t>
            </a:r>
            <a:endParaRPr lang="en-US" sz="600" dirty="0"/>
          </a:p>
        </p:txBody>
      </p:sp>
      <p:sp>
        <p:nvSpPr>
          <p:cNvPr id="29" name="Shape 23"/>
          <p:cNvSpPr/>
          <p:nvPr/>
        </p:nvSpPr>
        <p:spPr>
          <a:xfrm>
            <a:off x="4522636" y="2475309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4522636" y="3037880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511" y="3179862"/>
            <a:ext cx="128588" cy="114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865536" y="3152180"/>
            <a:ext cx="90547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900_Writings/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665511" y="3364706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에세이 초안 (Related 섹션 규칙 면제)</a:t>
            </a:r>
            <a:endParaRPr lang="en-US" sz="650" dirty="0"/>
          </a:p>
        </p:txBody>
      </p:sp>
      <p:sp>
        <p:nvSpPr>
          <p:cNvPr id="34" name="Shape 27"/>
          <p:cNvSpPr/>
          <p:nvPr/>
        </p:nvSpPr>
        <p:spPr>
          <a:xfrm>
            <a:off x="4865536" y="3559373"/>
            <a:ext cx="1578769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4865536" y="3559373"/>
            <a:ext cx="1578769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RELATED_RULES_EXEMPT_FOLDERS</a:t>
            </a:r>
            <a:endParaRPr lang="en-US" sz="600" dirty="0"/>
          </a:p>
        </p:txBody>
      </p:sp>
      <p:sp>
        <p:nvSpPr>
          <p:cNvPr id="36" name="Shape 29"/>
          <p:cNvSpPr/>
          <p:nvPr/>
        </p:nvSpPr>
        <p:spPr>
          <a:xfrm>
            <a:off x="4522636" y="3237905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4522636" y="3800475"/>
            <a:ext cx="14288" cy="71973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511" y="3942457"/>
            <a:ext cx="128588" cy="1143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865536" y="3914775"/>
            <a:ext cx="76616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700_Studies/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4665511" y="4127302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강의 노트 (한국어 OK)</a:t>
            </a:r>
            <a:endParaRPr lang="en-US" sz="650" dirty="0"/>
          </a:p>
        </p:txBody>
      </p:sp>
      <p:sp>
        <p:nvSpPr>
          <p:cNvPr id="41" name="Shape 33"/>
          <p:cNvSpPr/>
          <p:nvPr/>
        </p:nvSpPr>
        <p:spPr>
          <a:xfrm>
            <a:off x="4865536" y="4321969"/>
            <a:ext cx="1371600" cy="198239"/>
          </a:xfrm>
          <a:prstGeom prst="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42" name="Text 34"/>
          <p:cNvSpPr/>
          <p:nvPr/>
        </p:nvSpPr>
        <p:spPr>
          <a:xfrm>
            <a:off x="4865536" y="4321969"/>
            <a:ext cx="1371600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PERSONAL_VOICE_FOLDERS</a:t>
            </a:r>
            <a:endParaRPr lang="en-US" sz="600" dirty="0"/>
          </a:p>
        </p:txBody>
      </p:sp>
      <p:sp>
        <p:nvSpPr>
          <p:cNvPr id="43" name="Shape 35"/>
          <p:cNvSpPr/>
          <p:nvPr/>
        </p:nvSpPr>
        <p:spPr>
          <a:xfrm>
            <a:off x="4522636" y="4000500"/>
            <a:ext cx="114300" cy="14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251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09 / TELEMETRY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 ②: Read Telemetry —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행동적 부패를 감지한다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53716"/>
            <a:ext cx="9644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953" y="1110853"/>
            <a:ext cx="204311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정적 검사가 보지 못하는 부패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4363" y="1391245"/>
            <a:ext cx="33887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구조적으로는 완벽하지만(Lint Pass)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아무도 들여다보지 않는 노트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. 구조적으로는 건강하지만 행동적으로는 죽어 있는 상태를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감지해야 합니다.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12348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4027" y="2080617"/>
            <a:ext cx="138945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1단계: read_log.py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4363" y="2361009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Claude Code의 트랜스크립트(JSONL)를 스캔하여 파일 접근 기록을 추출합니다.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614363" y="2789634"/>
            <a:ext cx="3388733" cy="57507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728663" y="2903934"/>
            <a:ext cx="31601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Extracts: Read / Edit / Write / Glob / Grep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728663" y="3098602"/>
            <a:ext cx="155591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→ 월별 TSV로 적재 (멱등성 보장)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568303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3525441"/>
            <a:ext cx="164663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2단계: dead_notes.py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4363" y="3805833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TSV 데이터와 Vault 구조를 교차 분석하여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죽은 노트 후보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적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발합니다.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614363" y="4234458"/>
            <a:ext cx="3388733" cy="57507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728663" y="4348758"/>
            <a:ext cx="31601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Condition for Dead Note: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728663" y="4543425"/>
            <a:ext cx="201453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90일간 0번 읽힘 + 인바운드 wikilink 0개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5909165" y="4855964"/>
            <a:ext cx="158591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STRUCTURAL HEALTH (LINT)</a:t>
            </a:r>
            <a:endParaRPr lang="en-US" sz="600" dirty="0"/>
          </a:p>
        </p:txBody>
      </p:sp>
      <p:sp>
        <p:nvSpPr>
          <p:cNvPr id="21" name="Text 15"/>
          <p:cNvSpPr/>
          <p:nvPr/>
        </p:nvSpPr>
        <p:spPr>
          <a:xfrm rot="-5400000">
            <a:off x="4701871" y="2990552"/>
            <a:ext cx="191631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BEHAVIORAL HEALTH (TELEMETRY)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5712712" y="4855964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PASS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7427212" y="4855964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FAIL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 rot="-5400000">
            <a:off x="4701871" y="2133302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READ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 rot="-5400000">
            <a:off x="4701871" y="3847802"/>
            <a:ext cx="3964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UNREAD</a:t>
            </a:r>
            <a:endParaRPr lang="en-US" sz="600" dirty="0"/>
          </a:p>
        </p:txBody>
      </p:sp>
      <p:sp>
        <p:nvSpPr>
          <p:cNvPr id="26" name="Shape 20"/>
          <p:cNvSpPr/>
          <p:nvPr/>
        </p:nvSpPr>
        <p:spPr>
          <a:xfrm>
            <a:off x="4987621" y="1339453"/>
            <a:ext cx="3429000" cy="3429000"/>
          </a:xfrm>
          <a:prstGeom prst="rect">
            <a:avLst/>
          </a:prstGeom>
          <a:solidFill>
            <a:srgbClr val="30363D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4987621" y="1339453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5575195" y="1935956"/>
            <a:ext cx="53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Healthy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80552" y="2175272"/>
            <a:ext cx="52149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 완벽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활발한 참조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709265" y="1339453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7232545" y="1935956"/>
            <a:ext cx="6607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Needs Fix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180752" y="2175272"/>
            <a:ext cx="76438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자주 읽히나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구조적 오류 존재</a:t>
            </a:r>
            <a:endParaRPr lang="en-US" sz="650" dirty="0"/>
          </a:p>
        </p:txBody>
      </p:sp>
      <p:sp>
        <p:nvSpPr>
          <p:cNvPr id="33" name="Shape 27"/>
          <p:cNvSpPr/>
          <p:nvPr/>
        </p:nvSpPr>
        <p:spPr>
          <a:xfrm>
            <a:off x="4987621" y="3061097"/>
            <a:ext cx="1707356" cy="1707356"/>
          </a:xfrm>
          <a:prstGeom prst="rect">
            <a:avLst/>
          </a:prstGeom>
          <a:solidFill>
            <a:srgbClr val="58A6FF">
              <a:alpha val="10000"/>
            </a:srgbClr>
          </a:solidFill>
          <a:ln w="18288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5485898" y="3560266"/>
            <a:ext cx="710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Dead Note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487684" y="3799582"/>
            <a:ext cx="7072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구조는 완벽하나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5459109" y="3937099"/>
            <a:ext cx="7643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아무도 읽지 않음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5384099" y="4131766"/>
            <a:ext cx="914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Telemetry Target</a:t>
            </a:r>
            <a:endParaRPr lang="en-US" sz="650" dirty="0"/>
          </a:p>
        </p:txBody>
      </p:sp>
      <p:sp>
        <p:nvSpPr>
          <p:cNvPr id="38" name="Shape 32"/>
          <p:cNvSpPr/>
          <p:nvPr/>
        </p:nvSpPr>
        <p:spPr>
          <a:xfrm>
            <a:off x="6709265" y="3061097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39" name="Text 33"/>
          <p:cNvSpPr/>
          <p:nvPr/>
        </p:nvSpPr>
        <p:spPr>
          <a:xfrm>
            <a:off x="7305768" y="3657600"/>
            <a:ext cx="5143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Archive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255762" y="3896916"/>
            <a:ext cx="614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구조도 깨지고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읽히지도 않음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10 / MAINTENANCE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Maintenance Cadence: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보강재도 노화한다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07281"/>
            <a:ext cx="3261289" cy="125372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07281"/>
            <a:ext cx="28575" cy="1253728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00075" y="1250156"/>
            <a:ext cx="29755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보강재 자체의 노화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1535906"/>
            <a:ext cx="116264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보강재도 노화합니다.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762720" y="1519833"/>
            <a:ext cx="807244" cy="18930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762720" y="1519833"/>
            <a:ext cx="807244" cy="18930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monospace" pitchFamily="34" charset="0"/>
                <a:ea typeface="Pretendard" pitchFamily="34" charset="-122"/>
                <a:cs typeface="Pretendard" pitchFamily="34" charset="-120"/>
              </a:rPr>
              <a:t>read_log.py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555677" y="1535906"/>
            <a:ext cx="94833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를 매월 돌리지 않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0075" y="1707356"/>
            <a:ext cx="293072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으면 telemetry가 stale해지고, stale telemetry로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0075" y="1880592"/>
            <a:ext cx="28039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돌린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80467" y="1864519"/>
            <a:ext cx="935831" cy="18930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80467" y="1864519"/>
            <a:ext cx="935831" cy="18930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monospace" pitchFamily="34" charset="0"/>
                <a:ea typeface="Pretendard" pitchFamily="34" charset="-122"/>
                <a:cs typeface="Pretendard" pitchFamily="34" charset="-120"/>
              </a:rPr>
              <a:t>dead_notes.py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802011" y="1880592"/>
            <a:ext cx="172343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는 거짓 양성을 쏟아냅니다. 이를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0075" y="2052042"/>
            <a:ext cx="5607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막기 위해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60859" y="2052042"/>
            <a:ext cx="601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메타 보강재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762720" y="2052042"/>
            <a:ext cx="77509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가 필요합니다.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532459"/>
            <a:ext cx="3261289" cy="1591270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532459"/>
            <a:ext cx="3261289" cy="29825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57200" y="2823567"/>
            <a:ext cx="3261289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8007"/>
            <a:ext cx="112514" cy="10001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5452" y="2603897"/>
            <a:ext cx="127515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maintenance_status.py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571500" y="2937867"/>
            <a:ext cx="642938" cy="198239"/>
          </a:xfrm>
          <a:prstGeom prst="rect">
            <a:avLst/>
          </a:prstGeom>
          <a:solidFill>
            <a:srgbClr val="3FB950">
              <a:alpha val="10000"/>
            </a:srgbClr>
          </a:solidFill>
          <a:ln w="9144">
            <a:solidFill>
              <a:srgbClr val="3FB950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571500" y="2937867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FRESH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328738" y="2961084"/>
            <a:ext cx="12144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최근 실행됨, 신뢰 구간 내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571500" y="3207544"/>
            <a:ext cx="642938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71500" y="3207544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DUE SOON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1328738" y="3230761"/>
            <a:ext cx="9715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실행 주기 임박, 경고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571500" y="3477220"/>
            <a:ext cx="642938" cy="198239"/>
          </a:xfrm>
          <a:prstGeom prst="rect">
            <a:avLst/>
          </a:prstGeom>
          <a:solidFill>
            <a:srgbClr val="F85149">
              <a:alpha val="10000"/>
            </a:srgbClr>
          </a:solidFill>
          <a:ln w="9144">
            <a:solidFill>
              <a:srgbClr val="F85149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571500" y="3477220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514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STALE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1328738" y="3500438"/>
            <a:ext cx="130730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실행 주기 초과, 신뢰도 하락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571500" y="3746897"/>
            <a:ext cx="642938" cy="198239"/>
          </a:xfrm>
          <a:prstGeom prst="rect">
            <a:avLst/>
          </a:prstGeom>
          <a:solidFill>
            <a:srgbClr val="8B949E">
              <a:alpha val="10000"/>
            </a:srgbClr>
          </a:solidFill>
          <a:ln w="9144">
            <a:solidFill>
              <a:srgbClr val="8B949E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571500" y="3746897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NEVER RUN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1328738" y="3770114"/>
            <a:ext cx="6715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실행 기록 없음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075677" y="1107281"/>
            <a:ext cx="4611123" cy="34290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4259545" y="1278731"/>
            <a:ext cx="425580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SCRIPTS BY EXECUTION CADENCE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4259545" y="1541264"/>
            <a:ext cx="15716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SCRIPT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5831170" y="1541264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CADENCE</a:t>
            </a:r>
            <a:endParaRPr lang="en-US" sz="600" dirty="0"/>
          </a:p>
        </p:txBody>
      </p:sp>
      <p:sp>
        <p:nvSpPr>
          <p:cNvPr id="41" name="Text 37"/>
          <p:cNvSpPr/>
          <p:nvPr/>
        </p:nvSpPr>
        <p:spPr>
          <a:xfrm>
            <a:off x="6402670" y="1541264"/>
            <a:ext cx="211268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FREQUENCY SCALE (0 - 90 DAYS)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4259545" y="188237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vault-lint.py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831170" y="1887736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6402670" y="1913632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45" name="Text 41"/>
          <p:cNvSpPr/>
          <p:nvPr/>
        </p:nvSpPr>
        <p:spPr>
          <a:xfrm>
            <a:off x="4259545" y="2209205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read_log.py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831170" y="2214563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14일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402670" y="2240459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4259545" y="2536031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dead_notes.py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5831170" y="2541389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650" dirty="0"/>
          </a:p>
        </p:txBody>
      </p:sp>
      <p:sp>
        <p:nvSpPr>
          <p:cNvPr id="50" name="Shape 46"/>
          <p:cNvSpPr/>
          <p:nvPr/>
        </p:nvSpPr>
        <p:spPr>
          <a:xfrm>
            <a:off x="6402670" y="2567285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4259545" y="286285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instruction_audit.py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5831170" y="2868216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402670" y="2894112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4259545" y="3189684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graph_health.py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5831170" y="3195042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60일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402670" y="3220938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57" name="Text 53"/>
          <p:cNvSpPr/>
          <p:nvPr/>
        </p:nvSpPr>
        <p:spPr>
          <a:xfrm>
            <a:off x="4259545" y="3516511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status_aging.py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5831170" y="3521869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6402670" y="3547765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  <p:sp>
        <p:nvSpPr>
          <p:cNvPr id="60" name="Text 56"/>
          <p:cNvSpPr/>
          <p:nvPr/>
        </p:nvSpPr>
        <p:spPr>
          <a:xfrm>
            <a:off x="4259545" y="384333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log_archive.py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5831170" y="3848695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90일</a:t>
            </a:r>
            <a:endParaRPr lang="en-US" sz="650" dirty="0"/>
          </a:p>
        </p:txBody>
      </p:sp>
      <p:sp>
        <p:nvSpPr>
          <p:cNvPr id="62" name="Shape 58"/>
          <p:cNvSpPr/>
          <p:nvPr/>
        </p:nvSpPr>
        <p:spPr>
          <a:xfrm>
            <a:off x="6402670" y="3874591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911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11 / BOUNDARIES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SSOT 경계 규칙: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같은 정보는 한 곳에만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064419"/>
            <a:ext cx="8229600" cy="365727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산문은 같은 규칙을 두 군데 적기 시작하면 곧장 </a:t>
            </a: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두 가지 진실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을 갖게 된다.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이 시스템은 같은 정보를 두 곳에 두지 않는다는 단순한 규칙(SSOT)을 세 가지 영역의 경계로 끌어올린다.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1658745"/>
            <a:ext cx="2628900" cy="203061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658745"/>
            <a:ext cx="2628900" cy="28575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3078956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3682212"/>
            <a:ext cx="26289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824837"/>
            <a:ext cx="214313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113" y="1801620"/>
            <a:ext cx="8411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LLM Layer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0075" y="2312398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Agent 라우팅 및 워크플로우 분기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00075" y="2587433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모델 선택 및 파라미터 설정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0075" y="2862467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시스템 프롬프트 주입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" y="3316095"/>
            <a:ext cx="2619384" cy="373261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57200" y="3316095"/>
            <a:ext cx="2619384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57200" y="3316095"/>
            <a:ext cx="2619384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8A6FF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라우팅은 여기서만 정의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3248034" y="1658745"/>
            <a:ext cx="2633672" cy="203061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248034" y="1658745"/>
            <a:ext cx="2633672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874562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3248034" y="3682212"/>
            <a:ext cx="2633672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3248034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53" y="1824837"/>
            <a:ext cx="150019" cy="1714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31397" y="1801620"/>
            <a:ext cx="9304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Vault Layer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395653" y="2312398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노트 콘텐츠 및 메타데이터 규칙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95653" y="2587433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태그 및 폴더 스키마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395653" y="2862467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정합성 검사 (Lint)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252778" y="3316095"/>
            <a:ext cx="2624128" cy="373261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3252778" y="3316095"/>
            <a:ext cx="2624128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3252778" y="3316095"/>
            <a:ext cx="2624128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0B429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규칙은 LINT 코드가 권위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6048356" y="1658745"/>
            <a:ext cx="2638416" cy="2030611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33" name="Shape 28"/>
          <p:cNvSpPr/>
          <p:nvPr/>
        </p:nvSpPr>
        <p:spPr>
          <a:xfrm>
            <a:off x="6048356" y="1658745"/>
            <a:ext cx="2638416" cy="28575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34" name="Shape 29"/>
          <p:cNvSpPr/>
          <p:nvPr/>
        </p:nvSpPr>
        <p:spPr>
          <a:xfrm>
            <a:off x="8679628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6048356" y="3682212"/>
            <a:ext cx="2638416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6" name="Shape 31"/>
          <p:cNvSpPr/>
          <p:nvPr/>
        </p:nvSpPr>
        <p:spPr>
          <a:xfrm>
            <a:off x="6048356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824837"/>
            <a:ext cx="171450" cy="17145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57950" y="1801620"/>
            <a:ext cx="11787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200775" y="2312398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사용자 선호도 (Preferences)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6200775" y="2587433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세션 간 지속되는 사실 및 맥락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200775" y="2862467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개인화된 작업 지침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6057900" y="3280377"/>
            <a:ext cx="2628900" cy="373261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/>
        </p:txBody>
      </p:sp>
      <p:sp>
        <p:nvSpPr>
          <p:cNvPr id="43" name="Shape 37"/>
          <p:cNvSpPr/>
          <p:nvPr/>
        </p:nvSpPr>
        <p:spPr>
          <a:xfrm>
            <a:off x="6057900" y="3280377"/>
            <a:ext cx="26289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6057900" y="3280377"/>
            <a:ext cx="2628900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3FB950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개인화 정보는 여기서만</a:t>
            </a:r>
            <a:endParaRPr lang="en-US" sz="650" dirty="0"/>
          </a:p>
        </p:txBody>
      </p:sp>
      <p:sp>
        <p:nvSpPr>
          <p:cNvPr id="45" name="Shape 39"/>
          <p:cNvSpPr/>
          <p:nvPr/>
        </p:nvSpPr>
        <p:spPr>
          <a:xfrm>
            <a:off x="457200" y="3875094"/>
            <a:ext cx="8229600" cy="103405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457200" y="3875094"/>
            <a:ext cx="82296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8679656" y="3875094"/>
            <a:ext cx="7144" cy="103405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8" name="Shape 42"/>
          <p:cNvSpPr/>
          <p:nvPr/>
        </p:nvSpPr>
        <p:spPr>
          <a:xfrm>
            <a:off x="457200" y="4902008"/>
            <a:ext cx="822960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49" name="Shape 43"/>
          <p:cNvSpPr/>
          <p:nvPr/>
        </p:nvSpPr>
        <p:spPr>
          <a:xfrm>
            <a:off x="457200" y="3875094"/>
            <a:ext cx="42863" cy="1034058"/>
          </a:xfrm>
          <a:prstGeom prst="rect">
            <a:avLst/>
          </a:prstGeom>
          <a:solidFill>
            <a:srgbClr val="E6EDF3"/>
          </a:solidFill>
          <a:ln/>
        </p:spPr>
        <p:txBody>
          <a:bodyPr/>
          <a:p/>
        </p:txBody>
      </p:sp>
      <p:sp>
        <p:nvSpPr>
          <p:cNvPr id="50" name="Text 44"/>
          <p:cNvSpPr/>
          <p:nvPr/>
        </p:nvSpPr>
        <p:spPr>
          <a:xfrm>
            <a:off x="685800" y="4046544"/>
            <a:ext cx="77724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DECISION RULE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685800" y="4259070"/>
            <a:ext cx="77724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"이 정보가 </a:t>
            </a:r>
            <a:r>
              <a:rPr lang="en-US" sz="12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인간으로서 나에게 유용한가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 (→ Memory),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아니면 </a:t>
            </a:r>
            <a:r>
              <a:rPr lang="en-US" sz="12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지식 아티팩트로서 유용한가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Pretendard" pitchFamily="34" charset="-122"/>
                <a:cs typeface="Pretendard" pitchFamily="34" charset="-120"/>
              </a:rPr>
              <a:t> (→ Vault)?"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3215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12 / SELF-CORRECTION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자기 정정 루프: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시스템이 스스로 건강을 유지한다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1178719"/>
            <a:ext cx="2457450" cy="28575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2907506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57200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00075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01</a:t>
            </a:r>
            <a:endParaRPr lang="en-US" sz="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672196"/>
            <a:ext cx="112514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4027" y="1640049"/>
            <a:ext cx="79474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본체 (Body)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0075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3-Layer 노트 구조.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콘텐츠가 만들어지고 저장되는 시스템의 중심.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914650" y="1814513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914650" y="1178719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343275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3343275" y="1178719"/>
            <a:ext cx="2457450" cy="28575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793581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3343275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343275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3486150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02</a:t>
            </a:r>
            <a:endParaRPr lang="en-US" sz="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672196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86175" y="1640049"/>
            <a:ext cx="5857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정적 Lint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486150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구조적 부패 차단.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매 턴 정합성을 강제하여 형태를 유지.</a:t>
            </a:r>
            <a:endParaRPr lang="en-US" sz="650" dirty="0"/>
          </a:p>
        </p:txBody>
      </p:sp>
      <p:sp>
        <p:nvSpPr>
          <p:cNvPr id="25" name="Shape 20"/>
          <p:cNvSpPr/>
          <p:nvPr/>
        </p:nvSpPr>
        <p:spPr>
          <a:xfrm>
            <a:off x="5800725" y="1814513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26" name="Text 21"/>
          <p:cNvSpPr/>
          <p:nvPr/>
        </p:nvSpPr>
        <p:spPr>
          <a:xfrm>
            <a:off x="5800725" y="1178719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6229350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28" name="Shape 23"/>
          <p:cNvSpPr/>
          <p:nvPr/>
        </p:nvSpPr>
        <p:spPr>
          <a:xfrm>
            <a:off x="6229350" y="1178719"/>
            <a:ext cx="2457450" cy="28575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/>
        </p:txBody>
      </p:sp>
      <p:sp>
        <p:nvSpPr>
          <p:cNvPr id="29" name="Shape 24"/>
          <p:cNvSpPr/>
          <p:nvPr/>
        </p:nvSpPr>
        <p:spPr>
          <a:xfrm>
            <a:off x="8679656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6229350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6229350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32" name="Text 27"/>
          <p:cNvSpPr/>
          <p:nvPr/>
        </p:nvSpPr>
        <p:spPr>
          <a:xfrm>
            <a:off x="6372225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03</a:t>
            </a:r>
            <a:endParaRPr lang="en-US" sz="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672196"/>
            <a:ext cx="128588" cy="128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572250" y="1640049"/>
            <a:ext cx="10036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행동 Telemetry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72225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죽은 노트 적발.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읽힘 신호로 방치된 노트를 감지.</a:t>
            </a:r>
            <a:endParaRPr lang="en-US" sz="650" dirty="0"/>
          </a:p>
        </p:txBody>
      </p:sp>
      <p:sp>
        <p:nvSpPr>
          <p:cNvPr id="36" name="Shape 30"/>
          <p:cNvSpPr/>
          <p:nvPr/>
        </p:nvSpPr>
        <p:spPr>
          <a:xfrm>
            <a:off x="1678781" y="2536031"/>
            <a:ext cx="14288" cy="500063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37" name="Text 31"/>
          <p:cNvSpPr/>
          <p:nvPr/>
        </p:nvSpPr>
        <p:spPr>
          <a:xfrm>
            <a:off x="457200" y="2464594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Shape 32"/>
          <p:cNvSpPr/>
          <p:nvPr/>
        </p:nvSpPr>
        <p:spPr>
          <a:xfrm>
            <a:off x="3273623" y="2316919"/>
            <a:ext cx="2596753" cy="866849"/>
          </a:xfrm>
          <a:prstGeom prst="rect">
            <a:avLst/>
          </a:prstGeom>
          <a:solidFill>
            <a:srgbClr val="58A6FF">
              <a:alpha val="5000"/>
            </a:srgbClr>
          </a:solidFill>
          <a:ln w="9144">
            <a:solidFill>
              <a:srgbClr val="58A6FF"/>
            </a:solidFill>
            <a:prstDash val="solid"/>
          </a:ln>
        </p:spPr>
        <p:txBody>
          <a:bodyPr/>
          <a:p/>
        </p:txBody>
      </p:sp>
      <p:sp>
        <p:nvSpPr>
          <p:cNvPr id="39" name="Shape 33"/>
          <p:cNvSpPr/>
          <p:nvPr/>
        </p:nvSpPr>
        <p:spPr>
          <a:xfrm>
            <a:off x="3280767" y="2324063"/>
            <a:ext cx="28575" cy="85256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3566517" y="2438363"/>
            <a:ext cx="201096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58A6FF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CORE PRINCIPLE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3566517" y="2622314"/>
            <a:ext cx="201096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자동화는 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신호의 정확도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까지,</a:t>
            </a: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
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판단은 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사람의 영역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으로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834658" y="2324063"/>
            <a:ext cx="28575" cy="85256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/>
        </p:txBody>
      </p:sp>
      <p:sp>
        <p:nvSpPr>
          <p:cNvPr id="43" name="Shape 37"/>
          <p:cNvSpPr/>
          <p:nvPr/>
        </p:nvSpPr>
        <p:spPr>
          <a:xfrm>
            <a:off x="7450931" y="2464594"/>
            <a:ext cx="14288" cy="500063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4" name="Text 38"/>
          <p:cNvSpPr/>
          <p:nvPr/>
        </p:nvSpPr>
        <p:spPr>
          <a:xfrm>
            <a:off x="6229350" y="2464594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Shape 39"/>
          <p:cNvSpPr/>
          <p:nvPr/>
        </p:nvSpPr>
        <p:spPr>
          <a:xfrm>
            <a:off x="1685925" y="3671888"/>
            <a:ext cx="1228725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6" name="Shape 40"/>
          <p:cNvSpPr/>
          <p:nvPr/>
        </p:nvSpPr>
        <p:spPr>
          <a:xfrm>
            <a:off x="1678781" y="3036094"/>
            <a:ext cx="14288" cy="64293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7" name="Text 41"/>
          <p:cNvSpPr/>
          <p:nvPr/>
        </p:nvSpPr>
        <p:spPr>
          <a:xfrm>
            <a:off x="457200" y="3036094"/>
            <a:ext cx="24574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Shape 42"/>
          <p:cNvSpPr/>
          <p:nvPr/>
        </p:nvSpPr>
        <p:spPr>
          <a:xfrm>
            <a:off x="2986088" y="3671888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49" name="Text 43"/>
          <p:cNvSpPr/>
          <p:nvPr/>
        </p:nvSpPr>
        <p:spPr>
          <a:xfrm>
            <a:off x="2914650" y="3036094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Shape 44"/>
          <p:cNvSpPr/>
          <p:nvPr/>
        </p:nvSpPr>
        <p:spPr>
          <a:xfrm>
            <a:off x="3343275" y="3036094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51" name="Shape 45"/>
          <p:cNvSpPr/>
          <p:nvPr/>
        </p:nvSpPr>
        <p:spPr>
          <a:xfrm>
            <a:off x="3343275" y="3036094"/>
            <a:ext cx="2457450" cy="28575"/>
          </a:xfrm>
          <a:prstGeom prst="rect">
            <a:avLst/>
          </a:prstGeom>
          <a:solidFill>
            <a:srgbClr val="39C5CF"/>
          </a:solidFill>
          <a:ln/>
        </p:spPr>
        <p:txBody>
          <a:bodyPr/>
          <a:p/>
        </p:txBody>
      </p:sp>
      <p:sp>
        <p:nvSpPr>
          <p:cNvPr id="52" name="Shape 46"/>
          <p:cNvSpPr/>
          <p:nvPr/>
        </p:nvSpPr>
        <p:spPr>
          <a:xfrm>
            <a:off x="5793581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53" name="Shape 47"/>
          <p:cNvSpPr/>
          <p:nvPr/>
        </p:nvSpPr>
        <p:spPr>
          <a:xfrm>
            <a:off x="3343275" y="4314825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54" name="Shape 48"/>
          <p:cNvSpPr/>
          <p:nvPr/>
        </p:nvSpPr>
        <p:spPr>
          <a:xfrm>
            <a:off x="3343275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55" name="Text 49"/>
          <p:cNvSpPr/>
          <p:nvPr/>
        </p:nvSpPr>
        <p:spPr>
          <a:xfrm>
            <a:off x="3486150" y="3304542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05</a:t>
            </a:r>
            <a:endParaRPr lang="en-US" sz="600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529571"/>
            <a:ext cx="96441" cy="128588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3654028" y="3502782"/>
            <a:ext cx="1171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Instruction Audit</a:t>
            </a:r>
            <a:endParaRPr lang="en-US" sz="1000" dirty="0"/>
          </a:p>
        </p:txBody>
      </p:sp>
      <p:sp>
        <p:nvSpPr>
          <p:cNvPr id="58" name="Text 51"/>
          <p:cNvSpPr/>
          <p:nvPr/>
        </p:nvSpPr>
        <p:spPr>
          <a:xfrm>
            <a:off x="3486150" y="3756385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지침 자체 정리.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안 쓰이는 규칙을 적발해 본체로 피드백.</a:t>
            </a:r>
            <a:endParaRPr lang="en-US" sz="650" dirty="0"/>
          </a:p>
        </p:txBody>
      </p:sp>
      <p:sp>
        <p:nvSpPr>
          <p:cNvPr id="59" name="Shape 52"/>
          <p:cNvSpPr/>
          <p:nvPr/>
        </p:nvSpPr>
        <p:spPr>
          <a:xfrm>
            <a:off x="5872163" y="3671888"/>
            <a:ext cx="357188" cy="14288"/>
          </a:xfrm>
          <a:prstGeom prst="rect">
            <a:avLst/>
          </a:prstGeom>
          <a:solidFill>
            <a:srgbClr val="484F58"/>
          </a:solidFill>
          <a:ln/>
        </p:spPr>
        <p:txBody>
          <a:bodyPr/>
          <a:p/>
        </p:txBody>
      </p:sp>
      <p:sp>
        <p:nvSpPr>
          <p:cNvPr id="60" name="Text 53"/>
          <p:cNvSpPr/>
          <p:nvPr/>
        </p:nvSpPr>
        <p:spPr>
          <a:xfrm>
            <a:off x="5800725" y="3036094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Shape 54"/>
          <p:cNvSpPr/>
          <p:nvPr/>
        </p:nvSpPr>
        <p:spPr>
          <a:xfrm>
            <a:off x="6229350" y="3036094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p/>
        </p:txBody>
      </p:sp>
      <p:sp>
        <p:nvSpPr>
          <p:cNvPr id="62" name="Shape 55"/>
          <p:cNvSpPr/>
          <p:nvPr/>
        </p:nvSpPr>
        <p:spPr>
          <a:xfrm>
            <a:off x="6229350" y="3036094"/>
            <a:ext cx="2457450" cy="28575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p/>
        </p:txBody>
      </p:sp>
      <p:sp>
        <p:nvSpPr>
          <p:cNvPr id="63" name="Shape 56"/>
          <p:cNvSpPr/>
          <p:nvPr/>
        </p:nvSpPr>
        <p:spPr>
          <a:xfrm>
            <a:off x="8679656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4" name="Shape 57"/>
          <p:cNvSpPr/>
          <p:nvPr/>
        </p:nvSpPr>
        <p:spPr>
          <a:xfrm>
            <a:off x="6229350" y="4314825"/>
            <a:ext cx="2457450" cy="714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5" name="Shape 58"/>
          <p:cNvSpPr/>
          <p:nvPr/>
        </p:nvSpPr>
        <p:spPr>
          <a:xfrm>
            <a:off x="6229350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/>
        </p:txBody>
      </p:sp>
      <p:sp>
        <p:nvSpPr>
          <p:cNvPr id="66" name="Text 59"/>
          <p:cNvSpPr/>
          <p:nvPr/>
        </p:nvSpPr>
        <p:spPr>
          <a:xfrm>
            <a:off x="6372225" y="3304542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STEP 04</a:t>
            </a:r>
            <a:endParaRPr lang="en-US" sz="60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529571"/>
            <a:ext cx="128588" cy="128588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6572250" y="3502782"/>
            <a:ext cx="138945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Pretendard Bold" pitchFamily="34" charset="-122"/>
                <a:cs typeface="Pretendard Bold" pitchFamily="34" charset="-120"/>
              </a:rPr>
              <a:t>Maintenance Status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6372225" y="3756385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Pretendard Bold" pitchFamily="34" charset="-122"/>
                <a:cs typeface="Pretendard Bold" pitchFamily="34" charset="-120"/>
              </a:rPr>
              <a:t>보강재 노화 감지.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Pretendard" pitchFamily="34" charset="-122"/>
                <a:cs typeface="Pretendard" pitchFamily="34" charset="-120"/>
              </a:rPr>
              <a:t>스크립트 자체의 실행 주기를 점검.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2026-05-11T11:10:40Z</dcterms:created>
  <dcterms:modified xsi:type="dcterms:W3CDTF">2026-05-11T11:10:40Z</dcterms:modified>
</cp:coreProperties>
</file>