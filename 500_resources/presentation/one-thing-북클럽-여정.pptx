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5143500" cx="9144000"/>
  <p:notesSz cx="5143500" cy="9144000"/>
  <p:embeddedFontLst>
    <p:embeddedFont>
      <p:font typeface="JetBrains Mono"/>
      <p:bold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9" roundtripDataSignature="AMtx7mihIbAA08IpQ5Ap/fQLKckbS8pBo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JetBrainsMono-bold.fntdata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customschemas.google.com/relationships/presentationmetadata" Target="metadata"/><Relationship Id="rId6" Type="http://schemas.openxmlformats.org/officeDocument/2006/relationships/slide" Target="slides/slide2.xml"/><Relationship Id="rId18" Type="http://schemas.openxmlformats.org/officeDocument/2006/relationships/font" Target="fonts/JetBrainsMono-bold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" name="Google Shape;30;p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" name="Google Shape;4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" name="Google Shape;7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p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" name="Google Shape;165;p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7" name="Google Shape;187;p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8" name="Google Shape;218;p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8" name="Google Shape;258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7" name="Google Shape;307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2" name="Google Shape;342;p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1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0" name="Google Shape;380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8.jpg"/><Relationship Id="rId4" Type="http://schemas.openxmlformats.org/officeDocument/2006/relationships/image" Target="../media/image18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16.jpg"/><Relationship Id="rId5" Type="http://schemas.openxmlformats.org/officeDocument/2006/relationships/image" Target="../media/image2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4.jpg"/><Relationship Id="rId4" Type="http://schemas.openxmlformats.org/officeDocument/2006/relationships/image" Target="../media/image1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9.jpg"/><Relationship Id="rId4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5.jpg"/><Relationship Id="rId4" Type="http://schemas.openxmlformats.org/officeDocument/2006/relationships/image" Target="../media/image1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22.jpg"/><Relationship Id="rId5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11.png"/><Relationship Id="rId5" Type="http://schemas.openxmlformats.org/officeDocument/2006/relationships/image" Target="../media/image6.png"/><Relationship Id="rId6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9.png"/><Relationship Id="rId6" Type="http://schemas.openxmlformats.org/officeDocument/2006/relationships/image" Target="../media/image1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3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6.jpg"/><Relationship Id="rId4" Type="http://schemas.openxmlformats.org/officeDocument/2006/relationships/image" Target="../media/image1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23.jpg"/><Relationship Id="rId5" Type="http://schemas.openxmlformats.org/officeDocument/2006/relationships/image" Target="../media/image21.png"/><Relationship Id="rId6" Type="http://schemas.openxmlformats.org/officeDocument/2006/relationships/image" Target="../media/image1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0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6" name="Google Shape;1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1"/>
          <p:cNvSpPr/>
          <p:nvPr/>
        </p:nvSpPr>
        <p:spPr>
          <a:xfrm>
            <a:off x="285750" y="285750"/>
            <a:ext cx="8572500" cy="3743325"/>
          </a:xfrm>
          <a:prstGeom prst="rect">
            <a:avLst/>
          </a:prstGeom>
          <a:solidFill>
            <a:srgbClr val="FFFFFF"/>
          </a:solidFill>
          <a:ln cap="flat" cmpd="sng" w="18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7543800" y="71438"/>
            <a:ext cx="10287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3366"/>
              </a:buClr>
              <a:buSzPts val="12450"/>
              <a:buFont typeface="JetBrains Mono"/>
              <a:buNone/>
            </a:pPr>
            <a:r>
              <a:rPr b="1" i="0" lang="en-US" sz="12450" u="none" cap="none" strike="noStrike">
                <a:solidFill>
                  <a:srgbClr val="FF336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</a:t>
            </a:r>
            <a:endParaRPr b="0" i="0" sz="12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908779" y="596503"/>
            <a:ext cx="6384392" cy="667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3300"/>
              <a:buFont typeface="JetBrains Mono"/>
              <a:buNone/>
            </a:pPr>
            <a:r>
              <a:rPr b="1" i="0" lang="en-US" sz="3300" u="none" cap="none" strike="noStrike">
                <a:solidFill>
                  <a:srgbClr val="11111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ONE THING 북클럽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908779" y="1354209"/>
            <a:ext cx="6883282" cy="332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3366"/>
              </a:buClr>
              <a:buSzPts val="1600"/>
              <a:buFont typeface="JetBrains Mono"/>
              <a:buNone/>
            </a:pPr>
            <a:r>
              <a:rPr b="1" i="0" lang="en-US" sz="1600" u="none" cap="none" strike="noStrike">
                <a:solidFill>
                  <a:srgbClr val="FF336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선택하고, 실행하고, 회고하다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571500" y="3546872"/>
            <a:ext cx="1371600" cy="1964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00"/>
              <a:buFont typeface="JetBrains Mono"/>
              <a:buNone/>
            </a:pPr>
            <a:r>
              <a:rPr b="1" i="0" lang="en-US" sz="1000" u="none" cap="none" strike="noStrike">
                <a:solidFill>
                  <a:srgbClr val="11111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PRESENTER: 박양하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2228850" y="3546872"/>
            <a:ext cx="1200150" cy="1964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00"/>
              <a:buFont typeface="JetBrains Mono"/>
              <a:buNone/>
            </a:pPr>
            <a:r>
              <a:rPr b="1" i="0" lang="en-US" sz="1000" u="none" cap="none" strike="noStrike">
                <a:solidFill>
                  <a:srgbClr val="11111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DATE: 2026. 05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285750" y="4171950"/>
            <a:ext cx="8572500" cy="685800"/>
          </a:xfrm>
          <a:prstGeom prst="rect">
            <a:avLst/>
          </a:prstGeom>
          <a:solidFill>
            <a:srgbClr val="111111"/>
          </a:solidFill>
          <a:ln cap="flat" cmpd="sng" w="18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1"/>
          <p:cNvSpPr/>
          <p:nvPr/>
        </p:nvSpPr>
        <p:spPr>
          <a:xfrm>
            <a:off x="571500" y="4401443"/>
            <a:ext cx="1607344" cy="226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200"/>
              <a:buFont typeface="JetBrains Mono"/>
              <a:buNone/>
            </a:pPr>
            <a:r>
              <a:rPr b="1" i="0" lang="en-US" sz="1200" u="none" cap="none" strike="noStrike">
                <a:solidFill>
                  <a:srgbClr val="FAFAF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KEEP CHOOSING.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3612952" y="4401443"/>
            <a:ext cx="1710928" cy="226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200"/>
              <a:buFont typeface="JetBrains Mono"/>
              <a:buNone/>
            </a:pPr>
            <a:r>
              <a:rPr b="1" i="0" lang="en-US" sz="1200" u="none" cap="none" strike="noStrike">
                <a:solidFill>
                  <a:srgbClr val="FAFAF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KEEP DESIGNING.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6757988" y="4401443"/>
            <a:ext cx="1814513" cy="226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200"/>
              <a:buFont typeface="JetBrains Mono"/>
              <a:buNone/>
            </a:pPr>
            <a:r>
              <a:rPr b="1" i="0" lang="en-US" sz="1200" u="none" cap="none" strike="noStrike">
                <a:solidFill>
                  <a:srgbClr val="FAFAF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KEEP JOURNEYING.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" name="Google Shape;27;p1" title="book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53394" y="874800"/>
            <a:ext cx="1761874" cy="25158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3" name="Google Shape;33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2"/>
          <p:cNvSpPr/>
          <p:nvPr/>
        </p:nvSpPr>
        <p:spPr>
          <a:xfrm>
            <a:off x="381000" y="333375"/>
            <a:ext cx="3810000" cy="428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20">
                <a:solidFill>
                  <a:srgbClr val="11111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원띵을 읽으며 시작된 여정</a:t>
            </a:r>
            <a:endParaRPr b="1" sz="2220">
              <a:solidFill>
                <a:srgbClr val="11111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grpSp>
        <p:nvGrpSpPr>
          <p:cNvPr id="35" name="Google Shape;35;p2"/>
          <p:cNvGrpSpPr/>
          <p:nvPr/>
        </p:nvGrpSpPr>
        <p:grpSpPr>
          <a:xfrm>
            <a:off x="381000" y="1143000"/>
            <a:ext cx="3429000" cy="1714500"/>
            <a:chOff x="381000" y="1143000"/>
            <a:chExt cx="3429000" cy="1714500"/>
          </a:xfrm>
        </p:grpSpPr>
        <p:sp>
          <p:nvSpPr>
            <p:cNvPr id="36" name="Google Shape;36;p2"/>
            <p:cNvSpPr/>
            <p:nvPr/>
          </p:nvSpPr>
          <p:spPr>
            <a:xfrm>
              <a:off x="381000" y="1143000"/>
              <a:ext cx="3429000" cy="1714500"/>
            </a:xfrm>
            <a:prstGeom prst="roundRect">
              <a:avLst>
                <a:gd fmla="val 2222" name="adj"/>
              </a:avLst>
            </a:prstGeom>
            <a:solidFill>
              <a:srgbClr val="F8F9FA"/>
            </a:solidFill>
            <a:ln cap="flat" cmpd="sng" w="9525">
              <a:solidFill>
                <a:srgbClr val="E9EC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2"/>
            <p:cNvSpPr txBox="1"/>
            <p:nvPr/>
          </p:nvSpPr>
          <p:spPr>
            <a:xfrm>
              <a:off x="571500" y="1285875"/>
              <a:ext cx="30480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00">
                  <a:solidFill>
                    <a:srgbClr val="FF3366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JOURNEY_CONTEXT</a:t>
              </a:r>
              <a:endParaRPr b="1" sz="900">
                <a:solidFill>
                  <a:srgbClr val="FF3366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333333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더 베러 커뮤니티 헤비팅 참여</a:t>
              </a:r>
              <a:endParaRPr b="1" sz="1100">
                <a:solidFill>
                  <a:srgbClr val="333333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333333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원띵 북클럽 4주 + 후기</a:t>
              </a:r>
              <a:endParaRPr b="1" sz="1100">
                <a:solidFill>
                  <a:srgbClr val="333333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333333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병행 독서: 『아주 작은 습관의 힘』</a:t>
              </a:r>
              <a:endParaRPr b="1" sz="1100">
                <a:solidFill>
                  <a:srgbClr val="333333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333333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개인 실천 → 팀 시스템으로 확장</a:t>
              </a:r>
              <a:endParaRPr b="1" sz="1100">
                <a:solidFill>
                  <a:srgbClr val="333333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</p:txBody>
        </p:sp>
      </p:grpSp>
      <p:grpSp>
        <p:nvGrpSpPr>
          <p:cNvPr id="38" name="Google Shape;38;p2"/>
          <p:cNvGrpSpPr/>
          <p:nvPr/>
        </p:nvGrpSpPr>
        <p:grpSpPr>
          <a:xfrm>
            <a:off x="381000" y="3048000"/>
            <a:ext cx="3429000" cy="1428900"/>
            <a:chOff x="381000" y="3048000"/>
            <a:chExt cx="3429000" cy="1428900"/>
          </a:xfrm>
        </p:grpSpPr>
        <p:sp>
          <p:nvSpPr>
            <p:cNvPr id="39" name="Google Shape;39;p2"/>
            <p:cNvSpPr/>
            <p:nvPr/>
          </p:nvSpPr>
          <p:spPr>
            <a:xfrm>
              <a:off x="381000" y="3048000"/>
              <a:ext cx="3429000" cy="1428900"/>
            </a:xfrm>
            <a:prstGeom prst="roundRect">
              <a:avLst>
                <a:gd fmla="val 2666" name="adj"/>
              </a:avLst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" name="Google Shape;40;p2"/>
            <p:cNvSpPr txBox="1"/>
            <p:nvPr/>
          </p:nvSpPr>
          <p:spPr>
            <a:xfrm>
              <a:off x="619125" y="3238500"/>
              <a:ext cx="29529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960">
                  <a:solidFill>
                    <a:srgbClr val="FF3366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"</a:t>
              </a:r>
              <a:endParaRPr sz="2960">
                <a:solidFill>
                  <a:srgbClr val="FF3366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3">
                  <a:solidFill>
                    <a:srgbClr val="FAFAFA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테트리스 블록처럼, 지금 이 판에서 가장 먼저 끼워야 할 블록이 무엇인지를 판단하는 우선순위의 문제</a:t>
              </a:r>
              <a:endParaRPr b="1" sz="1203">
                <a:solidFill>
                  <a:srgbClr val="FAFAFA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</p:txBody>
        </p:sp>
      </p:grpSp>
      <p:grpSp>
        <p:nvGrpSpPr>
          <p:cNvPr id="41" name="Google Shape;41;p2"/>
          <p:cNvGrpSpPr/>
          <p:nvPr/>
        </p:nvGrpSpPr>
        <p:grpSpPr>
          <a:xfrm>
            <a:off x="4095750" y="1143000"/>
            <a:ext cx="4762500" cy="285900"/>
            <a:chOff x="4095750" y="1143000"/>
            <a:chExt cx="4762500" cy="285900"/>
          </a:xfrm>
        </p:grpSpPr>
        <p:sp>
          <p:nvSpPr>
            <p:cNvPr id="42" name="Google Shape;42;p2"/>
            <p:cNvSpPr/>
            <p:nvPr/>
          </p:nvSpPr>
          <p:spPr>
            <a:xfrm>
              <a:off x="4095750" y="1143000"/>
              <a:ext cx="4762500" cy="285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2"/>
            <p:cNvSpPr txBox="1"/>
            <p:nvPr/>
          </p:nvSpPr>
          <p:spPr>
            <a:xfrm>
              <a:off x="4095750" y="1143000"/>
              <a:ext cx="4762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00">
                  <a:solidFill>
                    <a:srgbClr val="111111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TIMELINE_PROGRESSION</a:t>
              </a:r>
              <a:endParaRPr b="1" sz="900">
                <a:solidFill>
                  <a:srgbClr val="111111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</p:txBody>
        </p:sp>
      </p:grpSp>
      <p:pic>
        <p:nvPicPr>
          <p:cNvPr id="44" name="Google Shape;44;p2"/>
          <p:cNvPicPr preferRelativeResize="0"/>
          <p:nvPr/>
        </p:nvPicPr>
        <p:blipFill rotWithShape="1">
          <a:blip r:embed="rId5">
            <a:alphaModFix/>
          </a:blip>
          <a:srcRect b="0" l="426" r="436" t="0"/>
          <a:stretch/>
        </p:blipFill>
        <p:spPr>
          <a:xfrm>
            <a:off x="4095750" y="1524000"/>
            <a:ext cx="4762500" cy="295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0" name="Google Shape;50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3"/>
          <p:cNvSpPr/>
          <p:nvPr/>
        </p:nvSpPr>
        <p:spPr>
          <a:xfrm>
            <a:off x="0" y="0"/>
            <a:ext cx="9144000" cy="857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3"/>
          <p:cNvSpPr/>
          <p:nvPr/>
        </p:nvSpPr>
        <p:spPr>
          <a:xfrm>
            <a:off x="0" y="842963"/>
            <a:ext cx="9144000" cy="1428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3"/>
          <p:cNvSpPr/>
          <p:nvPr/>
        </p:nvSpPr>
        <p:spPr>
          <a:xfrm>
            <a:off x="600075" y="262533"/>
            <a:ext cx="2657475" cy="332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600"/>
              <a:buFont typeface="JetBrains Mono"/>
              <a:buNone/>
            </a:pPr>
            <a:r>
              <a:rPr b="1" i="0" lang="en-US" sz="1600" u="none" cap="none" strike="noStrike">
                <a:solidFill>
                  <a:srgbClr val="11111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원띵은 "선택하는 태도"다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3"/>
          <p:cNvSpPr/>
          <p:nvPr/>
        </p:nvSpPr>
        <p:spPr>
          <a:xfrm>
            <a:off x="285750" y="1143000"/>
            <a:ext cx="8572472" cy="1153716"/>
          </a:xfrm>
          <a:prstGeom prst="rect">
            <a:avLst/>
          </a:prstGeom>
          <a:solidFill>
            <a:srgbClr val="FFFFFF"/>
          </a:solidFill>
          <a:ln cap="flat" cmpd="sng" w="18275">
            <a:solidFill>
              <a:srgbClr val="FF33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3"/>
          <p:cNvSpPr/>
          <p:nvPr/>
        </p:nvSpPr>
        <p:spPr>
          <a:xfrm>
            <a:off x="514350" y="1042988"/>
            <a:ext cx="1232297" cy="217884"/>
          </a:xfrm>
          <a:prstGeom prst="rect">
            <a:avLst/>
          </a:prstGeom>
          <a:solidFill>
            <a:srgbClr val="FF3366"/>
          </a:solidFill>
          <a:ln cap="flat" cmpd="sng" w="18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3"/>
          <p:cNvSpPr/>
          <p:nvPr/>
        </p:nvSpPr>
        <p:spPr>
          <a:xfrm>
            <a:off x="514350" y="1042988"/>
            <a:ext cx="1232297" cy="217884"/>
          </a:xfrm>
          <a:prstGeom prst="rect">
            <a:avLst/>
          </a:prstGeom>
          <a:noFill/>
          <a:ln>
            <a:noFill/>
          </a:ln>
        </p:spPr>
        <p:txBody>
          <a:bodyPr anchorCtr="0" anchor="t" bIns="34025" lIns="102100" spcFirstLastPara="1" rIns="102100" wrap="square" tIns="340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JetBrains Mono"/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FOCUSING_QUESTION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3"/>
          <p:cNvSpPr/>
          <p:nvPr/>
        </p:nvSpPr>
        <p:spPr>
          <a:xfrm>
            <a:off x="514350" y="1371600"/>
            <a:ext cx="8115272" cy="5600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400"/>
              <a:buFont typeface="JetBrains Mono"/>
              <a:buNone/>
            </a:pPr>
            <a:r>
              <a:rPr b="1" i="0" lang="en-US" sz="1400" u="none" cap="none" strike="noStrike">
                <a:solidFill>
                  <a:srgbClr val="11111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"지금 내가 할 수 있는 한 가지 일 중에서,</a:t>
            </a:r>
            <a:br>
              <a:rPr b="1" i="0" lang="en-US" sz="1400" u="none" cap="none" strike="noStrike">
                <a:solidFill>
                  <a:srgbClr val="111111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b="1" i="0" lang="en-US" sz="1400" u="none" cap="none" strike="noStrike">
                <a:solidFill>
                  <a:srgbClr val="11111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그것을 함으로써 나머지가 더 쉬워지거나 불필요해지는 것은 무엇인가?"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285750" y="2425303"/>
            <a:ext cx="4941075" cy="350044"/>
          </a:xfrm>
          <a:prstGeom prst="rect">
            <a:avLst/>
          </a:prstGeom>
          <a:solidFill>
            <a:srgbClr val="FFFFFF"/>
          </a:solidFill>
          <a:ln cap="flat" cmpd="sng" w="18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3"/>
          <p:cNvSpPr/>
          <p:nvPr/>
        </p:nvSpPr>
        <p:spPr>
          <a:xfrm>
            <a:off x="285750" y="2425303"/>
            <a:ext cx="2470538" cy="321469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3"/>
          <p:cNvSpPr/>
          <p:nvPr/>
        </p:nvSpPr>
        <p:spPr>
          <a:xfrm>
            <a:off x="285750" y="2425303"/>
            <a:ext cx="2470538" cy="321469"/>
          </a:xfrm>
          <a:prstGeom prst="rect">
            <a:avLst/>
          </a:prstGeom>
          <a:noFill/>
          <a:ln>
            <a:noFill/>
          </a:ln>
        </p:spPr>
        <p:txBody>
          <a:bodyPr anchorCtr="0" anchor="t" bIns="102100" lIns="102100" spcFirstLastPara="1" rIns="102100" wrap="square" tIns="1021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JetBrains Mono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MISCONCEPTION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2756288" y="2425303"/>
            <a:ext cx="2470538" cy="321469"/>
          </a:xfrm>
          <a:prstGeom prst="rect">
            <a:avLst/>
          </a:prstGeom>
          <a:solidFill>
            <a:srgbClr val="FF33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3"/>
          <p:cNvSpPr/>
          <p:nvPr/>
        </p:nvSpPr>
        <p:spPr>
          <a:xfrm>
            <a:off x="2756288" y="2425303"/>
            <a:ext cx="14288" cy="32146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3"/>
          <p:cNvSpPr/>
          <p:nvPr/>
        </p:nvSpPr>
        <p:spPr>
          <a:xfrm>
            <a:off x="2756288" y="2425303"/>
            <a:ext cx="2470538" cy="321469"/>
          </a:xfrm>
          <a:prstGeom prst="rect">
            <a:avLst/>
          </a:prstGeom>
          <a:noFill/>
          <a:ln>
            <a:noFill/>
          </a:ln>
        </p:spPr>
        <p:txBody>
          <a:bodyPr anchorCtr="0" anchor="t" bIns="102100" lIns="102100" spcFirstLastPara="1" rIns="102100" wrap="square" tIns="1021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JetBrains Mono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TRUTH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285750" y="2861072"/>
            <a:ext cx="4941075" cy="692944"/>
          </a:xfrm>
          <a:prstGeom prst="rect">
            <a:avLst/>
          </a:prstGeom>
          <a:solidFill>
            <a:srgbClr val="FFFFFF"/>
          </a:solidFill>
          <a:ln cap="flat" cmpd="sng" w="18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3"/>
          <p:cNvSpPr/>
          <p:nvPr/>
        </p:nvSpPr>
        <p:spPr>
          <a:xfrm>
            <a:off x="285750" y="2861072"/>
            <a:ext cx="2470538" cy="664369"/>
          </a:xfrm>
          <a:prstGeom prst="rect">
            <a:avLst/>
          </a:prstGeom>
          <a:noFill/>
          <a:ln>
            <a:noFill/>
          </a:ln>
        </p:spPr>
        <p:txBody>
          <a:bodyPr anchorCtr="0" anchor="ctr" bIns="170050" lIns="170050" spcFirstLastPara="1" rIns="170050" wrap="square" tIns="1700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00"/>
              <a:buFont typeface="JetBrains Mono"/>
              <a:buNone/>
            </a:pPr>
            <a:r>
              <a:rPr b="1" i="0" lang="en-US" sz="900" u="none" cap="none" strike="noStrike">
                <a:solidFill>
                  <a:srgbClr val="33333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평생 한 가지만 하라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2756288" y="2861072"/>
            <a:ext cx="2470538" cy="664369"/>
          </a:xfrm>
          <a:prstGeom prst="rect">
            <a:avLst/>
          </a:prstGeom>
          <a:noFill/>
          <a:ln>
            <a:noFill/>
          </a:ln>
        </p:spPr>
        <p:txBody>
          <a:bodyPr anchorCtr="0" anchor="ctr" bIns="170050" lIns="170050" spcFirstLastPara="1" rIns="170050" wrap="square" tIns="1700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3366"/>
              </a:buClr>
              <a:buSzPts val="900"/>
              <a:buFont typeface="JetBrains Mono"/>
              <a:buNone/>
            </a:pPr>
            <a:r>
              <a:rPr b="1" i="0" lang="en-US" sz="900" u="none" cap="none" strike="noStrike">
                <a:solidFill>
                  <a:srgbClr val="FF336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지금 이 시점의 레버리지 포인트를 찾아라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285750" y="3639741"/>
            <a:ext cx="4941075" cy="503634"/>
          </a:xfrm>
          <a:prstGeom prst="rect">
            <a:avLst/>
          </a:prstGeom>
          <a:solidFill>
            <a:srgbClr val="FFFFFF"/>
          </a:solidFill>
          <a:ln cap="flat" cmpd="sng" w="18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3"/>
          <p:cNvSpPr/>
          <p:nvPr/>
        </p:nvSpPr>
        <p:spPr>
          <a:xfrm>
            <a:off x="285750" y="3639741"/>
            <a:ext cx="2470538" cy="475059"/>
          </a:xfrm>
          <a:prstGeom prst="rect">
            <a:avLst/>
          </a:prstGeom>
          <a:noFill/>
          <a:ln>
            <a:noFill/>
          </a:ln>
        </p:spPr>
        <p:txBody>
          <a:bodyPr anchorCtr="0" anchor="ctr" bIns="170050" lIns="170050" spcFirstLastPara="1" rIns="170050" wrap="square" tIns="1700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00"/>
              <a:buFont typeface="JetBrains Mono"/>
              <a:buNone/>
            </a:pPr>
            <a:r>
              <a:rPr b="1" i="0" lang="en-US" sz="900" u="none" cap="none" strike="noStrike">
                <a:solidFill>
                  <a:srgbClr val="33333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외곬수가 되어야 한다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2756288" y="3639741"/>
            <a:ext cx="2470538" cy="475059"/>
          </a:xfrm>
          <a:prstGeom prst="rect">
            <a:avLst/>
          </a:prstGeom>
          <a:noFill/>
          <a:ln>
            <a:noFill/>
          </a:ln>
        </p:spPr>
        <p:txBody>
          <a:bodyPr anchorCtr="0" anchor="ctr" bIns="170050" lIns="170050" spcFirstLastPara="1" rIns="170050" wrap="square" tIns="1700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3366"/>
              </a:buClr>
              <a:buSzPts val="900"/>
              <a:buFont typeface="JetBrains Mono"/>
              <a:buNone/>
            </a:pPr>
            <a:r>
              <a:rPr b="1" i="0" lang="en-US" sz="900" u="none" cap="none" strike="noStrike">
                <a:solidFill>
                  <a:srgbClr val="FF336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순서와 흐름에 대한 감각이다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285750" y="4229100"/>
            <a:ext cx="4941075" cy="503634"/>
          </a:xfrm>
          <a:prstGeom prst="rect">
            <a:avLst/>
          </a:prstGeom>
          <a:solidFill>
            <a:srgbClr val="FFFFFF"/>
          </a:solidFill>
          <a:ln cap="flat" cmpd="sng" w="18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3"/>
          <p:cNvSpPr/>
          <p:nvPr/>
        </p:nvSpPr>
        <p:spPr>
          <a:xfrm>
            <a:off x="285750" y="4229100"/>
            <a:ext cx="2470538" cy="475059"/>
          </a:xfrm>
          <a:prstGeom prst="rect">
            <a:avLst/>
          </a:prstGeom>
          <a:noFill/>
          <a:ln>
            <a:noFill/>
          </a:ln>
        </p:spPr>
        <p:txBody>
          <a:bodyPr anchorCtr="0" anchor="ctr" bIns="170050" lIns="170050" spcFirstLastPara="1" rIns="170050" wrap="square" tIns="1700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00"/>
              <a:buFont typeface="JetBrains Mono"/>
              <a:buNone/>
            </a:pPr>
            <a:r>
              <a:rPr b="1" i="0" lang="en-US" sz="900" u="none" cap="none" strike="noStrike">
                <a:solidFill>
                  <a:srgbClr val="33333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더 많이 하는 능력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2756288" y="4229100"/>
            <a:ext cx="2470538" cy="475059"/>
          </a:xfrm>
          <a:prstGeom prst="rect">
            <a:avLst/>
          </a:prstGeom>
          <a:noFill/>
          <a:ln>
            <a:noFill/>
          </a:ln>
        </p:spPr>
        <p:txBody>
          <a:bodyPr anchorCtr="0" anchor="ctr" bIns="170050" lIns="170050" spcFirstLastPara="1" rIns="170050" wrap="square" tIns="1700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3366"/>
              </a:buClr>
              <a:buSzPts val="900"/>
              <a:buFont typeface="JetBrains Mono"/>
              <a:buNone/>
            </a:pPr>
            <a:r>
              <a:rPr b="1" i="0" lang="en-US" sz="900" u="none" cap="none" strike="noStrike">
                <a:solidFill>
                  <a:srgbClr val="FF336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덜 중요한 것을 빼는 능력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5369700" y="2425303"/>
            <a:ext cx="3488522" cy="2718197"/>
          </a:xfrm>
          <a:prstGeom prst="rect">
            <a:avLst/>
          </a:prstGeom>
          <a:solidFill>
            <a:srgbClr val="111111"/>
          </a:solidFill>
          <a:ln cap="flat" cmpd="sng" w="18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3"/>
          <p:cNvSpPr/>
          <p:nvPr/>
        </p:nvSpPr>
        <p:spPr>
          <a:xfrm>
            <a:off x="5541150" y="2611041"/>
            <a:ext cx="3145622" cy="1500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800"/>
              <a:buFont typeface="JetBrains Mono"/>
              <a:buNone/>
            </a:pPr>
            <a:r>
              <a:rPr b="1" i="0" lang="en-US" sz="800" u="none" cap="none" strike="noStrike">
                <a:solidFill>
                  <a:srgbClr val="FAFAF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DOMINO_EFFECT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5541150" y="4612016"/>
            <a:ext cx="3145622" cy="3600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900"/>
              <a:buFont typeface="JetBrains Mono"/>
              <a:buNone/>
            </a:pPr>
            <a:r>
              <a:rPr b="1" i="0" lang="en-US" sz="900" u="none" cap="none" strike="noStrike">
                <a:solidFill>
                  <a:srgbClr val="FAFAF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"첫 번째 도미노가 넘어지면</a:t>
            </a:r>
            <a:br>
              <a:rPr b="1" i="0" lang="en-US" sz="900" u="none" cap="none" strike="noStrike">
                <a:solidFill>
                  <a:srgbClr val="FAFAFA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b="1" i="0" lang="en-US" sz="900" u="none" cap="none" strike="noStrike">
                <a:solidFill>
                  <a:srgbClr val="FF336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나머지가 따라 넘어진다</a:t>
            </a:r>
            <a:r>
              <a:rPr b="1" i="0" lang="en-US" sz="900" u="none" cap="none" strike="noStrike">
                <a:solidFill>
                  <a:srgbClr val="FAFAF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6" name="Google Shape;76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88050" y="2550362"/>
            <a:ext cx="3251825" cy="2468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82" name="Google Shape;8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4"/>
          <p:cNvSpPr/>
          <p:nvPr/>
        </p:nvSpPr>
        <p:spPr>
          <a:xfrm>
            <a:off x="0" y="0"/>
            <a:ext cx="9144000" cy="857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4"/>
          <p:cNvSpPr/>
          <p:nvPr/>
        </p:nvSpPr>
        <p:spPr>
          <a:xfrm>
            <a:off x="0" y="842963"/>
            <a:ext cx="9144000" cy="1428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4"/>
          <p:cNvSpPr/>
          <p:nvPr/>
        </p:nvSpPr>
        <p:spPr>
          <a:xfrm>
            <a:off x="600075" y="262533"/>
            <a:ext cx="5105995" cy="332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600"/>
              <a:buFont typeface="JetBrains Mono"/>
              <a:buNone/>
            </a:pPr>
            <a:r>
              <a:rPr b="1" i="0" lang="en-US" sz="1600" u="none" cap="none" strike="noStrike">
                <a:solidFill>
                  <a:srgbClr val="11111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즉시 실행 — DECISION CALIBRATION SYSTEM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4"/>
          <p:cNvSpPr/>
          <p:nvPr/>
        </p:nvSpPr>
        <p:spPr>
          <a:xfrm>
            <a:off x="285750" y="1071563"/>
            <a:ext cx="4229100" cy="2447404"/>
          </a:xfrm>
          <a:prstGeom prst="rect">
            <a:avLst/>
          </a:prstGeom>
          <a:solidFill>
            <a:srgbClr val="FFFFFF"/>
          </a:solidFill>
          <a:ln cap="flat" cmpd="sng" w="18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4"/>
          <p:cNvSpPr/>
          <p:nvPr/>
        </p:nvSpPr>
        <p:spPr>
          <a:xfrm>
            <a:off x="414338" y="1201043"/>
            <a:ext cx="453628" cy="207169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4"/>
          <p:cNvSpPr/>
          <p:nvPr/>
        </p:nvSpPr>
        <p:spPr>
          <a:xfrm>
            <a:off x="414338" y="1201043"/>
            <a:ext cx="453628" cy="207169"/>
          </a:xfrm>
          <a:prstGeom prst="rect">
            <a:avLst/>
          </a:prstGeom>
          <a:noFill/>
          <a:ln>
            <a:noFill/>
          </a:ln>
        </p:spPr>
        <p:txBody>
          <a:bodyPr anchorCtr="0" anchor="t" bIns="34025" lIns="68050" spcFirstLastPara="1" rIns="68050" wrap="square" tIns="340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JetBrains Mono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ACT_1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4"/>
          <p:cNvSpPr/>
          <p:nvPr/>
        </p:nvSpPr>
        <p:spPr>
          <a:xfrm>
            <a:off x="953691" y="1200150"/>
            <a:ext cx="1975247" cy="208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00"/>
              <a:buFont typeface="JetBrains Mono"/>
              <a:buNone/>
            </a:pPr>
            <a:r>
              <a:rPr b="1" i="0" lang="en-US" sz="1000" u="none" cap="none" strike="noStrike">
                <a:solidFill>
                  <a:srgbClr val="11111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아이젠하워 매트릭스 보드 작성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4"/>
          <p:cNvSpPr/>
          <p:nvPr/>
        </p:nvSpPr>
        <p:spPr>
          <a:xfrm>
            <a:off x="414338" y="1451967"/>
            <a:ext cx="3971925" cy="4800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06175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50"/>
              <a:buFont typeface="JetBrains Mono"/>
              <a:buNone/>
            </a:pPr>
            <a:r>
              <a:rPr b="0" i="0" lang="en-US" sz="850" u="none" cap="none" strike="noStrike">
                <a:solidFill>
                  <a:srgbClr val="33333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일론 머스크식 브레인 덤프 → 중요도 판단 → 할 일 선정</a:t>
            </a:r>
            <a:br>
              <a:rPr b="0" i="0" lang="en-US" sz="850" u="none" cap="none" strike="noStrike">
                <a:solidFill>
                  <a:srgbClr val="333333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b="0" i="0" lang="en-US" sz="850" u="none" cap="none" strike="noStrike">
                <a:solidFill>
                  <a:srgbClr val="33333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Q1(중요+긴급) / Q2(중요+비긴급) / Q3(긴급+비중요) / Q4(비중요+비긴급)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4"/>
          <p:cNvSpPr/>
          <p:nvPr/>
        </p:nvSpPr>
        <p:spPr>
          <a:xfrm>
            <a:off x="414338" y="2104337"/>
            <a:ext cx="453628" cy="207169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4"/>
          <p:cNvSpPr/>
          <p:nvPr/>
        </p:nvSpPr>
        <p:spPr>
          <a:xfrm>
            <a:off x="414338" y="2104337"/>
            <a:ext cx="453628" cy="207169"/>
          </a:xfrm>
          <a:prstGeom prst="rect">
            <a:avLst/>
          </a:prstGeom>
          <a:noFill/>
          <a:ln>
            <a:noFill/>
          </a:ln>
        </p:spPr>
        <p:txBody>
          <a:bodyPr anchorCtr="0" anchor="t" bIns="34025" lIns="68050" spcFirstLastPara="1" rIns="68050" wrap="square" tIns="340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JetBrains Mono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ACT_2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4"/>
          <p:cNvSpPr/>
          <p:nvPr/>
        </p:nvSpPr>
        <p:spPr>
          <a:xfrm>
            <a:off x="953691" y="2103444"/>
            <a:ext cx="1882378" cy="208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00"/>
              <a:buFont typeface="JetBrains Mono"/>
              <a:buNone/>
            </a:pPr>
            <a:r>
              <a:rPr b="1" i="0" lang="en-US" sz="1000" u="none" cap="none" strike="noStrike">
                <a:solidFill>
                  <a:srgbClr val="11111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66일 타임라인 포스트잇 보드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4"/>
          <p:cNvSpPr/>
          <p:nvPr/>
        </p:nvSpPr>
        <p:spPr>
          <a:xfrm>
            <a:off x="414338" y="2527604"/>
            <a:ext cx="453628" cy="207169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4"/>
          <p:cNvSpPr/>
          <p:nvPr/>
        </p:nvSpPr>
        <p:spPr>
          <a:xfrm>
            <a:off x="414338" y="2527604"/>
            <a:ext cx="453628" cy="207169"/>
          </a:xfrm>
          <a:prstGeom prst="rect">
            <a:avLst/>
          </a:prstGeom>
          <a:noFill/>
          <a:ln>
            <a:noFill/>
          </a:ln>
        </p:spPr>
        <p:txBody>
          <a:bodyPr anchorCtr="0" anchor="t" bIns="34025" lIns="68050" spcFirstLastPara="1" rIns="68050" wrap="square" tIns="340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JetBrains Mono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ACT_3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4"/>
          <p:cNvSpPr/>
          <p:nvPr/>
        </p:nvSpPr>
        <p:spPr>
          <a:xfrm>
            <a:off x="953691" y="2526711"/>
            <a:ext cx="1096566" cy="208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00"/>
              <a:buFont typeface="JetBrains Mono"/>
              <a:buNone/>
            </a:pPr>
            <a:r>
              <a:rPr b="1" i="0" lang="en-US" sz="1000" u="none" cap="none" strike="noStrike">
                <a:solidFill>
                  <a:srgbClr val="11111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작업 환경 최적화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4"/>
          <p:cNvSpPr/>
          <p:nvPr/>
        </p:nvSpPr>
        <p:spPr>
          <a:xfrm>
            <a:off x="414338" y="2778528"/>
            <a:ext cx="3971925" cy="1600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06175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50"/>
              <a:buFont typeface="JetBrains Mono"/>
              <a:buNone/>
            </a:pPr>
            <a:r>
              <a:rPr lang="en-US" sz="850">
                <a:solidFill>
                  <a:srgbClr val="33333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업무에 몰입할 수 있는 환경 조성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4"/>
          <p:cNvSpPr/>
          <p:nvPr/>
        </p:nvSpPr>
        <p:spPr>
          <a:xfrm>
            <a:off x="414338" y="3110880"/>
            <a:ext cx="453628" cy="207169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4"/>
          <p:cNvSpPr/>
          <p:nvPr/>
        </p:nvSpPr>
        <p:spPr>
          <a:xfrm>
            <a:off x="414338" y="3110880"/>
            <a:ext cx="453628" cy="207169"/>
          </a:xfrm>
          <a:prstGeom prst="rect">
            <a:avLst/>
          </a:prstGeom>
          <a:noFill/>
          <a:ln>
            <a:noFill/>
          </a:ln>
        </p:spPr>
        <p:txBody>
          <a:bodyPr anchorCtr="0" anchor="t" bIns="34025" lIns="68050" spcFirstLastPara="1" rIns="68050" wrap="square" tIns="340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JetBrains Mono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ACT_4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4"/>
          <p:cNvSpPr/>
          <p:nvPr/>
        </p:nvSpPr>
        <p:spPr>
          <a:xfrm>
            <a:off x="953691" y="3109987"/>
            <a:ext cx="832247" cy="208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00"/>
              <a:buFont typeface="JetBrains Mono"/>
              <a:buNone/>
            </a:pPr>
            <a:r>
              <a:rPr b="1" i="0" lang="en-US" sz="1000" u="none" cap="none" strike="noStrike">
                <a:solidFill>
                  <a:srgbClr val="11111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팀 보드 확장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4"/>
          <p:cNvSpPr/>
          <p:nvPr/>
        </p:nvSpPr>
        <p:spPr>
          <a:xfrm>
            <a:off x="4629150" y="1071563"/>
            <a:ext cx="4229100" cy="1857375"/>
          </a:xfrm>
          <a:prstGeom prst="rect">
            <a:avLst/>
          </a:prstGeom>
          <a:solidFill>
            <a:srgbClr val="111111"/>
          </a:solidFill>
          <a:ln cap="flat" cmpd="sng" w="18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4"/>
          <p:cNvSpPr/>
          <p:nvPr/>
        </p:nvSpPr>
        <p:spPr>
          <a:xfrm>
            <a:off x="4629150" y="1071563"/>
            <a:ext cx="1643063" cy="203597"/>
          </a:xfrm>
          <a:prstGeom prst="rect">
            <a:avLst/>
          </a:prstGeom>
          <a:solidFill>
            <a:srgbClr val="FF33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4"/>
          <p:cNvSpPr/>
          <p:nvPr/>
        </p:nvSpPr>
        <p:spPr>
          <a:xfrm>
            <a:off x="6257925" y="1071563"/>
            <a:ext cx="14288" cy="203597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4"/>
          <p:cNvSpPr/>
          <p:nvPr/>
        </p:nvSpPr>
        <p:spPr>
          <a:xfrm>
            <a:off x="4629150" y="1260872"/>
            <a:ext cx="1643063" cy="1428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4"/>
          <p:cNvSpPr/>
          <p:nvPr/>
        </p:nvSpPr>
        <p:spPr>
          <a:xfrm>
            <a:off x="4629150" y="1071563"/>
            <a:ext cx="1643063" cy="203597"/>
          </a:xfrm>
          <a:prstGeom prst="rect">
            <a:avLst/>
          </a:prstGeom>
          <a:noFill/>
          <a:ln>
            <a:noFill/>
          </a:ln>
        </p:spPr>
        <p:txBody>
          <a:bodyPr anchorCtr="0" anchor="t" bIns="34025" lIns="102100" spcFirstLastPara="1" rIns="102100" wrap="square" tIns="340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JetBrains Mono"/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EVIDENCE: ACTION_1_BOARD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6" name="Google Shape;106;p4"/>
          <p:cNvPicPr preferRelativeResize="0"/>
          <p:nvPr/>
        </p:nvPicPr>
        <p:blipFill rotWithShape="1">
          <a:blip r:embed="rId4">
            <a:alphaModFix/>
          </a:blip>
          <a:srcRect b="0" l="0" r="6077" t="10193"/>
          <a:stretch/>
        </p:blipFill>
        <p:spPr>
          <a:xfrm>
            <a:off x="4629150" y="1260874"/>
            <a:ext cx="3971926" cy="1668076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4"/>
          <p:cNvSpPr/>
          <p:nvPr/>
        </p:nvSpPr>
        <p:spPr>
          <a:xfrm>
            <a:off x="285750" y="3754961"/>
            <a:ext cx="8572500" cy="2342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3366"/>
              </a:buClr>
              <a:buSzPts val="800"/>
              <a:buFont typeface="JetBrains Mono"/>
              <a:buNone/>
            </a:pPr>
            <a:r>
              <a:rPr b="1" i="0" lang="en-US" sz="800" u="none" cap="none" strike="noStrike">
                <a:solidFill>
                  <a:srgbClr val="FF336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</a:t>
            </a:r>
            <a:r>
              <a:rPr b="1" lang="en-US" sz="800">
                <a:solidFill>
                  <a:srgbClr val="FF336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HAT_FOUND</a:t>
            </a:r>
            <a:r>
              <a:rPr b="1" i="0" lang="en-US" sz="800" u="none" cap="none" strike="noStrike">
                <a:solidFill>
                  <a:srgbClr val="FF336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// 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285750" y="4174908"/>
            <a:ext cx="2078831" cy="968592"/>
          </a:xfrm>
          <a:prstGeom prst="rect">
            <a:avLst/>
          </a:prstGeom>
          <a:solidFill>
            <a:srgbClr val="111111"/>
          </a:solidFill>
          <a:ln cap="flat" cmpd="sng" w="18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4"/>
          <p:cNvSpPr/>
          <p:nvPr/>
        </p:nvSpPr>
        <p:spPr>
          <a:xfrm>
            <a:off x="400050" y="4289208"/>
            <a:ext cx="1850231" cy="226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3366"/>
              </a:buClr>
              <a:buSzPts val="1200"/>
              <a:buFont typeface="JetBrains Mono"/>
              <a:buNone/>
            </a:pPr>
            <a:r>
              <a:rPr b="1" i="0" lang="en-US" sz="1200" u="none" cap="none" strike="noStrike">
                <a:solidFill>
                  <a:srgbClr val="FF336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4"/>
          <p:cNvSpPr/>
          <p:nvPr/>
        </p:nvSpPr>
        <p:spPr>
          <a:xfrm>
            <a:off x="400050" y="4601747"/>
            <a:ext cx="1850231" cy="1600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800"/>
              <a:buFont typeface="JetBrains Mono"/>
              <a:buNone/>
            </a:pPr>
            <a:r>
              <a:rPr b="1" i="0" lang="en-US" sz="800" u="none" cap="none" strike="noStrike">
                <a:solidFill>
                  <a:srgbClr val="FAFAF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하기 싫지만 중요한 일을 미룸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4"/>
          <p:cNvSpPr/>
          <p:nvPr/>
        </p:nvSpPr>
        <p:spPr>
          <a:xfrm>
            <a:off x="2450306" y="4174908"/>
            <a:ext cx="2078831" cy="968592"/>
          </a:xfrm>
          <a:prstGeom prst="rect">
            <a:avLst/>
          </a:prstGeom>
          <a:solidFill>
            <a:srgbClr val="111111"/>
          </a:solidFill>
          <a:ln cap="flat" cmpd="sng" w="18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4"/>
          <p:cNvSpPr/>
          <p:nvPr/>
        </p:nvSpPr>
        <p:spPr>
          <a:xfrm>
            <a:off x="2564606" y="4308267"/>
            <a:ext cx="1850231" cy="226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3366"/>
              </a:buClr>
              <a:buSzPts val="1200"/>
              <a:buFont typeface="JetBrains Mono"/>
              <a:buNone/>
            </a:pPr>
            <a:r>
              <a:rPr b="1" i="0" lang="en-US" sz="1200" u="none" cap="none" strike="noStrike">
                <a:solidFill>
                  <a:srgbClr val="FF336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2564606" y="4620806"/>
            <a:ext cx="1850231" cy="3200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800"/>
              <a:buFont typeface="JetBrains Mono"/>
              <a:buNone/>
            </a:pPr>
            <a:r>
              <a:rPr b="1" i="0" lang="en-US" sz="800" u="none" cap="none" strike="noStrike">
                <a:solidFill>
                  <a:srgbClr val="FAFAF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근본 원인 수정 대신 작은 것만 고침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4"/>
          <p:cNvSpPr/>
          <p:nvPr/>
        </p:nvSpPr>
        <p:spPr>
          <a:xfrm>
            <a:off x="4614863" y="4193967"/>
            <a:ext cx="2078831" cy="949533"/>
          </a:xfrm>
          <a:prstGeom prst="rect">
            <a:avLst/>
          </a:prstGeom>
          <a:solidFill>
            <a:srgbClr val="111111"/>
          </a:solidFill>
          <a:ln cap="flat" cmpd="sng" w="18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4"/>
          <p:cNvSpPr/>
          <p:nvPr/>
        </p:nvSpPr>
        <p:spPr>
          <a:xfrm>
            <a:off x="4729163" y="4308267"/>
            <a:ext cx="1850231" cy="226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3366"/>
              </a:buClr>
              <a:buSzPts val="1200"/>
              <a:buFont typeface="JetBrains Mono"/>
              <a:buNone/>
            </a:pPr>
            <a:r>
              <a:rPr b="1" i="0" lang="en-US" sz="1200" u="none" cap="none" strike="noStrike">
                <a:solidFill>
                  <a:srgbClr val="FF336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4"/>
          <p:cNvSpPr/>
          <p:nvPr/>
        </p:nvSpPr>
        <p:spPr>
          <a:xfrm>
            <a:off x="4729163" y="4620806"/>
            <a:ext cx="1850231" cy="1600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800"/>
              <a:buFont typeface="JetBrains Mono"/>
              <a:buNone/>
            </a:pPr>
            <a:r>
              <a:rPr b="1" i="0" lang="en-US" sz="800" u="none" cap="none" strike="noStrike">
                <a:solidFill>
                  <a:srgbClr val="FAFAF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중요하지만 일부러 외면하던 것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4"/>
          <p:cNvSpPr/>
          <p:nvPr/>
        </p:nvSpPr>
        <p:spPr>
          <a:xfrm>
            <a:off x="6779419" y="4193967"/>
            <a:ext cx="2078831" cy="949533"/>
          </a:xfrm>
          <a:prstGeom prst="rect">
            <a:avLst/>
          </a:prstGeom>
          <a:solidFill>
            <a:srgbClr val="111111"/>
          </a:solidFill>
          <a:ln cap="flat" cmpd="sng" w="18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4"/>
          <p:cNvSpPr/>
          <p:nvPr/>
        </p:nvSpPr>
        <p:spPr>
          <a:xfrm>
            <a:off x="6893719" y="4308267"/>
            <a:ext cx="1850231" cy="226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3366"/>
              </a:buClr>
              <a:buSzPts val="1200"/>
              <a:buFont typeface="JetBrains Mono"/>
              <a:buNone/>
            </a:pPr>
            <a:r>
              <a:rPr b="1" i="0" lang="en-US" sz="1200" u="none" cap="none" strike="noStrike">
                <a:solidFill>
                  <a:srgbClr val="FF336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4"/>
          <p:cNvSpPr/>
          <p:nvPr/>
        </p:nvSpPr>
        <p:spPr>
          <a:xfrm>
            <a:off x="6893719" y="4620806"/>
            <a:ext cx="1850231" cy="1600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800"/>
              <a:buFont typeface="JetBrains Mono"/>
              <a:buNone/>
            </a:pPr>
            <a:r>
              <a:rPr b="1" i="0" lang="en-US" sz="800" u="none" cap="none" strike="noStrike">
                <a:solidFill>
                  <a:srgbClr val="FAFAF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나 혼자 하는 것은 큰 의미가 없다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25" name="Google Shape;12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5"/>
          <p:cNvSpPr/>
          <p:nvPr/>
        </p:nvSpPr>
        <p:spPr>
          <a:xfrm>
            <a:off x="0" y="0"/>
            <a:ext cx="9144000" cy="857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5"/>
          <p:cNvSpPr/>
          <p:nvPr/>
        </p:nvSpPr>
        <p:spPr>
          <a:xfrm>
            <a:off x="0" y="842963"/>
            <a:ext cx="9144000" cy="14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5"/>
          <p:cNvSpPr/>
          <p:nvPr/>
        </p:nvSpPr>
        <p:spPr>
          <a:xfrm>
            <a:off x="600075" y="262533"/>
            <a:ext cx="4581000" cy="33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600"/>
              <a:buFont typeface="JetBrains Mono"/>
              <a:buNone/>
            </a:pPr>
            <a:r>
              <a:rPr b="1" i="0" lang="en-US" sz="1600" u="none" cap="none" strike="noStrike">
                <a:solidFill>
                  <a:srgbClr val="11111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브레인 덤프 → 우선순위 판단 → 원띵 선택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5"/>
          <p:cNvSpPr/>
          <p:nvPr/>
        </p:nvSpPr>
        <p:spPr>
          <a:xfrm>
            <a:off x="285750" y="1000125"/>
            <a:ext cx="4214700" cy="4000500"/>
          </a:xfrm>
          <a:prstGeom prst="rect">
            <a:avLst/>
          </a:prstGeom>
          <a:solidFill>
            <a:srgbClr val="FFFFFF"/>
          </a:solidFill>
          <a:ln cap="flat" cmpd="sng" w="18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5"/>
          <p:cNvSpPr/>
          <p:nvPr/>
        </p:nvSpPr>
        <p:spPr>
          <a:xfrm>
            <a:off x="571500" y="1000125"/>
            <a:ext cx="3929100" cy="2859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5"/>
          <p:cNvSpPr/>
          <p:nvPr/>
        </p:nvSpPr>
        <p:spPr>
          <a:xfrm>
            <a:off x="571500" y="1271588"/>
            <a:ext cx="3929100" cy="14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5"/>
          <p:cNvSpPr/>
          <p:nvPr/>
        </p:nvSpPr>
        <p:spPr>
          <a:xfrm>
            <a:off x="714375" y="1072458"/>
            <a:ext cx="1570800" cy="14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0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← 긴급하지 않음 (NOT URGENT)</a:t>
            </a:r>
            <a:endParaRPr b="1" sz="700">
              <a:solidFill>
                <a:srgbClr val="FFFFFF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133" name="Google Shape;133;p5"/>
          <p:cNvSpPr/>
          <p:nvPr/>
        </p:nvSpPr>
        <p:spPr>
          <a:xfrm>
            <a:off x="3390405" y="1072458"/>
            <a:ext cx="967200" cy="14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0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긴급함 (URGENT) →</a:t>
            </a:r>
            <a:endParaRPr b="1" sz="700">
              <a:solidFill>
                <a:srgbClr val="FFFFFF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134" name="Google Shape;134;p5"/>
          <p:cNvSpPr/>
          <p:nvPr/>
        </p:nvSpPr>
        <p:spPr>
          <a:xfrm>
            <a:off x="285750" y="1285875"/>
            <a:ext cx="285900" cy="37149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5"/>
          <p:cNvSpPr/>
          <p:nvPr/>
        </p:nvSpPr>
        <p:spPr>
          <a:xfrm>
            <a:off x="557212" y="1285875"/>
            <a:ext cx="14400" cy="37149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5"/>
          <p:cNvSpPr/>
          <p:nvPr/>
        </p:nvSpPr>
        <p:spPr>
          <a:xfrm rot="-5400000">
            <a:off x="-476100" y="3952875"/>
            <a:ext cx="18096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0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← 중요하지 않음 (NOT IMPORTANT)</a:t>
            </a:r>
            <a:endParaRPr b="1" sz="700">
              <a:solidFill>
                <a:srgbClr val="FFFFFF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137" name="Google Shape;137;p5"/>
          <p:cNvSpPr/>
          <p:nvPr/>
        </p:nvSpPr>
        <p:spPr>
          <a:xfrm rot="-5400000">
            <a:off x="-476100" y="2047875"/>
            <a:ext cx="18096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0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중요함 (IMPORTANT) →</a:t>
            </a:r>
            <a:endParaRPr b="1" sz="700">
              <a:solidFill>
                <a:srgbClr val="FFFFFF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138" name="Google Shape;138;p5"/>
          <p:cNvSpPr/>
          <p:nvPr/>
        </p:nvSpPr>
        <p:spPr>
          <a:xfrm>
            <a:off x="714375" y="1428750"/>
            <a:ext cx="1664400" cy="226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33333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Q2</a:t>
            </a:r>
            <a:endParaRPr b="1" sz="1200">
              <a:solidFill>
                <a:srgbClr val="333333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139" name="Google Shape;139;p5"/>
          <p:cNvSpPr/>
          <p:nvPr/>
        </p:nvSpPr>
        <p:spPr>
          <a:xfrm>
            <a:off x="714375" y="1726997"/>
            <a:ext cx="1664400" cy="320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">
                <a:solidFill>
                  <a:srgbClr val="33333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중요하지만</a:t>
            </a:r>
            <a:br>
              <a:rPr b="1" lang="en-US" sz="800">
                <a:solidFill>
                  <a:srgbClr val="333333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b="1" lang="en-US" sz="800">
                <a:solidFill>
                  <a:srgbClr val="33333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긴급하지 않음</a:t>
            </a:r>
            <a:endParaRPr b="1" sz="800">
              <a:solidFill>
                <a:srgbClr val="333333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140" name="Google Shape;140;p5"/>
          <p:cNvSpPr/>
          <p:nvPr/>
        </p:nvSpPr>
        <p:spPr>
          <a:xfrm>
            <a:off x="714375" y="2768203"/>
            <a:ext cx="628800" cy="217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34000" lIns="68000" spcFirstLastPara="1" rIns="68000" wrap="square" tIns="340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00">
                <a:solidFill>
                  <a:srgbClr val="33333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SCHEDULE</a:t>
            </a:r>
            <a:endParaRPr b="1" sz="700">
              <a:solidFill>
                <a:srgbClr val="333333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141" name="Google Shape;141;p5"/>
          <p:cNvSpPr/>
          <p:nvPr/>
        </p:nvSpPr>
        <p:spPr>
          <a:xfrm>
            <a:off x="2536031" y="1285875"/>
            <a:ext cx="1964400" cy="1857300"/>
          </a:xfrm>
          <a:prstGeom prst="rect">
            <a:avLst/>
          </a:prstGeom>
          <a:solidFill>
            <a:srgbClr val="FF3366">
              <a:alpha val="10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5"/>
          <p:cNvSpPr/>
          <p:nvPr/>
        </p:nvSpPr>
        <p:spPr>
          <a:xfrm>
            <a:off x="2536031" y="3128963"/>
            <a:ext cx="1964400" cy="14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5"/>
          <p:cNvSpPr/>
          <p:nvPr/>
        </p:nvSpPr>
        <p:spPr>
          <a:xfrm>
            <a:off x="2678906" y="1428750"/>
            <a:ext cx="1678800" cy="226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336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Q1</a:t>
            </a:r>
            <a:endParaRPr b="1" sz="1200">
              <a:solidFill>
                <a:srgbClr val="FF3366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144" name="Google Shape;144;p5"/>
          <p:cNvSpPr/>
          <p:nvPr/>
        </p:nvSpPr>
        <p:spPr>
          <a:xfrm>
            <a:off x="2678906" y="1726997"/>
            <a:ext cx="1678800" cy="320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">
                <a:solidFill>
                  <a:srgbClr val="33333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중요하고</a:t>
            </a:r>
            <a:br>
              <a:rPr b="1" lang="en-US" sz="800">
                <a:solidFill>
                  <a:srgbClr val="333333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b="1" lang="en-US" sz="800">
                <a:solidFill>
                  <a:srgbClr val="33333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긴급함</a:t>
            </a:r>
            <a:endParaRPr b="1" sz="800">
              <a:solidFill>
                <a:srgbClr val="333333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145" name="Google Shape;145;p5"/>
          <p:cNvSpPr/>
          <p:nvPr/>
        </p:nvSpPr>
        <p:spPr>
          <a:xfrm>
            <a:off x="2678906" y="2782491"/>
            <a:ext cx="628800" cy="217800"/>
          </a:xfrm>
          <a:prstGeom prst="rect">
            <a:avLst/>
          </a:prstGeom>
          <a:solidFill>
            <a:srgbClr val="FF3366"/>
          </a:solidFill>
          <a:ln cap="flat" cmpd="sng" w="18275">
            <a:solidFill>
              <a:srgbClr val="FF33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5"/>
          <p:cNvSpPr/>
          <p:nvPr/>
        </p:nvSpPr>
        <p:spPr>
          <a:xfrm>
            <a:off x="2678906" y="2782491"/>
            <a:ext cx="628800" cy="217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34000" lIns="68000" spcFirstLastPara="1" rIns="68000" wrap="square" tIns="340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0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DO FIRST</a:t>
            </a:r>
            <a:endParaRPr b="1" sz="700">
              <a:solidFill>
                <a:srgbClr val="FFFFFF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147" name="Google Shape;147;p5"/>
          <p:cNvSpPr/>
          <p:nvPr/>
        </p:nvSpPr>
        <p:spPr>
          <a:xfrm>
            <a:off x="714375" y="3286125"/>
            <a:ext cx="1664400" cy="226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33333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Q3</a:t>
            </a:r>
            <a:endParaRPr b="1" sz="1200">
              <a:solidFill>
                <a:srgbClr val="333333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148" name="Google Shape;148;p5"/>
          <p:cNvSpPr/>
          <p:nvPr/>
        </p:nvSpPr>
        <p:spPr>
          <a:xfrm>
            <a:off x="714375" y="3584372"/>
            <a:ext cx="1664400" cy="320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">
                <a:solidFill>
                  <a:srgbClr val="33333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긴급하지만</a:t>
            </a:r>
            <a:br>
              <a:rPr b="1" lang="en-US" sz="800">
                <a:solidFill>
                  <a:srgbClr val="333333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b="1" lang="en-US" sz="800">
                <a:solidFill>
                  <a:srgbClr val="33333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중요하지 않음</a:t>
            </a:r>
            <a:endParaRPr b="1" sz="800">
              <a:solidFill>
                <a:srgbClr val="333333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149" name="Google Shape;149;p5"/>
          <p:cNvSpPr/>
          <p:nvPr/>
        </p:nvSpPr>
        <p:spPr>
          <a:xfrm>
            <a:off x="714375" y="4639866"/>
            <a:ext cx="628800" cy="217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34000" lIns="68000" spcFirstLastPara="1" rIns="68000" wrap="square" tIns="340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00">
                <a:solidFill>
                  <a:srgbClr val="33333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DELEGATE</a:t>
            </a:r>
            <a:endParaRPr b="1" sz="700">
              <a:solidFill>
                <a:srgbClr val="333333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150" name="Google Shape;150;p5"/>
          <p:cNvSpPr/>
          <p:nvPr/>
        </p:nvSpPr>
        <p:spPr>
          <a:xfrm>
            <a:off x="2678906" y="3286125"/>
            <a:ext cx="1678800" cy="226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33333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Q4</a:t>
            </a:r>
            <a:endParaRPr b="1" sz="1200">
              <a:solidFill>
                <a:srgbClr val="333333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151" name="Google Shape;151;p5"/>
          <p:cNvSpPr/>
          <p:nvPr/>
        </p:nvSpPr>
        <p:spPr>
          <a:xfrm>
            <a:off x="2678906" y="3584372"/>
            <a:ext cx="1678800" cy="320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">
                <a:solidFill>
                  <a:srgbClr val="33333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긴급하지도</a:t>
            </a:r>
            <a:br>
              <a:rPr b="1" lang="en-US" sz="800">
                <a:solidFill>
                  <a:srgbClr val="333333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b="1" lang="en-US" sz="800">
                <a:solidFill>
                  <a:srgbClr val="33333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중요하지도 않음</a:t>
            </a:r>
            <a:endParaRPr b="1" sz="800">
              <a:solidFill>
                <a:srgbClr val="333333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152" name="Google Shape;152;p5"/>
          <p:cNvSpPr/>
          <p:nvPr/>
        </p:nvSpPr>
        <p:spPr>
          <a:xfrm>
            <a:off x="2678906" y="4639866"/>
            <a:ext cx="689400" cy="217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34000" lIns="68000" spcFirstLastPara="1" rIns="68000" wrap="square" tIns="340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00">
                <a:solidFill>
                  <a:srgbClr val="33333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ELIMINATE</a:t>
            </a:r>
            <a:endParaRPr b="1" sz="700">
              <a:solidFill>
                <a:srgbClr val="333333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153" name="Google Shape;153;p5"/>
          <p:cNvSpPr/>
          <p:nvPr/>
        </p:nvSpPr>
        <p:spPr>
          <a:xfrm>
            <a:off x="4643438" y="1007320"/>
            <a:ext cx="4214700" cy="2143200"/>
          </a:xfrm>
          <a:prstGeom prst="rect">
            <a:avLst/>
          </a:prstGeom>
          <a:solidFill>
            <a:srgbClr val="FFFFFF"/>
          </a:solidFill>
          <a:ln cap="flat" cmpd="sng" w="18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4" name="Google Shape;154;p5"/>
          <p:cNvPicPr preferRelativeResize="0"/>
          <p:nvPr/>
        </p:nvPicPr>
        <p:blipFill rotWithShape="1">
          <a:blip r:embed="rId4">
            <a:alphaModFix/>
          </a:blip>
          <a:srcRect b="4288" l="0" r="6968" t="0"/>
          <a:stretch/>
        </p:blipFill>
        <p:spPr>
          <a:xfrm>
            <a:off x="4814900" y="1118024"/>
            <a:ext cx="3788274" cy="1914525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5"/>
          <p:cNvSpPr/>
          <p:nvPr/>
        </p:nvSpPr>
        <p:spPr>
          <a:xfrm>
            <a:off x="4643438" y="3293320"/>
            <a:ext cx="4214700" cy="1714500"/>
          </a:xfrm>
          <a:prstGeom prst="rect">
            <a:avLst/>
          </a:prstGeom>
          <a:solidFill>
            <a:srgbClr val="111111"/>
          </a:solidFill>
          <a:ln cap="flat" cmpd="sng" w="18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5"/>
          <p:cNvSpPr/>
          <p:nvPr/>
        </p:nvSpPr>
        <p:spPr>
          <a:xfrm>
            <a:off x="4814888" y="3600450"/>
            <a:ext cx="38718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3366"/>
              </a:buClr>
              <a:buSzPts val="800"/>
              <a:buFont typeface="JetBrains Mono"/>
              <a:buNone/>
            </a:pPr>
            <a:r>
              <a:rPr b="1" i="0" lang="en-US" sz="800" u="none" cap="none" strike="noStrike">
                <a:solidFill>
                  <a:srgbClr val="FF336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CORE_PRINCIPLES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5"/>
          <p:cNvSpPr/>
          <p:nvPr/>
        </p:nvSpPr>
        <p:spPr>
          <a:xfrm>
            <a:off x="4814888" y="3864769"/>
            <a:ext cx="1428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F3366"/>
              </a:buClr>
              <a:buSzPts val="1000"/>
              <a:buFont typeface="JetBrains Mono"/>
              <a:buNone/>
            </a:pPr>
            <a:r>
              <a:rPr b="1" i="0" lang="en-US" sz="1000" u="none" cap="none" strike="noStrike">
                <a:solidFill>
                  <a:srgbClr val="FF336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①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5"/>
          <p:cNvSpPr/>
          <p:nvPr/>
        </p:nvSpPr>
        <p:spPr>
          <a:xfrm>
            <a:off x="5043488" y="3864769"/>
            <a:ext cx="34218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000"/>
              <a:buFont typeface="JetBrains Mono"/>
              <a:buNone/>
            </a:pPr>
            <a:r>
              <a:rPr b="1" i="0" lang="en-US" sz="1000" u="none" cap="none" strike="noStrike">
                <a:solidFill>
                  <a:srgbClr val="FAFAF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이것을 하면 나머지가 더 쉬워지거나 불필요해지는가?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5"/>
          <p:cNvSpPr/>
          <p:nvPr/>
        </p:nvSpPr>
        <p:spPr>
          <a:xfrm>
            <a:off x="4814888" y="4179094"/>
            <a:ext cx="1428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F3366"/>
              </a:buClr>
              <a:buSzPts val="1000"/>
              <a:buFont typeface="JetBrains Mono"/>
              <a:buNone/>
            </a:pPr>
            <a:r>
              <a:rPr b="1" i="0" lang="en-US" sz="1000" u="none" cap="none" strike="noStrike">
                <a:solidFill>
                  <a:srgbClr val="FF336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②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5"/>
          <p:cNvSpPr/>
          <p:nvPr/>
        </p:nvSpPr>
        <p:spPr>
          <a:xfrm>
            <a:off x="5043488" y="4179094"/>
            <a:ext cx="24966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000"/>
              <a:buFont typeface="JetBrains Mono"/>
              <a:buNone/>
            </a:pPr>
            <a:r>
              <a:rPr b="1" i="0" lang="en-US" sz="1000" u="none" cap="none" strike="noStrike">
                <a:solidFill>
                  <a:srgbClr val="FAFAF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현재 내 상태에서 즉시 착수 가능한가?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1" name="Google Shape;161;p5"/>
          <p:cNvCxnSpPr/>
          <p:nvPr/>
        </p:nvCxnSpPr>
        <p:spPr>
          <a:xfrm>
            <a:off x="571500" y="3143250"/>
            <a:ext cx="3929100" cy="0"/>
          </a:xfrm>
          <a:prstGeom prst="straightConnector1">
            <a:avLst/>
          </a:prstGeom>
          <a:solidFill>
            <a:srgbClr val="FFFFFF"/>
          </a:solidFill>
          <a:ln cap="flat" cmpd="sng" w="143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2" name="Google Shape;162;p5"/>
          <p:cNvCxnSpPr/>
          <p:nvPr/>
        </p:nvCxnSpPr>
        <p:spPr>
          <a:xfrm>
            <a:off x="2536031" y="1285875"/>
            <a:ext cx="0" cy="3714900"/>
          </a:xfrm>
          <a:prstGeom prst="straightConnector1">
            <a:avLst/>
          </a:prstGeom>
          <a:solidFill>
            <a:srgbClr val="FFFFFF"/>
          </a:solidFill>
          <a:ln cap="flat" cmpd="sng" w="143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Google Shape;168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6"/>
          <p:cNvSpPr/>
          <p:nvPr/>
        </p:nvSpPr>
        <p:spPr>
          <a:xfrm>
            <a:off x="571500" y="285750"/>
            <a:ext cx="7620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11111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솔직한 회고 — 왜 원띵을 선택하지 못했나</a:t>
            </a:r>
            <a:endParaRPr b="1" sz="2000">
              <a:solidFill>
                <a:srgbClr val="11111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grpSp>
        <p:nvGrpSpPr>
          <p:cNvPr id="170" name="Google Shape;170;p6"/>
          <p:cNvGrpSpPr/>
          <p:nvPr/>
        </p:nvGrpSpPr>
        <p:grpSpPr>
          <a:xfrm>
            <a:off x="571500" y="1047750"/>
            <a:ext cx="5286525" cy="3000525"/>
            <a:chOff x="571500" y="1047750"/>
            <a:chExt cx="5286525" cy="3000525"/>
          </a:xfrm>
        </p:grpSpPr>
        <p:sp>
          <p:nvSpPr>
            <p:cNvPr id="171" name="Google Shape;171;p6"/>
            <p:cNvSpPr/>
            <p:nvPr/>
          </p:nvSpPr>
          <p:spPr>
            <a:xfrm>
              <a:off x="571500" y="1047750"/>
              <a:ext cx="2571900" cy="1428900"/>
            </a:xfrm>
            <a:prstGeom prst="rect">
              <a:avLst/>
            </a:prstGeom>
            <a:solidFill>
              <a:srgbClr val="FFFFFF"/>
            </a:solidFill>
            <a:ln cap="flat" cmpd="sng" w="143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" name="Google Shape;172;p6"/>
            <p:cNvSpPr txBox="1"/>
            <p:nvPr/>
          </p:nvSpPr>
          <p:spPr>
            <a:xfrm>
              <a:off x="714375" y="1190625"/>
              <a:ext cx="22860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FF3366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01</a:t>
              </a:r>
              <a:endParaRPr b="1" sz="1400">
                <a:solidFill>
                  <a:srgbClr val="FF3366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111111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미루기 패턴</a:t>
              </a:r>
              <a:endParaRPr b="1" sz="1100">
                <a:solidFill>
                  <a:srgbClr val="111111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900">
                  <a:solidFill>
                    <a:srgbClr val="333333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하기 싫지만 중요한 일을 미룸</a:t>
              </a:r>
              <a:endParaRPr b="0" sz="900">
                <a:solidFill>
                  <a:srgbClr val="333333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i="1" lang="en-US" sz="850">
                  <a:solidFill>
                    <a:srgbClr val="666666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"흥미를 중요도로 착각하는 패턴"</a:t>
              </a:r>
              <a:endParaRPr i="1" sz="850">
                <a:solidFill>
                  <a:srgbClr val="666666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</p:txBody>
        </p:sp>
        <p:sp>
          <p:nvSpPr>
            <p:cNvPr id="173" name="Google Shape;173;p6"/>
            <p:cNvSpPr/>
            <p:nvPr/>
          </p:nvSpPr>
          <p:spPr>
            <a:xfrm>
              <a:off x="3286125" y="1047750"/>
              <a:ext cx="2571900" cy="1428900"/>
            </a:xfrm>
            <a:prstGeom prst="rect">
              <a:avLst/>
            </a:prstGeom>
            <a:solidFill>
              <a:srgbClr val="FFFFFF"/>
            </a:solidFill>
            <a:ln cap="flat" cmpd="sng" w="143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" name="Google Shape;174;p6"/>
            <p:cNvSpPr txBox="1"/>
            <p:nvPr/>
          </p:nvSpPr>
          <p:spPr>
            <a:xfrm>
              <a:off x="3429000" y="1190625"/>
              <a:ext cx="22860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FF3366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02</a:t>
              </a:r>
              <a:endParaRPr b="1" sz="1400">
                <a:solidFill>
                  <a:srgbClr val="FF3366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111111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표면 수정</a:t>
              </a:r>
              <a:endParaRPr b="1" sz="1100">
                <a:solidFill>
                  <a:srgbClr val="111111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900">
                  <a:solidFill>
                    <a:srgbClr val="333333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근본 원인을 수정하지 않고 작은 것들만 고침</a:t>
              </a:r>
              <a:endParaRPr b="0" sz="900">
                <a:solidFill>
                  <a:srgbClr val="333333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i="1" lang="en-US" sz="850">
                  <a:solidFill>
                    <a:srgbClr val="666666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"구멍 난 배에서 물을 퍼내는 것"</a:t>
              </a:r>
              <a:endParaRPr i="1" sz="850">
                <a:solidFill>
                  <a:srgbClr val="666666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</p:txBody>
        </p:sp>
        <p:sp>
          <p:nvSpPr>
            <p:cNvPr id="175" name="Google Shape;175;p6"/>
            <p:cNvSpPr/>
            <p:nvPr/>
          </p:nvSpPr>
          <p:spPr>
            <a:xfrm>
              <a:off x="571500" y="2619375"/>
              <a:ext cx="2571900" cy="1428900"/>
            </a:xfrm>
            <a:prstGeom prst="rect">
              <a:avLst/>
            </a:prstGeom>
            <a:solidFill>
              <a:srgbClr val="FFFFFF"/>
            </a:solidFill>
            <a:ln cap="flat" cmpd="sng" w="143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" name="Google Shape;176;p6"/>
            <p:cNvSpPr txBox="1"/>
            <p:nvPr/>
          </p:nvSpPr>
          <p:spPr>
            <a:xfrm>
              <a:off x="714375" y="2762250"/>
              <a:ext cx="22860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FF3366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03</a:t>
              </a:r>
              <a:endParaRPr b="1" sz="1400">
                <a:solidFill>
                  <a:srgbClr val="FF3366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111111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의도적 외면</a:t>
              </a:r>
              <a:endParaRPr b="1" sz="1100">
                <a:solidFill>
                  <a:srgbClr val="111111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900">
                  <a:solidFill>
                    <a:srgbClr val="333333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중요하지만 일부러 외면하고 있던 것</a:t>
              </a:r>
              <a:endParaRPr b="0" sz="900">
                <a:solidFill>
                  <a:srgbClr val="333333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i="1" lang="en-US" sz="850">
                  <a:solidFill>
                    <a:srgbClr val="666666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"고의적이라는 점에서 죄질이 안 좋다"</a:t>
              </a:r>
              <a:endParaRPr i="1" sz="850">
                <a:solidFill>
                  <a:srgbClr val="666666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</p:txBody>
        </p:sp>
        <p:sp>
          <p:nvSpPr>
            <p:cNvPr id="177" name="Google Shape;177;p6"/>
            <p:cNvSpPr/>
            <p:nvPr/>
          </p:nvSpPr>
          <p:spPr>
            <a:xfrm>
              <a:off x="3286125" y="2619375"/>
              <a:ext cx="2571900" cy="1428900"/>
            </a:xfrm>
            <a:prstGeom prst="rect">
              <a:avLst/>
            </a:prstGeom>
            <a:solidFill>
              <a:srgbClr val="FFFFFF"/>
            </a:solidFill>
            <a:ln cap="flat" cmpd="sng" w="143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" name="Google Shape;178;p6"/>
            <p:cNvSpPr txBox="1"/>
            <p:nvPr/>
          </p:nvSpPr>
          <p:spPr>
            <a:xfrm>
              <a:off x="3429000" y="2762250"/>
              <a:ext cx="22860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FF3366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04</a:t>
              </a:r>
              <a:endParaRPr b="1" sz="1400">
                <a:solidFill>
                  <a:srgbClr val="FF3366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111111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혼자의 한계</a:t>
              </a:r>
              <a:endParaRPr b="1" sz="1100">
                <a:solidFill>
                  <a:srgbClr val="111111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900">
                  <a:solidFill>
                    <a:srgbClr val="333333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나 혼자 하는 것은 큰 의미가 없다</a:t>
              </a:r>
              <a:endParaRPr b="0" sz="900">
                <a:solidFill>
                  <a:srgbClr val="333333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i="1" lang="en-US" sz="850">
                  <a:solidFill>
                    <a:srgbClr val="666666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"조직 시스템으로의 확장 필요성"</a:t>
              </a:r>
              <a:endParaRPr i="1" sz="850">
                <a:solidFill>
                  <a:srgbClr val="666666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</p:txBody>
        </p:sp>
      </p:grpSp>
      <p:sp>
        <p:nvSpPr>
          <p:cNvPr id="179" name="Google Shape;179;p6"/>
          <p:cNvSpPr/>
          <p:nvPr/>
        </p:nvSpPr>
        <p:spPr>
          <a:xfrm>
            <a:off x="6096000" y="1047750"/>
            <a:ext cx="2667000" cy="1143000"/>
          </a:xfrm>
          <a:prstGeom prst="rect">
            <a:avLst/>
          </a:prstGeom>
          <a:solidFill>
            <a:srgbClr val="111111"/>
          </a:solidFill>
          <a:ln cap="flat" cmpd="sng" w="143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6"/>
          <p:cNvSpPr/>
          <p:nvPr/>
        </p:nvSpPr>
        <p:spPr>
          <a:xfrm>
            <a:off x="6191250" y="1095375"/>
            <a:ext cx="257100" cy="428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20">
                <a:solidFill>
                  <a:srgbClr val="FF336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</a:t>
            </a:r>
            <a:endParaRPr sz="2720">
              <a:solidFill>
                <a:srgbClr val="FF3366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181" name="Google Shape;181;p6"/>
          <p:cNvSpPr/>
          <p:nvPr/>
        </p:nvSpPr>
        <p:spPr>
          <a:xfrm>
            <a:off x="6286500" y="1285875"/>
            <a:ext cx="2286000" cy="76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FAFAF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하고 싶은 일을 하는 게 아니라</a:t>
            </a:r>
            <a:br>
              <a:rPr b="1" lang="en-US" sz="1100">
                <a:solidFill>
                  <a:srgbClr val="FAFAFA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b="1" lang="en-US" sz="1100">
                <a:solidFill>
                  <a:srgbClr val="FF336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해야 하는 일</a:t>
            </a:r>
            <a:r>
              <a:rPr b="1" lang="en-US" sz="1100">
                <a:solidFill>
                  <a:srgbClr val="FAFAF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을 한다.</a:t>
            </a:r>
            <a:endParaRPr b="1" sz="1100">
              <a:solidFill>
                <a:srgbClr val="FAFAFA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182" name="Google Shape;182;p6"/>
          <p:cNvSpPr/>
          <p:nvPr/>
        </p:nvSpPr>
        <p:spPr>
          <a:xfrm>
            <a:off x="6096000" y="2333625"/>
            <a:ext cx="2667000" cy="2619300"/>
          </a:xfrm>
          <a:prstGeom prst="rect">
            <a:avLst/>
          </a:prstGeom>
          <a:solidFill>
            <a:srgbClr val="FFFFFF"/>
          </a:solidFill>
          <a:ln cap="flat" cmpd="sng" w="143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6"/>
          <p:cNvSpPr/>
          <p:nvPr/>
        </p:nvSpPr>
        <p:spPr>
          <a:xfrm>
            <a:off x="6191250" y="2428875"/>
            <a:ext cx="2476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00">
                <a:solidFill>
                  <a:srgbClr val="11111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ENCOURAGEMENT_NOTE</a:t>
            </a:r>
            <a:endParaRPr b="1" sz="700">
              <a:solidFill>
                <a:srgbClr val="11111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pic>
        <p:nvPicPr>
          <p:cNvPr id="184" name="Google Shape;184;p6"/>
          <p:cNvPicPr preferRelativeResize="0"/>
          <p:nvPr/>
        </p:nvPicPr>
        <p:blipFill rotWithShape="1">
          <a:blip r:embed="rId5">
            <a:alphaModFix/>
          </a:blip>
          <a:srcRect b="0" l="1588" r="1588" t="0"/>
          <a:stretch/>
        </p:blipFill>
        <p:spPr>
          <a:xfrm>
            <a:off x="6191250" y="2667000"/>
            <a:ext cx="2476500" cy="2190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7"/>
          <p:cNvSpPr/>
          <p:nvPr/>
        </p:nvSpPr>
        <p:spPr>
          <a:xfrm>
            <a:off x="0" y="0"/>
            <a:ext cx="9144000" cy="857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7"/>
          <p:cNvSpPr/>
          <p:nvPr/>
        </p:nvSpPr>
        <p:spPr>
          <a:xfrm>
            <a:off x="571500" y="285750"/>
            <a:ext cx="7620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11111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혼자의 한계를 넘어 — 팀 시스템으로 확장</a:t>
            </a:r>
            <a:endParaRPr b="1" sz="2200">
              <a:solidFill>
                <a:srgbClr val="11111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192" name="Google Shape;192;p7"/>
          <p:cNvSpPr/>
          <p:nvPr/>
        </p:nvSpPr>
        <p:spPr>
          <a:xfrm>
            <a:off x="0" y="842963"/>
            <a:ext cx="9144000" cy="14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3" name="Google Shape;193;p7"/>
          <p:cNvGrpSpPr/>
          <p:nvPr/>
        </p:nvGrpSpPr>
        <p:grpSpPr>
          <a:xfrm>
            <a:off x="-260675" y="952500"/>
            <a:ext cx="3899100" cy="3619500"/>
            <a:chOff x="-260675" y="952500"/>
            <a:chExt cx="3899100" cy="3619500"/>
          </a:xfrm>
        </p:grpSpPr>
        <p:sp>
          <p:nvSpPr>
            <p:cNvPr id="194" name="Google Shape;194;p7"/>
            <p:cNvSpPr/>
            <p:nvPr/>
          </p:nvSpPr>
          <p:spPr>
            <a:xfrm>
              <a:off x="285750" y="952500"/>
              <a:ext cx="2667000" cy="3619500"/>
            </a:xfrm>
            <a:prstGeom prst="rect">
              <a:avLst/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" name="Google Shape;195;p7"/>
            <p:cNvSpPr/>
            <p:nvPr/>
          </p:nvSpPr>
          <p:spPr>
            <a:xfrm>
              <a:off x="285750" y="952500"/>
              <a:ext cx="762000" cy="228600"/>
            </a:xfrm>
            <a:prstGeom prst="rect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" name="Google Shape;196;p7"/>
            <p:cNvSpPr txBox="1"/>
            <p:nvPr/>
          </p:nvSpPr>
          <p:spPr>
            <a:xfrm>
              <a:off x="285750" y="952500"/>
              <a:ext cx="7620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800">
                  <a:solidFill>
                    <a:srgbClr val="FFFFFF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STEP 01</a:t>
              </a:r>
              <a:endParaRPr b="1" sz="80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</p:txBody>
        </p:sp>
        <p:sp>
          <p:nvSpPr>
            <p:cNvPr id="197" name="Google Shape;197;p7"/>
            <p:cNvSpPr txBox="1"/>
            <p:nvPr/>
          </p:nvSpPr>
          <p:spPr>
            <a:xfrm>
              <a:off x="476250" y="1333500"/>
              <a:ext cx="22860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FF3366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Today's ToDo 도입</a:t>
              </a:r>
              <a:endParaRPr b="1" sz="1400">
                <a:solidFill>
                  <a:srgbClr val="FF3366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334155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팀원 모두 매일 1~3개 핵심 업무 기록</a:t>
              </a:r>
              <a:endParaRPr b="1" sz="1000">
                <a:solidFill>
                  <a:srgbClr val="334155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i="1" lang="en-US" sz="1000">
                  <a:solidFill>
                    <a:srgbClr val="64748B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"가장 중요한 업무를 맨 위에"</a:t>
              </a:r>
              <a:endParaRPr b="1" i="1" sz="1000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</p:txBody>
        </p:sp>
        <p:pic>
          <p:nvPicPr>
            <p:cNvPr id="198" name="Google Shape;198;p7"/>
            <p:cNvPicPr preferRelativeResize="0"/>
            <p:nvPr/>
          </p:nvPicPr>
          <p:blipFill rotWithShape="1">
            <a:blip r:embed="rId4">
              <a:alphaModFix/>
            </a:blip>
            <a:srcRect b="0" l="9323" r="9323" t="0"/>
            <a:stretch/>
          </p:blipFill>
          <p:spPr>
            <a:xfrm>
              <a:off x="-260675" y="2432125"/>
              <a:ext cx="3899100" cy="1949400"/>
            </a:xfrm>
            <a:prstGeom prst="roundRect">
              <a:avLst>
                <a:gd fmla="val 3333" name="adj"/>
              </a:avLst>
            </a:prstGeom>
            <a:noFill/>
            <a:ln>
              <a:noFill/>
            </a:ln>
          </p:spPr>
        </p:pic>
        <p:sp>
          <p:nvSpPr>
            <p:cNvPr id="199" name="Google Shape;199;p7"/>
            <p:cNvSpPr/>
            <p:nvPr/>
          </p:nvSpPr>
          <p:spPr>
            <a:xfrm>
              <a:off x="1714500" y="4210050"/>
              <a:ext cx="1047900" cy="171600"/>
            </a:xfrm>
            <a:prstGeom prst="rect">
              <a:avLst/>
            </a:prstGeom>
            <a:solidFill>
              <a:srgbClr val="FF336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" name="Google Shape;200;p7"/>
            <p:cNvSpPr txBox="1"/>
            <p:nvPr/>
          </p:nvSpPr>
          <p:spPr>
            <a:xfrm>
              <a:off x="1714500" y="4210050"/>
              <a:ext cx="1047900" cy="17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600">
                  <a:solidFill>
                    <a:srgbClr val="FFFFFF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IMG_01: TODAY'S TODO</a:t>
              </a:r>
              <a:endParaRPr b="1" sz="60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</p:txBody>
        </p:sp>
      </p:grpSp>
      <p:grpSp>
        <p:nvGrpSpPr>
          <p:cNvPr id="201" name="Google Shape;201;p7"/>
          <p:cNvGrpSpPr/>
          <p:nvPr/>
        </p:nvGrpSpPr>
        <p:grpSpPr>
          <a:xfrm>
            <a:off x="2645400" y="952500"/>
            <a:ext cx="3853200" cy="3619500"/>
            <a:chOff x="2645400" y="952500"/>
            <a:chExt cx="3853200" cy="3619500"/>
          </a:xfrm>
        </p:grpSpPr>
        <p:sp>
          <p:nvSpPr>
            <p:cNvPr id="202" name="Google Shape;202;p7"/>
            <p:cNvSpPr/>
            <p:nvPr/>
          </p:nvSpPr>
          <p:spPr>
            <a:xfrm>
              <a:off x="3238500" y="952500"/>
              <a:ext cx="2667000" cy="3619500"/>
            </a:xfrm>
            <a:prstGeom prst="rect">
              <a:avLst/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" name="Google Shape;203;p7"/>
            <p:cNvSpPr/>
            <p:nvPr/>
          </p:nvSpPr>
          <p:spPr>
            <a:xfrm>
              <a:off x="3238500" y="952500"/>
              <a:ext cx="762000" cy="228600"/>
            </a:xfrm>
            <a:prstGeom prst="rect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" name="Google Shape;204;p7"/>
            <p:cNvSpPr txBox="1"/>
            <p:nvPr/>
          </p:nvSpPr>
          <p:spPr>
            <a:xfrm>
              <a:off x="3238500" y="952500"/>
              <a:ext cx="7620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800">
                  <a:solidFill>
                    <a:srgbClr val="FFFFFF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STEP 02</a:t>
              </a:r>
              <a:endParaRPr b="1" sz="80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</p:txBody>
        </p:sp>
        <p:sp>
          <p:nvSpPr>
            <p:cNvPr id="205" name="Google Shape;205;p7"/>
            <p:cNvSpPr txBox="1"/>
            <p:nvPr/>
          </p:nvSpPr>
          <p:spPr>
            <a:xfrm>
              <a:off x="3429000" y="1333500"/>
              <a:ext cx="22860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FF3366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의사결정 트리 하네스</a:t>
              </a:r>
              <a:endParaRPr b="1" sz="1400">
                <a:solidFill>
                  <a:srgbClr val="FF3366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-285750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334155"/>
                </a:buClr>
                <a:buSzPts val="900"/>
                <a:buFont typeface="JetBrains Mono"/>
                <a:buChar char="●"/>
              </a:pPr>
              <a:r>
                <a:rPr b="1" lang="en-US" sz="900">
                  <a:solidFill>
                    <a:srgbClr val="334155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• 되돌릴 수 있는 결정 구분</a:t>
              </a:r>
              <a:endParaRPr b="1" sz="900">
                <a:solidFill>
                  <a:srgbClr val="334155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-285750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334155"/>
                </a:buClr>
                <a:buSzPts val="900"/>
                <a:buFont typeface="JetBrains Mono"/>
                <a:buChar char="●"/>
              </a:pPr>
              <a:r>
                <a:rPr b="1" lang="en-US" sz="900">
                  <a:solidFill>
                    <a:srgbClr val="334155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• Bezos Type 1 / 2 분류</a:t>
              </a:r>
              <a:endParaRPr b="1" sz="900">
                <a:solidFill>
                  <a:srgbClr val="334155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-285750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334155"/>
                </a:buClr>
                <a:buSzPts val="900"/>
                <a:buFont typeface="JetBrains Mono"/>
                <a:buChar char="●"/>
              </a:pPr>
              <a:r>
                <a:rPr b="1" lang="en-US" sz="900">
                  <a:solidFill>
                    <a:srgbClr val="334155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• 프리모템 실시</a:t>
              </a:r>
              <a:endParaRPr b="1" sz="900">
                <a:solidFill>
                  <a:srgbClr val="334155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</p:txBody>
        </p:sp>
        <p:pic>
          <p:nvPicPr>
            <p:cNvPr id="206" name="Google Shape;206;p7"/>
            <p:cNvPicPr preferRelativeResize="0"/>
            <p:nvPr/>
          </p:nvPicPr>
          <p:blipFill rotWithShape="1">
            <a:blip r:embed="rId5">
              <a:alphaModFix/>
            </a:blip>
            <a:srcRect b="0" l="2544" r="2544" t="0"/>
            <a:stretch/>
          </p:blipFill>
          <p:spPr>
            <a:xfrm>
              <a:off x="2645400" y="2455050"/>
              <a:ext cx="3853200" cy="1926600"/>
            </a:xfrm>
            <a:prstGeom prst="roundRect">
              <a:avLst>
                <a:gd fmla="val 3333" name="adj"/>
              </a:avLst>
            </a:prstGeom>
            <a:noFill/>
            <a:ln>
              <a:noFill/>
            </a:ln>
          </p:spPr>
        </p:pic>
        <p:sp>
          <p:nvSpPr>
            <p:cNvPr id="207" name="Google Shape;207;p7"/>
            <p:cNvSpPr/>
            <p:nvPr/>
          </p:nvSpPr>
          <p:spPr>
            <a:xfrm>
              <a:off x="4619625" y="4210050"/>
              <a:ext cx="1095300" cy="171600"/>
            </a:xfrm>
            <a:prstGeom prst="rect">
              <a:avLst/>
            </a:prstGeom>
            <a:solidFill>
              <a:srgbClr val="FF336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" name="Google Shape;208;p7"/>
            <p:cNvSpPr txBox="1"/>
            <p:nvPr/>
          </p:nvSpPr>
          <p:spPr>
            <a:xfrm>
              <a:off x="4619625" y="4210050"/>
              <a:ext cx="1095300" cy="17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600">
                  <a:solidFill>
                    <a:srgbClr val="FFFFFF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IMG_02: DECISION TREE</a:t>
              </a:r>
              <a:endParaRPr b="1" sz="60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</p:txBody>
        </p:sp>
      </p:grpSp>
      <p:grpSp>
        <p:nvGrpSpPr>
          <p:cNvPr id="209" name="Google Shape;209;p7"/>
          <p:cNvGrpSpPr/>
          <p:nvPr/>
        </p:nvGrpSpPr>
        <p:grpSpPr>
          <a:xfrm>
            <a:off x="6191250" y="952500"/>
            <a:ext cx="2667000" cy="3619500"/>
            <a:chOff x="6191250" y="952500"/>
            <a:chExt cx="2667000" cy="3619500"/>
          </a:xfrm>
        </p:grpSpPr>
        <p:sp>
          <p:nvSpPr>
            <p:cNvPr id="210" name="Google Shape;210;p7"/>
            <p:cNvSpPr/>
            <p:nvPr/>
          </p:nvSpPr>
          <p:spPr>
            <a:xfrm>
              <a:off x="6191250" y="952500"/>
              <a:ext cx="2667000" cy="3619500"/>
            </a:xfrm>
            <a:prstGeom prst="rect">
              <a:avLst/>
            </a:prstGeom>
            <a:solidFill>
              <a:srgbClr val="111111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" name="Google Shape;211;p7"/>
            <p:cNvSpPr/>
            <p:nvPr/>
          </p:nvSpPr>
          <p:spPr>
            <a:xfrm>
              <a:off x="6191250" y="952500"/>
              <a:ext cx="762000" cy="228600"/>
            </a:xfrm>
            <a:prstGeom prst="rect">
              <a:avLst/>
            </a:prstGeom>
            <a:solidFill>
              <a:srgbClr val="FF336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" name="Google Shape;212;p7"/>
            <p:cNvSpPr txBox="1"/>
            <p:nvPr/>
          </p:nvSpPr>
          <p:spPr>
            <a:xfrm>
              <a:off x="6191250" y="952500"/>
              <a:ext cx="7620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800">
                  <a:solidFill>
                    <a:srgbClr val="FFFFFF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STEP 03</a:t>
              </a:r>
              <a:endParaRPr b="1" sz="80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</p:txBody>
        </p:sp>
        <p:sp>
          <p:nvSpPr>
            <p:cNvPr id="213" name="Google Shape;213;p7"/>
            <p:cNvSpPr txBox="1"/>
            <p:nvPr/>
          </p:nvSpPr>
          <p:spPr>
            <a:xfrm>
              <a:off x="6381750" y="1333500"/>
              <a:ext cx="2286000" cy="190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FF3366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Decision OS</a:t>
              </a:r>
              <a:endParaRPr b="1" sz="1400">
                <a:solidFill>
                  <a:srgbClr val="FF3366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US" sz="900">
                  <a:solidFill>
                    <a:srgbClr val="F8FAFC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회의록 → Ledger → Action Items</a:t>
              </a:r>
              <a:endParaRPr b="1" sz="900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900">
                  <a:solidFill>
                    <a:srgbClr val="F8FAFC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AI 초안 + 사람이 운영</a:t>
              </a:r>
              <a:endParaRPr b="1" sz="900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800">
                  <a:solidFill>
                    <a:srgbClr val="CBD5E1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결정의 출처, 비용, 상태를 잃지 않는 시스템</a:t>
              </a:r>
              <a:endParaRPr b="0" sz="800">
                <a:solidFill>
                  <a:srgbClr val="CBD5E1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</p:txBody>
        </p:sp>
      </p:grpSp>
      <p:pic>
        <p:nvPicPr>
          <p:cNvPr id="214" name="Google Shape;214;p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858600" y="2432125"/>
            <a:ext cx="1301475" cy="188605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7"/>
          <p:cNvSpPr txBox="1"/>
          <p:nvPr/>
        </p:nvSpPr>
        <p:spPr>
          <a:xfrm>
            <a:off x="7707325" y="4146575"/>
            <a:ext cx="1047900" cy="171600"/>
          </a:xfrm>
          <a:prstGeom prst="rect">
            <a:avLst/>
          </a:prstGeom>
          <a:solidFill>
            <a:srgbClr val="FF336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IMG_03: DECISION OS</a:t>
            </a:r>
            <a:endParaRPr b="1" sz="600">
              <a:solidFill>
                <a:srgbClr val="FFFFFF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8"/>
          <p:cNvSpPr/>
          <p:nvPr/>
        </p:nvSpPr>
        <p:spPr>
          <a:xfrm>
            <a:off x="571500" y="333375"/>
            <a:ext cx="8001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11111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DECISION OS </a:t>
            </a:r>
            <a:r>
              <a:rPr b="0" lang="en-US" sz="1800">
                <a:solidFill>
                  <a:srgbClr val="FF336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— 논의를 실행 가능한 상태로 바꾸는 시스템</a:t>
            </a:r>
            <a:endParaRPr b="1" sz="2400">
              <a:solidFill>
                <a:srgbClr val="11111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222" name="Google Shape;222;p8"/>
          <p:cNvSpPr/>
          <p:nvPr/>
        </p:nvSpPr>
        <p:spPr>
          <a:xfrm>
            <a:off x="0" y="857250"/>
            <a:ext cx="91440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8"/>
          <p:cNvSpPr/>
          <p:nvPr/>
        </p:nvSpPr>
        <p:spPr>
          <a:xfrm>
            <a:off x="571500" y="1095375"/>
            <a:ext cx="2667000" cy="1143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8"/>
          <p:cNvSpPr/>
          <p:nvPr/>
        </p:nvSpPr>
        <p:spPr>
          <a:xfrm>
            <a:off x="714375" y="1190625"/>
            <a:ext cx="381000" cy="238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FF336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01</a:t>
            </a:r>
            <a:endParaRPr b="1" sz="1400">
              <a:solidFill>
                <a:srgbClr val="FF3366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225" name="Google Shape;225;p8"/>
          <p:cNvSpPr/>
          <p:nvPr/>
        </p:nvSpPr>
        <p:spPr>
          <a:xfrm>
            <a:off x="714375" y="1428750"/>
            <a:ext cx="2381400" cy="238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11111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결정의 출처를 잃지 않는다</a:t>
            </a:r>
            <a:endParaRPr b="1" sz="1100">
              <a:solidFill>
                <a:srgbClr val="11111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226" name="Google Shape;226;p8"/>
          <p:cNvSpPr/>
          <p:nvPr/>
        </p:nvSpPr>
        <p:spPr>
          <a:xfrm>
            <a:off x="714375" y="1666875"/>
            <a:ext cx="2381400" cy="428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모든 결정과 액션은 원본 회의록 또는 근거 자료에 연결되어야 한다.</a:t>
            </a:r>
            <a:endParaRPr b="0" sz="900">
              <a:solidFill>
                <a:srgbClr val="64748B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227" name="Google Shape;227;p8"/>
          <p:cNvSpPr/>
          <p:nvPr/>
        </p:nvSpPr>
        <p:spPr>
          <a:xfrm>
            <a:off x="571500" y="2381250"/>
            <a:ext cx="2667000" cy="1143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8"/>
          <p:cNvSpPr/>
          <p:nvPr/>
        </p:nvSpPr>
        <p:spPr>
          <a:xfrm>
            <a:off x="714375" y="2476500"/>
            <a:ext cx="381000" cy="238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FF336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02</a:t>
            </a:r>
            <a:endParaRPr b="1" sz="1400">
              <a:solidFill>
                <a:srgbClr val="FF3366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229" name="Google Shape;229;p8"/>
          <p:cNvSpPr/>
          <p:nvPr/>
        </p:nvSpPr>
        <p:spPr>
          <a:xfrm>
            <a:off x="714375" y="2714625"/>
            <a:ext cx="2381400" cy="238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11111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좋은 점만 보지 않는다</a:t>
            </a:r>
            <a:endParaRPr b="1" sz="1100">
              <a:solidFill>
                <a:srgbClr val="11111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230" name="Google Shape;230;p8"/>
          <p:cNvSpPr/>
          <p:nvPr/>
        </p:nvSpPr>
        <p:spPr>
          <a:xfrm>
            <a:off x="714375" y="2952750"/>
            <a:ext cx="23814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기대효과와 비용을 함께 본다. 무엇을 포기하거나 위험에 노출시키는가 명시.</a:t>
            </a:r>
            <a:endParaRPr b="0" sz="900">
              <a:solidFill>
                <a:srgbClr val="64748B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231" name="Google Shape;231;p8"/>
          <p:cNvSpPr/>
          <p:nvPr/>
        </p:nvSpPr>
        <p:spPr>
          <a:xfrm>
            <a:off x="571500" y="3667125"/>
            <a:ext cx="2667000" cy="1143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8"/>
          <p:cNvSpPr/>
          <p:nvPr/>
        </p:nvSpPr>
        <p:spPr>
          <a:xfrm>
            <a:off x="714375" y="3762375"/>
            <a:ext cx="381000" cy="238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FF336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03</a:t>
            </a:r>
            <a:endParaRPr b="1" sz="1400">
              <a:solidFill>
                <a:srgbClr val="FF3366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233" name="Google Shape;233;p8"/>
          <p:cNvSpPr/>
          <p:nvPr/>
        </p:nvSpPr>
        <p:spPr>
          <a:xfrm>
            <a:off x="714375" y="4000500"/>
            <a:ext cx="2381400" cy="238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11111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상태를 운영한다</a:t>
            </a:r>
            <a:endParaRPr b="1" sz="1100">
              <a:solidFill>
                <a:srgbClr val="11111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234" name="Google Shape;234;p8"/>
          <p:cNvSpPr/>
          <p:nvPr/>
        </p:nvSpPr>
        <p:spPr>
          <a:xfrm>
            <a:off x="714375" y="4238625"/>
            <a:ext cx="23814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결정은 한 번 쓰고 끝나는 메모가 아니라, 바뀌고 실행되는 상태 머신이다.</a:t>
            </a:r>
            <a:endParaRPr b="0" sz="900">
              <a:solidFill>
                <a:srgbClr val="64748B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235" name="Google Shape;235;p8"/>
          <p:cNvSpPr/>
          <p:nvPr/>
        </p:nvSpPr>
        <p:spPr>
          <a:xfrm>
            <a:off x="3429000" y="1095375"/>
            <a:ext cx="2667000" cy="371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8"/>
          <p:cNvSpPr/>
          <p:nvPr/>
        </p:nvSpPr>
        <p:spPr>
          <a:xfrm>
            <a:off x="3619500" y="1238250"/>
            <a:ext cx="2286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">
                <a:solidFill>
                  <a:srgbClr val="94A3B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ARCHITECTURE_FLOW</a:t>
            </a:r>
            <a:endParaRPr b="1" sz="800">
              <a:solidFill>
                <a:srgbClr val="94A3B8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237" name="Google Shape;237;p8"/>
          <p:cNvSpPr/>
          <p:nvPr/>
        </p:nvSpPr>
        <p:spPr>
          <a:xfrm>
            <a:off x="3619500" y="1524000"/>
            <a:ext cx="2286000" cy="381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8"/>
          <p:cNvSpPr/>
          <p:nvPr/>
        </p:nvSpPr>
        <p:spPr>
          <a:xfrm>
            <a:off x="3619500" y="1524000"/>
            <a:ext cx="2286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11111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회의록 / 원본 기록</a:t>
            </a:r>
            <a:endParaRPr b="1" sz="900">
              <a:solidFill>
                <a:srgbClr val="11111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239" name="Google Shape;239;p8"/>
          <p:cNvSpPr/>
          <p:nvPr/>
        </p:nvSpPr>
        <p:spPr>
          <a:xfrm>
            <a:off x="3619500" y="1905000"/>
            <a:ext cx="2286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90">
                <a:solidFill>
                  <a:srgbClr val="FF336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↓</a:t>
            </a:r>
            <a:endParaRPr b="1" sz="1190">
              <a:solidFill>
                <a:srgbClr val="FF3366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240" name="Google Shape;240;p8"/>
          <p:cNvSpPr/>
          <p:nvPr/>
        </p:nvSpPr>
        <p:spPr>
          <a:xfrm>
            <a:off x="3619500" y="2095500"/>
            <a:ext cx="2286000" cy="381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8"/>
          <p:cNvSpPr/>
          <p:nvPr/>
        </p:nvSpPr>
        <p:spPr>
          <a:xfrm>
            <a:off x="3619500" y="2095500"/>
            <a:ext cx="2286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FF336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[AI Reconciliation Layer]</a:t>
            </a:r>
            <a:endParaRPr b="1" sz="900">
              <a:solidFill>
                <a:srgbClr val="FF3366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242" name="Google Shape;242;p8"/>
          <p:cNvSpPr/>
          <p:nvPr/>
        </p:nvSpPr>
        <p:spPr>
          <a:xfrm>
            <a:off x="3619500" y="2476500"/>
            <a:ext cx="2286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90">
                <a:solidFill>
                  <a:srgbClr val="FF336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↓</a:t>
            </a:r>
            <a:endParaRPr b="1" sz="1190">
              <a:solidFill>
                <a:srgbClr val="FF3366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243" name="Google Shape;243;p8"/>
          <p:cNvSpPr/>
          <p:nvPr/>
        </p:nvSpPr>
        <p:spPr>
          <a:xfrm>
            <a:off x="3619500" y="2667000"/>
            <a:ext cx="1095300" cy="381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8"/>
          <p:cNvSpPr/>
          <p:nvPr/>
        </p:nvSpPr>
        <p:spPr>
          <a:xfrm>
            <a:off x="3619500" y="2667000"/>
            <a:ext cx="10953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">
                <a:solidFill>
                  <a:srgbClr val="11111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Decision Ledger</a:t>
            </a:r>
            <a:endParaRPr b="1" sz="800">
              <a:solidFill>
                <a:srgbClr val="11111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245" name="Google Shape;245;p8"/>
          <p:cNvSpPr/>
          <p:nvPr/>
        </p:nvSpPr>
        <p:spPr>
          <a:xfrm>
            <a:off x="4810125" y="2667000"/>
            <a:ext cx="1095300" cy="381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8"/>
          <p:cNvSpPr/>
          <p:nvPr/>
        </p:nvSpPr>
        <p:spPr>
          <a:xfrm>
            <a:off x="4810125" y="2667000"/>
            <a:ext cx="10953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">
                <a:solidFill>
                  <a:srgbClr val="11111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Action Items</a:t>
            </a:r>
            <a:endParaRPr b="1" sz="800">
              <a:solidFill>
                <a:srgbClr val="11111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247" name="Google Shape;247;p8"/>
          <p:cNvSpPr/>
          <p:nvPr/>
        </p:nvSpPr>
        <p:spPr>
          <a:xfrm>
            <a:off x="3619500" y="3048000"/>
            <a:ext cx="2286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90">
                <a:solidFill>
                  <a:srgbClr val="FF336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↓</a:t>
            </a:r>
            <a:endParaRPr b="1" sz="1190">
              <a:solidFill>
                <a:srgbClr val="FF3366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248" name="Google Shape;248;p8"/>
          <p:cNvSpPr/>
          <p:nvPr/>
        </p:nvSpPr>
        <p:spPr>
          <a:xfrm>
            <a:off x="3619500" y="3238500"/>
            <a:ext cx="2286000" cy="476400"/>
          </a:xfrm>
          <a:prstGeom prst="rect">
            <a:avLst/>
          </a:prstGeom>
          <a:solidFill>
            <a:srgbClr val="FFFFFF"/>
          </a:solidFill>
          <a:ln cap="flat" cmpd="sng" w="14300">
            <a:solidFill>
              <a:srgbClr val="FF33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8"/>
          <p:cNvSpPr/>
          <p:nvPr/>
        </p:nvSpPr>
        <p:spPr>
          <a:xfrm>
            <a:off x="3619500" y="3238500"/>
            <a:ext cx="2286000" cy="476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11111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Operating Dashboard</a:t>
            </a:r>
            <a:endParaRPr b="1" sz="900">
              <a:solidFill>
                <a:srgbClr val="11111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ctr">
              <a:spcBef>
                <a:spcPts val="200"/>
              </a:spcBef>
              <a:spcAft>
                <a:spcPts val="0"/>
              </a:spcAft>
              <a:buNone/>
            </a:pPr>
            <a:r>
              <a:rPr b="0" lang="en-US" sz="700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(리뷰 / 우선순위)</a:t>
            </a:r>
            <a:endParaRPr b="0" sz="700">
              <a:solidFill>
                <a:srgbClr val="64748B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250" name="Google Shape;250;p8"/>
          <p:cNvSpPr/>
          <p:nvPr/>
        </p:nvSpPr>
        <p:spPr>
          <a:xfrm>
            <a:off x="6286500" y="1095375"/>
            <a:ext cx="2667000" cy="1809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1" name="Google Shape;251;p8"/>
          <p:cNvPicPr preferRelativeResize="0"/>
          <p:nvPr/>
        </p:nvPicPr>
        <p:blipFill rotWithShape="1">
          <a:blip r:embed="rId4">
            <a:alphaModFix/>
          </a:blip>
          <a:srcRect b="7133" l="0" r="0" t="7133"/>
          <a:stretch/>
        </p:blipFill>
        <p:spPr>
          <a:xfrm>
            <a:off x="6381750" y="1190625"/>
            <a:ext cx="2476500" cy="16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8"/>
          <p:cNvSpPr/>
          <p:nvPr/>
        </p:nvSpPr>
        <p:spPr>
          <a:xfrm>
            <a:off x="6286500" y="3048000"/>
            <a:ext cx="2667000" cy="17622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3" name="Google Shape;253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3048000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8"/>
          <p:cNvSpPr/>
          <p:nvPr/>
        </p:nvSpPr>
        <p:spPr>
          <a:xfrm>
            <a:off x="6477000" y="3571875"/>
            <a:ext cx="2286000" cy="952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FF336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"AI</a:t>
            </a:r>
            <a:r>
              <a:rPr b="1" lang="en-US" sz="160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는 초안을 만들고,</a:t>
            </a:r>
            <a:br>
              <a:rPr b="1" lang="en-US" sz="160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b="1" lang="en-US" sz="160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사람은 </a:t>
            </a:r>
            <a:r>
              <a:rPr b="1" lang="en-US" sz="1600">
                <a:solidFill>
                  <a:srgbClr val="FF336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운영</a:t>
            </a:r>
            <a:r>
              <a:rPr b="1" lang="en-US" sz="160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한다"</a:t>
            </a:r>
            <a:endParaRPr b="1" sz="1600">
              <a:solidFill>
                <a:srgbClr val="FFFFFF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pic>
        <p:nvPicPr>
          <p:cNvPr id="255" name="Google Shape;255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29375" y="3190875"/>
            <a:ext cx="228600" cy="22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61" name="Google Shape;261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9"/>
          <p:cNvSpPr/>
          <p:nvPr/>
        </p:nvSpPr>
        <p:spPr>
          <a:xfrm>
            <a:off x="0" y="0"/>
            <a:ext cx="9144000" cy="857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9"/>
          <p:cNvSpPr/>
          <p:nvPr/>
        </p:nvSpPr>
        <p:spPr>
          <a:xfrm>
            <a:off x="0" y="842963"/>
            <a:ext cx="9144000" cy="1428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9"/>
          <p:cNvSpPr/>
          <p:nvPr/>
        </p:nvSpPr>
        <p:spPr>
          <a:xfrm>
            <a:off x="600075" y="262533"/>
            <a:ext cx="3005733" cy="332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600"/>
              <a:buFont typeface="JetBrains Mono"/>
              <a:buNone/>
            </a:pPr>
            <a:r>
              <a:rPr b="1" i="0" lang="en-US" sz="1600" u="none" cap="none" strike="noStrike">
                <a:solidFill>
                  <a:srgbClr val="11111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북클럽이 남긴 10가지 메시지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9"/>
          <p:cNvSpPr/>
          <p:nvPr/>
        </p:nvSpPr>
        <p:spPr>
          <a:xfrm>
            <a:off x="285750" y="1071563"/>
            <a:ext cx="1623054" cy="1978819"/>
          </a:xfrm>
          <a:prstGeom prst="rect">
            <a:avLst/>
          </a:prstGeom>
          <a:solidFill>
            <a:srgbClr val="FFFFFF"/>
          </a:solidFill>
          <a:ln cap="flat" cmpd="sng" w="18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9"/>
          <p:cNvSpPr/>
          <p:nvPr/>
        </p:nvSpPr>
        <p:spPr>
          <a:xfrm>
            <a:off x="428625" y="1214438"/>
            <a:ext cx="1337304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3366"/>
              </a:buClr>
              <a:buSzPts val="1200"/>
              <a:buFont typeface="JetBrains Mono"/>
              <a:buNone/>
            </a:pPr>
            <a:r>
              <a:rPr b="1" i="0" lang="en-US" sz="1200" u="none" cap="none" strike="noStrike">
                <a:solidFill>
                  <a:srgbClr val="FF336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9"/>
          <p:cNvSpPr/>
          <p:nvPr/>
        </p:nvSpPr>
        <p:spPr>
          <a:xfrm>
            <a:off x="428625" y="1471613"/>
            <a:ext cx="1337304" cy="334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00"/>
              <a:buFont typeface="JetBrains Mono"/>
              <a:buNone/>
            </a:pPr>
            <a:r>
              <a:rPr b="1" i="0" lang="en-US" sz="900" u="none" cap="none" strike="noStrike">
                <a:solidFill>
                  <a:srgbClr val="11111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ONE Thing / 단 하나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9"/>
          <p:cNvSpPr/>
          <p:nvPr/>
        </p:nvSpPr>
        <p:spPr>
          <a:xfrm>
            <a:off x="428625" y="2627505"/>
            <a:ext cx="1337304" cy="2800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750"/>
              <a:buFont typeface="JetBrains Mono"/>
              <a:buNone/>
            </a:pPr>
            <a:r>
              <a:rPr b="0" i="0" lang="en-US" sz="750" u="none" cap="none" strike="noStrike">
                <a:solidFill>
                  <a:srgbClr val="33333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선택하고 나머지를 덜어내는 태도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9"/>
          <p:cNvSpPr/>
          <p:nvPr/>
        </p:nvSpPr>
        <p:spPr>
          <a:xfrm>
            <a:off x="2023104" y="1071563"/>
            <a:ext cx="1623054" cy="1978819"/>
          </a:xfrm>
          <a:prstGeom prst="rect">
            <a:avLst/>
          </a:prstGeom>
          <a:solidFill>
            <a:srgbClr val="FFFFFF"/>
          </a:solidFill>
          <a:ln cap="flat" cmpd="sng" w="18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9"/>
          <p:cNvSpPr/>
          <p:nvPr/>
        </p:nvSpPr>
        <p:spPr>
          <a:xfrm>
            <a:off x="2165979" y="1214438"/>
            <a:ext cx="1337304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3366"/>
              </a:buClr>
              <a:buSzPts val="1200"/>
              <a:buFont typeface="JetBrains Mono"/>
              <a:buNone/>
            </a:pPr>
            <a:r>
              <a:rPr b="1" i="0" lang="en-US" sz="1200" u="none" cap="none" strike="noStrike">
                <a:solidFill>
                  <a:srgbClr val="FF336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9"/>
          <p:cNvSpPr/>
          <p:nvPr/>
        </p:nvSpPr>
        <p:spPr>
          <a:xfrm>
            <a:off x="2165979" y="1471613"/>
            <a:ext cx="1337304" cy="1671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00"/>
              <a:buFont typeface="JetBrains Mono"/>
              <a:buNone/>
            </a:pPr>
            <a:r>
              <a:rPr b="1" i="0" lang="en-US" sz="900" u="none" cap="none" strike="noStrike">
                <a:solidFill>
                  <a:srgbClr val="11111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실천 / 실행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9"/>
          <p:cNvSpPr/>
          <p:nvPr/>
        </p:nvSpPr>
        <p:spPr>
          <a:xfrm>
            <a:off x="2165979" y="2627505"/>
            <a:ext cx="1337304" cy="2800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750"/>
              <a:buFont typeface="JetBrains Mono"/>
              <a:buNone/>
            </a:pPr>
            <a:r>
              <a:rPr b="0" i="0" lang="en-US" sz="750" u="none" cap="none" strike="noStrike">
                <a:solidFill>
                  <a:srgbClr val="33333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생각에 머무르지 않고 작게라도 실행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9"/>
          <p:cNvSpPr/>
          <p:nvPr/>
        </p:nvSpPr>
        <p:spPr>
          <a:xfrm>
            <a:off x="3760459" y="1071563"/>
            <a:ext cx="1623054" cy="1978819"/>
          </a:xfrm>
          <a:prstGeom prst="rect">
            <a:avLst/>
          </a:prstGeom>
          <a:solidFill>
            <a:srgbClr val="FFFFFF"/>
          </a:solidFill>
          <a:ln cap="flat" cmpd="sng" w="18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9"/>
          <p:cNvSpPr/>
          <p:nvPr/>
        </p:nvSpPr>
        <p:spPr>
          <a:xfrm>
            <a:off x="3903334" y="1214438"/>
            <a:ext cx="1337304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3366"/>
              </a:buClr>
              <a:buSzPts val="1200"/>
              <a:buFont typeface="JetBrains Mono"/>
              <a:buNone/>
            </a:pPr>
            <a:r>
              <a:rPr b="1" i="0" lang="en-US" sz="1200" u="none" cap="none" strike="noStrike">
                <a:solidFill>
                  <a:srgbClr val="FF336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9"/>
          <p:cNvSpPr/>
          <p:nvPr/>
        </p:nvSpPr>
        <p:spPr>
          <a:xfrm>
            <a:off x="3903334" y="1471613"/>
            <a:ext cx="1337304" cy="1671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00"/>
              <a:buFont typeface="JetBrains Mono"/>
              <a:buNone/>
            </a:pPr>
            <a:r>
              <a:rPr b="1" i="0" lang="en-US" sz="900" u="none" cap="none" strike="noStrike">
                <a:solidFill>
                  <a:srgbClr val="11111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회고 / 변화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9"/>
          <p:cNvSpPr/>
          <p:nvPr/>
        </p:nvSpPr>
        <p:spPr>
          <a:xfrm>
            <a:off x="3903334" y="2627505"/>
            <a:ext cx="1337304" cy="2800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750"/>
              <a:buFont typeface="JetBrains Mono"/>
              <a:buNone/>
            </a:pPr>
            <a:r>
              <a:rPr b="0" i="0" lang="en-US" sz="750" u="none" cap="none" strike="noStrike">
                <a:solidFill>
                  <a:srgbClr val="33333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작은 실천의 반복이 패턴의 변화를 만든다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9"/>
          <p:cNvSpPr/>
          <p:nvPr/>
        </p:nvSpPr>
        <p:spPr>
          <a:xfrm>
            <a:off x="5497813" y="1071563"/>
            <a:ext cx="1623054" cy="1978819"/>
          </a:xfrm>
          <a:prstGeom prst="rect">
            <a:avLst/>
          </a:prstGeom>
          <a:solidFill>
            <a:srgbClr val="FFFFFF"/>
          </a:solidFill>
          <a:ln cap="flat" cmpd="sng" w="18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9"/>
          <p:cNvSpPr/>
          <p:nvPr/>
        </p:nvSpPr>
        <p:spPr>
          <a:xfrm>
            <a:off x="5640688" y="1214438"/>
            <a:ext cx="1337304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3366"/>
              </a:buClr>
              <a:buSzPts val="1200"/>
              <a:buFont typeface="JetBrains Mono"/>
              <a:buNone/>
            </a:pPr>
            <a:r>
              <a:rPr b="1" i="0" lang="en-US" sz="1200" u="none" cap="none" strike="noStrike">
                <a:solidFill>
                  <a:srgbClr val="FF336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9"/>
          <p:cNvSpPr/>
          <p:nvPr/>
        </p:nvSpPr>
        <p:spPr>
          <a:xfrm>
            <a:off x="5640688" y="1471613"/>
            <a:ext cx="1337304" cy="1671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00"/>
              <a:buFont typeface="JetBrains Mono"/>
              <a:buNone/>
            </a:pPr>
            <a:r>
              <a:rPr b="1" i="0" lang="en-US" sz="900" u="none" cap="none" strike="noStrike">
                <a:solidFill>
                  <a:srgbClr val="11111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구조화 / 프레임워크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9"/>
          <p:cNvSpPr/>
          <p:nvPr/>
        </p:nvSpPr>
        <p:spPr>
          <a:xfrm>
            <a:off x="5640688" y="2627505"/>
            <a:ext cx="1337304" cy="2800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750"/>
              <a:buFont typeface="JetBrains Mono"/>
              <a:buNone/>
            </a:pPr>
            <a:r>
              <a:rPr b="0" i="0" lang="en-US" sz="750" u="none" cap="none" strike="noStrike">
                <a:solidFill>
                  <a:srgbClr val="33333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좋은 틀은 생각을 실행 가능한 형태로 바꾼다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9"/>
          <p:cNvSpPr/>
          <p:nvPr/>
        </p:nvSpPr>
        <p:spPr>
          <a:xfrm>
            <a:off x="7235168" y="1071563"/>
            <a:ext cx="1623054" cy="1978819"/>
          </a:xfrm>
          <a:prstGeom prst="rect">
            <a:avLst/>
          </a:prstGeom>
          <a:solidFill>
            <a:srgbClr val="FFFFFF"/>
          </a:solidFill>
          <a:ln cap="flat" cmpd="sng" w="18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9"/>
          <p:cNvSpPr/>
          <p:nvPr/>
        </p:nvSpPr>
        <p:spPr>
          <a:xfrm>
            <a:off x="7378043" y="1214438"/>
            <a:ext cx="1337304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3366"/>
              </a:buClr>
              <a:buSzPts val="1200"/>
              <a:buFont typeface="JetBrains Mono"/>
              <a:buNone/>
            </a:pPr>
            <a:r>
              <a:rPr b="1" i="0" lang="en-US" sz="1200" u="none" cap="none" strike="noStrike">
                <a:solidFill>
                  <a:srgbClr val="FF336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9"/>
          <p:cNvSpPr/>
          <p:nvPr/>
        </p:nvSpPr>
        <p:spPr>
          <a:xfrm>
            <a:off x="7378043" y="1471613"/>
            <a:ext cx="1337304" cy="1671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00"/>
              <a:buFont typeface="JetBrains Mono"/>
              <a:buNone/>
            </a:pPr>
            <a:r>
              <a:rPr b="1" i="0" lang="en-US" sz="900" u="none" cap="none" strike="noStrike">
                <a:solidFill>
                  <a:srgbClr val="11111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빼기 / 집중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9"/>
          <p:cNvSpPr/>
          <p:nvPr/>
        </p:nvSpPr>
        <p:spPr>
          <a:xfrm>
            <a:off x="7378043" y="2627505"/>
            <a:ext cx="1337304" cy="2800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750"/>
              <a:buFont typeface="JetBrains Mono"/>
              <a:buNone/>
            </a:pPr>
            <a:r>
              <a:rPr b="0" i="0" lang="en-US" sz="750" u="none" cap="none" strike="noStrike">
                <a:solidFill>
                  <a:srgbClr val="33333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집중은 덜 중요한 것을 빼는 능력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9"/>
          <p:cNvSpPr/>
          <p:nvPr/>
        </p:nvSpPr>
        <p:spPr>
          <a:xfrm>
            <a:off x="285750" y="3164681"/>
            <a:ext cx="1623054" cy="1978819"/>
          </a:xfrm>
          <a:prstGeom prst="rect">
            <a:avLst/>
          </a:prstGeom>
          <a:solidFill>
            <a:srgbClr val="FFFFFF"/>
          </a:solidFill>
          <a:ln cap="flat" cmpd="sng" w="18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9"/>
          <p:cNvSpPr/>
          <p:nvPr/>
        </p:nvSpPr>
        <p:spPr>
          <a:xfrm>
            <a:off x="428625" y="3307556"/>
            <a:ext cx="1337304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3366"/>
              </a:buClr>
              <a:buSzPts val="1200"/>
              <a:buFont typeface="JetBrains Mono"/>
              <a:buNone/>
            </a:pPr>
            <a:r>
              <a:rPr b="1" i="0" lang="en-US" sz="1200" u="none" cap="none" strike="noStrike">
                <a:solidFill>
                  <a:srgbClr val="FF336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9"/>
          <p:cNvSpPr/>
          <p:nvPr/>
        </p:nvSpPr>
        <p:spPr>
          <a:xfrm>
            <a:off x="428625" y="3564731"/>
            <a:ext cx="1337304" cy="1671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00"/>
              <a:buFont typeface="JetBrains Mono"/>
              <a:buNone/>
            </a:pPr>
            <a:r>
              <a:rPr b="1" i="0" lang="en-US" sz="900" u="none" cap="none" strike="noStrike">
                <a:solidFill>
                  <a:srgbClr val="11111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질문 / 목적 설계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9"/>
          <p:cNvSpPr/>
          <p:nvPr/>
        </p:nvSpPr>
        <p:spPr>
          <a:xfrm>
            <a:off x="428625" y="4720623"/>
            <a:ext cx="1337304" cy="2800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750"/>
              <a:buFont typeface="JetBrains Mono"/>
              <a:buNone/>
            </a:pPr>
            <a:r>
              <a:rPr b="0" i="0" lang="en-US" sz="750" u="none" cap="none" strike="noStrike">
                <a:solidFill>
                  <a:srgbClr val="33333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좋은 질문은 목적을 발견하게 한다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9"/>
          <p:cNvSpPr/>
          <p:nvPr/>
        </p:nvSpPr>
        <p:spPr>
          <a:xfrm>
            <a:off x="2023104" y="3164681"/>
            <a:ext cx="1623054" cy="1978819"/>
          </a:xfrm>
          <a:prstGeom prst="rect">
            <a:avLst/>
          </a:prstGeom>
          <a:solidFill>
            <a:srgbClr val="FFFFFF"/>
          </a:solidFill>
          <a:ln cap="flat" cmpd="sng" w="18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9"/>
          <p:cNvSpPr/>
          <p:nvPr/>
        </p:nvSpPr>
        <p:spPr>
          <a:xfrm>
            <a:off x="2165979" y="3307556"/>
            <a:ext cx="1337304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3366"/>
              </a:buClr>
              <a:buSzPts val="1200"/>
              <a:buFont typeface="JetBrains Mono"/>
              <a:buNone/>
            </a:pPr>
            <a:r>
              <a:rPr b="1" i="0" lang="en-US" sz="1200" u="none" cap="none" strike="noStrike">
                <a:solidFill>
                  <a:srgbClr val="FF336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07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9"/>
          <p:cNvSpPr/>
          <p:nvPr/>
        </p:nvSpPr>
        <p:spPr>
          <a:xfrm>
            <a:off x="2165979" y="3564731"/>
            <a:ext cx="1337304" cy="1671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00"/>
              <a:buFont typeface="JetBrains Mono"/>
              <a:buNone/>
            </a:pPr>
            <a:r>
              <a:rPr b="1" i="0" lang="en-US" sz="900" u="none" cap="none" strike="noStrike">
                <a:solidFill>
                  <a:srgbClr val="11111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Anti-fragile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9"/>
          <p:cNvSpPr/>
          <p:nvPr/>
        </p:nvSpPr>
        <p:spPr>
          <a:xfrm>
            <a:off x="2165979" y="4720623"/>
            <a:ext cx="1337304" cy="2800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750"/>
              <a:buFont typeface="JetBrains Mono"/>
              <a:buNone/>
            </a:pPr>
            <a:r>
              <a:rPr b="0" i="0" lang="en-US" sz="750" u="none" cap="none" strike="noStrike">
                <a:solidFill>
                  <a:srgbClr val="33333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실패를 통해 더 단단해지는 구조 설계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9"/>
          <p:cNvSpPr/>
          <p:nvPr/>
        </p:nvSpPr>
        <p:spPr>
          <a:xfrm>
            <a:off x="3760459" y="3164681"/>
            <a:ext cx="1623054" cy="1978819"/>
          </a:xfrm>
          <a:prstGeom prst="rect">
            <a:avLst/>
          </a:prstGeom>
          <a:solidFill>
            <a:srgbClr val="FFFFFF"/>
          </a:solidFill>
          <a:ln cap="flat" cmpd="sng" w="18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9"/>
          <p:cNvSpPr/>
          <p:nvPr/>
        </p:nvSpPr>
        <p:spPr>
          <a:xfrm>
            <a:off x="3903334" y="3307556"/>
            <a:ext cx="1337304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3366"/>
              </a:buClr>
              <a:buSzPts val="1200"/>
              <a:buFont typeface="JetBrains Mono"/>
              <a:buNone/>
            </a:pPr>
            <a:r>
              <a:rPr b="1" i="0" lang="en-US" sz="1200" u="none" cap="none" strike="noStrike">
                <a:solidFill>
                  <a:srgbClr val="FF336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08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9"/>
          <p:cNvSpPr/>
          <p:nvPr/>
        </p:nvSpPr>
        <p:spPr>
          <a:xfrm>
            <a:off x="3903334" y="3564731"/>
            <a:ext cx="1337304" cy="1671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00"/>
              <a:buFont typeface="JetBrains Mono"/>
              <a:buNone/>
            </a:pPr>
            <a:r>
              <a:rPr b="1" i="0" lang="en-US" sz="900" u="none" cap="none" strike="noStrike">
                <a:solidFill>
                  <a:srgbClr val="11111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공유 / 지식 설계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9"/>
          <p:cNvSpPr/>
          <p:nvPr/>
        </p:nvSpPr>
        <p:spPr>
          <a:xfrm>
            <a:off x="3903334" y="4720623"/>
            <a:ext cx="1337304" cy="2800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750"/>
              <a:buFont typeface="JetBrains Mono"/>
              <a:buNone/>
            </a:pPr>
            <a:r>
              <a:rPr b="0" i="0" lang="en-US" sz="750" u="none" cap="none" strike="noStrike">
                <a:solidFill>
                  <a:srgbClr val="33333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경험을 리믹스하며 지식을 설계하는 장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9"/>
          <p:cNvSpPr/>
          <p:nvPr/>
        </p:nvSpPr>
        <p:spPr>
          <a:xfrm>
            <a:off x="5497813" y="3164681"/>
            <a:ext cx="1623054" cy="1978819"/>
          </a:xfrm>
          <a:prstGeom prst="rect">
            <a:avLst/>
          </a:prstGeom>
          <a:solidFill>
            <a:srgbClr val="FFFFFF"/>
          </a:solidFill>
          <a:ln cap="flat" cmpd="sng" w="18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9"/>
          <p:cNvSpPr/>
          <p:nvPr/>
        </p:nvSpPr>
        <p:spPr>
          <a:xfrm>
            <a:off x="5640688" y="3307556"/>
            <a:ext cx="1337304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3366"/>
              </a:buClr>
              <a:buSzPts val="1200"/>
              <a:buFont typeface="JetBrains Mono"/>
              <a:buNone/>
            </a:pPr>
            <a:r>
              <a:rPr b="1" i="0" lang="en-US" sz="1200" u="none" cap="none" strike="noStrike">
                <a:solidFill>
                  <a:srgbClr val="FF336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09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9"/>
          <p:cNvSpPr/>
          <p:nvPr/>
        </p:nvSpPr>
        <p:spPr>
          <a:xfrm>
            <a:off x="5640688" y="3564731"/>
            <a:ext cx="1337304" cy="1671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00"/>
              <a:buFont typeface="JetBrains Mono"/>
              <a:buNone/>
            </a:pPr>
            <a:r>
              <a:rPr b="1" i="0" lang="en-US" sz="900" u="none" cap="none" strike="noStrike">
                <a:solidFill>
                  <a:srgbClr val="11111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Next Thing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9"/>
          <p:cNvSpPr/>
          <p:nvPr/>
        </p:nvSpPr>
        <p:spPr>
          <a:xfrm>
            <a:off x="5640688" y="4720623"/>
            <a:ext cx="1337304" cy="2800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750"/>
              <a:buFont typeface="JetBrains Mono"/>
              <a:buNone/>
            </a:pPr>
            <a:r>
              <a:rPr b="0" i="0" lang="en-US" sz="750" u="none" cap="none" strike="noStrike">
                <a:solidFill>
                  <a:srgbClr val="33333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각자의 삶으로 돌아가 더 나은 선택을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9"/>
          <p:cNvSpPr/>
          <p:nvPr/>
        </p:nvSpPr>
        <p:spPr>
          <a:xfrm>
            <a:off x="7235168" y="3164681"/>
            <a:ext cx="1623054" cy="1978819"/>
          </a:xfrm>
          <a:prstGeom prst="rect">
            <a:avLst/>
          </a:prstGeom>
          <a:solidFill>
            <a:srgbClr val="111111"/>
          </a:solidFill>
          <a:ln cap="flat" cmpd="sng" w="182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9"/>
          <p:cNvSpPr/>
          <p:nvPr/>
        </p:nvSpPr>
        <p:spPr>
          <a:xfrm>
            <a:off x="7378043" y="3307556"/>
            <a:ext cx="1337304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3366"/>
              </a:buClr>
              <a:buSzPts val="1200"/>
              <a:buFont typeface="JetBrains Mono"/>
              <a:buNone/>
            </a:pPr>
            <a:r>
              <a:rPr b="1" i="0" lang="en-US" sz="1200" u="none" cap="none" strike="noStrike">
                <a:solidFill>
                  <a:srgbClr val="FF336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9"/>
          <p:cNvSpPr/>
          <p:nvPr/>
        </p:nvSpPr>
        <p:spPr>
          <a:xfrm>
            <a:off x="7378043" y="3564731"/>
            <a:ext cx="1337304" cy="1671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3366"/>
              </a:buClr>
              <a:buSzPts val="900"/>
              <a:buFont typeface="JetBrains Mono"/>
              <a:buNone/>
            </a:pPr>
            <a:r>
              <a:rPr b="1" i="0" lang="en-US" sz="900" u="none" cap="none" strike="noStrike">
                <a:solidFill>
                  <a:srgbClr val="FF336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북클럽 전체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9"/>
          <p:cNvSpPr/>
          <p:nvPr/>
        </p:nvSpPr>
        <p:spPr>
          <a:xfrm>
            <a:off x="7378043" y="4720623"/>
            <a:ext cx="1337304" cy="2800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750"/>
              <a:buFont typeface="JetBrains Mono"/>
              <a:buNone/>
            </a:pPr>
            <a:r>
              <a:rPr b="0" i="0" lang="en-US" sz="750" u="none" cap="none" strike="noStrike">
                <a:solidFill>
                  <a:srgbClr val="FAFAF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선택하고 실행하고 회고하는 실험의 장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10" name="Google Shape;310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10"/>
          <p:cNvSpPr/>
          <p:nvPr/>
        </p:nvSpPr>
        <p:spPr>
          <a:xfrm>
            <a:off x="0" y="0"/>
            <a:ext cx="9144000" cy="857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10"/>
          <p:cNvSpPr/>
          <p:nvPr/>
        </p:nvSpPr>
        <p:spPr>
          <a:xfrm>
            <a:off x="0" y="842963"/>
            <a:ext cx="9144000" cy="1428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10"/>
          <p:cNvSpPr/>
          <p:nvPr/>
        </p:nvSpPr>
        <p:spPr>
          <a:xfrm>
            <a:off x="600075" y="262533"/>
            <a:ext cx="4525566" cy="332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600"/>
              <a:buFont typeface="JetBrains Mono"/>
              <a:buNone/>
            </a:pPr>
            <a:r>
              <a:rPr b="1" i="0" lang="en-US" sz="1600" u="none" cap="none" strike="noStrike">
                <a:solidFill>
                  <a:srgbClr val="11111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수파리(守破離) — 나는 지금 어디에 있는가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0"/>
          <p:cNvSpPr/>
          <p:nvPr/>
        </p:nvSpPr>
        <p:spPr>
          <a:xfrm>
            <a:off x="285750" y="1143000"/>
            <a:ext cx="4214813" cy="901898"/>
          </a:xfrm>
          <a:prstGeom prst="rect">
            <a:avLst/>
          </a:prstGeom>
          <a:solidFill>
            <a:srgbClr val="FFFFFF"/>
          </a:solidFill>
          <a:ln cap="flat" cmpd="sng" w="18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10"/>
          <p:cNvSpPr/>
          <p:nvPr/>
        </p:nvSpPr>
        <p:spPr>
          <a:xfrm>
            <a:off x="371475" y="1228725"/>
            <a:ext cx="2571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3366"/>
              </a:buClr>
              <a:buSzPts val="1800"/>
              <a:buFont typeface="JetBrains Mono"/>
              <a:buNone/>
            </a:pPr>
            <a:r>
              <a:rPr b="1" i="0" lang="en-US" sz="1800" u="none" cap="none" strike="noStrike">
                <a:solidFill>
                  <a:srgbClr val="FF336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守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0"/>
          <p:cNvSpPr/>
          <p:nvPr/>
        </p:nvSpPr>
        <p:spPr>
          <a:xfrm>
            <a:off x="742950" y="1232297"/>
            <a:ext cx="1514475" cy="2500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00"/>
              <a:buFont typeface="JetBrains Mono"/>
              <a:buNone/>
            </a:pPr>
            <a:r>
              <a:rPr b="1" i="0" lang="en-US" sz="1200" u="none" cap="none" strike="noStrike">
                <a:solidFill>
                  <a:srgbClr val="11111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수 — 기본을 지키다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0"/>
          <p:cNvSpPr/>
          <p:nvPr/>
        </p:nvSpPr>
        <p:spPr>
          <a:xfrm>
            <a:off x="371475" y="1543050"/>
            <a:ext cx="4043363" cy="1893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00"/>
              <a:buFont typeface="JetBrains Mono"/>
              <a:buNone/>
            </a:pPr>
            <a:r>
              <a:rPr b="1" i="0" lang="en-US" sz="900" u="none" cap="none" strike="noStrike">
                <a:solidFill>
                  <a:srgbClr val="33333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"책의 메시지를 이해하고 받아들이기"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0"/>
          <p:cNvSpPr/>
          <p:nvPr/>
        </p:nvSpPr>
        <p:spPr>
          <a:xfrm>
            <a:off x="371475" y="1789509"/>
            <a:ext cx="4043363" cy="1410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360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700"/>
              <a:buFont typeface="JetBrains Mono"/>
              <a:buNone/>
            </a:pPr>
            <a:r>
              <a:rPr b="1" i="0" lang="en-US" sz="700" u="none" cap="none" strike="noStrike">
                <a:solidFill>
                  <a:srgbClr val="66666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→ 원띵 읽기, 북클럽 참여, 포스트잇 보드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0"/>
          <p:cNvSpPr/>
          <p:nvPr/>
        </p:nvSpPr>
        <p:spPr>
          <a:xfrm>
            <a:off x="285750" y="2102048"/>
            <a:ext cx="4214813" cy="901898"/>
          </a:xfrm>
          <a:prstGeom prst="rect">
            <a:avLst/>
          </a:prstGeom>
          <a:solidFill>
            <a:srgbClr val="FFFFFF"/>
          </a:solidFill>
          <a:ln cap="flat" cmpd="sng" w="18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10"/>
          <p:cNvSpPr/>
          <p:nvPr/>
        </p:nvSpPr>
        <p:spPr>
          <a:xfrm>
            <a:off x="371475" y="2187773"/>
            <a:ext cx="2571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3366"/>
              </a:buClr>
              <a:buSzPts val="1800"/>
              <a:buFont typeface="JetBrains Mono"/>
              <a:buNone/>
            </a:pPr>
            <a:r>
              <a:rPr b="1" i="0" lang="en-US" sz="1800" u="none" cap="none" strike="noStrike">
                <a:solidFill>
                  <a:srgbClr val="FF336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破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0"/>
          <p:cNvSpPr/>
          <p:nvPr/>
        </p:nvSpPr>
        <p:spPr>
          <a:xfrm>
            <a:off x="742950" y="2191345"/>
            <a:ext cx="1514475" cy="2500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00"/>
              <a:buFont typeface="JetBrains Mono"/>
              <a:buNone/>
            </a:pPr>
            <a:r>
              <a:rPr b="1" i="0" lang="en-US" sz="1200" u="none" cap="none" strike="noStrike">
                <a:solidFill>
                  <a:srgbClr val="11111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파 — 틀을 깨뜨리다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0"/>
          <p:cNvSpPr/>
          <p:nvPr/>
        </p:nvSpPr>
        <p:spPr>
          <a:xfrm>
            <a:off x="371475" y="2502098"/>
            <a:ext cx="4043363" cy="1893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00"/>
              <a:buFont typeface="JetBrains Mono"/>
              <a:buNone/>
            </a:pPr>
            <a:r>
              <a:rPr b="1" i="0" lang="en-US" sz="900" u="none" cap="none" strike="noStrike">
                <a:solidFill>
                  <a:srgbClr val="33333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"내 현실에서 어떻게 깨뜨리고 다시 세울지 묻기"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0"/>
          <p:cNvSpPr/>
          <p:nvPr/>
        </p:nvSpPr>
        <p:spPr>
          <a:xfrm>
            <a:off x="371475" y="2748558"/>
            <a:ext cx="4043363" cy="1410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360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700"/>
              <a:buFont typeface="JetBrains Mono"/>
              <a:buNone/>
            </a:pPr>
            <a:r>
              <a:rPr b="1" i="0" lang="en-US" sz="700" u="none" cap="none" strike="noStrike">
                <a:solidFill>
                  <a:srgbClr val="66666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→ Decision Calibration System, 팀 시스템 도입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0"/>
          <p:cNvSpPr/>
          <p:nvPr/>
        </p:nvSpPr>
        <p:spPr>
          <a:xfrm>
            <a:off x="285750" y="3061097"/>
            <a:ext cx="4214813" cy="901898"/>
          </a:xfrm>
          <a:prstGeom prst="rect">
            <a:avLst/>
          </a:prstGeom>
          <a:solidFill>
            <a:srgbClr val="FFFFFF"/>
          </a:solidFill>
          <a:ln cap="flat" cmpd="sng" w="18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10"/>
          <p:cNvSpPr/>
          <p:nvPr/>
        </p:nvSpPr>
        <p:spPr>
          <a:xfrm>
            <a:off x="371475" y="3146822"/>
            <a:ext cx="2571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3366"/>
              </a:buClr>
              <a:buSzPts val="1800"/>
              <a:buFont typeface="JetBrains Mono"/>
              <a:buNone/>
            </a:pPr>
            <a:r>
              <a:rPr b="1" i="0" lang="en-US" sz="1800" u="none" cap="none" strike="noStrike">
                <a:solidFill>
                  <a:srgbClr val="FF336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離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0"/>
          <p:cNvSpPr/>
          <p:nvPr/>
        </p:nvSpPr>
        <p:spPr>
          <a:xfrm>
            <a:off x="742950" y="3150394"/>
            <a:ext cx="1671638" cy="2500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00"/>
              <a:buFont typeface="JetBrains Mono"/>
              <a:buNone/>
            </a:pPr>
            <a:r>
              <a:rPr b="1" i="0" lang="en-US" sz="1200" u="none" cap="none" strike="noStrike">
                <a:solidFill>
                  <a:srgbClr val="11111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리 — 틀에서 벗어나다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0"/>
          <p:cNvSpPr/>
          <p:nvPr/>
        </p:nvSpPr>
        <p:spPr>
          <a:xfrm>
            <a:off x="371475" y="3461147"/>
            <a:ext cx="4043363" cy="1893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00"/>
              <a:buFont typeface="JetBrains Mono"/>
              <a:buNone/>
            </a:pPr>
            <a:r>
              <a:rPr b="1" i="0" lang="en-US" sz="900" u="none" cap="none" strike="noStrike">
                <a:solidFill>
                  <a:srgbClr val="33333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"자기만의 방식으로 움직이는 상태"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0"/>
          <p:cNvSpPr/>
          <p:nvPr/>
        </p:nvSpPr>
        <p:spPr>
          <a:xfrm>
            <a:off x="371475" y="3707606"/>
            <a:ext cx="4043363" cy="1410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360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700"/>
              <a:buFont typeface="JetBrains Mono"/>
              <a:buNone/>
            </a:pPr>
            <a:r>
              <a:rPr b="1" i="0" lang="en-US" sz="700" u="none" cap="none" strike="noStrike">
                <a:solidFill>
                  <a:srgbClr val="66666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→ Decision OS, 지속적인 실험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0"/>
          <p:cNvSpPr/>
          <p:nvPr/>
        </p:nvSpPr>
        <p:spPr>
          <a:xfrm>
            <a:off x="285750" y="4020145"/>
            <a:ext cx="4214813" cy="435769"/>
          </a:xfrm>
          <a:prstGeom prst="rect">
            <a:avLst/>
          </a:prstGeom>
          <a:solidFill>
            <a:srgbClr val="111111"/>
          </a:solidFill>
          <a:ln cap="flat" cmpd="sng" w="18275">
            <a:solidFill>
              <a:srgbClr val="FF33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10"/>
          <p:cNvSpPr/>
          <p:nvPr/>
        </p:nvSpPr>
        <p:spPr>
          <a:xfrm>
            <a:off x="285750" y="4020145"/>
            <a:ext cx="4214813" cy="435769"/>
          </a:xfrm>
          <a:prstGeom prst="rect">
            <a:avLst/>
          </a:prstGeom>
          <a:noFill/>
          <a:ln>
            <a:noFill/>
          </a:ln>
        </p:spPr>
        <p:txBody>
          <a:bodyPr anchorCtr="0" anchor="t" bIns="136000" lIns="136000" spcFirstLastPara="1" rIns="136000" wrap="square" tIns="1360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900"/>
              <a:buFont typeface="JetBrains Mono"/>
              <a:buNone/>
            </a:pPr>
            <a:r>
              <a:rPr b="1" i="0" lang="en-US" sz="900" u="none" cap="none" strike="noStrike">
                <a:solidFill>
                  <a:srgbClr val="FAFAF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← 나는 지금 파(破)와 리(離) 사이 →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0"/>
          <p:cNvSpPr/>
          <p:nvPr/>
        </p:nvSpPr>
        <p:spPr>
          <a:xfrm>
            <a:off x="4643438" y="1143000"/>
            <a:ext cx="4214813" cy="2143125"/>
          </a:xfrm>
          <a:prstGeom prst="rect">
            <a:avLst/>
          </a:prstGeom>
          <a:solidFill>
            <a:srgbClr val="111111"/>
          </a:solidFill>
          <a:ln cap="flat" cmpd="sng" w="18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10"/>
          <p:cNvSpPr/>
          <p:nvPr/>
        </p:nvSpPr>
        <p:spPr>
          <a:xfrm>
            <a:off x="4643438" y="1143000"/>
            <a:ext cx="1278731" cy="203597"/>
          </a:xfrm>
          <a:prstGeom prst="rect">
            <a:avLst/>
          </a:prstGeom>
          <a:solidFill>
            <a:srgbClr val="FF33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10"/>
          <p:cNvSpPr/>
          <p:nvPr/>
        </p:nvSpPr>
        <p:spPr>
          <a:xfrm>
            <a:off x="5907881" y="1143000"/>
            <a:ext cx="14288" cy="203597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10"/>
          <p:cNvSpPr/>
          <p:nvPr/>
        </p:nvSpPr>
        <p:spPr>
          <a:xfrm>
            <a:off x="4643438" y="1332309"/>
            <a:ext cx="1278731" cy="1428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5" name="Google Shape;335;p10"/>
          <p:cNvPicPr preferRelativeResize="0"/>
          <p:nvPr/>
        </p:nvPicPr>
        <p:blipFill rotWithShape="1">
          <a:blip r:embed="rId4">
            <a:alphaModFix/>
          </a:blip>
          <a:srcRect b="8565" l="0" r="0" t="10861"/>
          <a:stretch/>
        </p:blipFill>
        <p:spPr>
          <a:xfrm>
            <a:off x="4643450" y="1330850"/>
            <a:ext cx="4214801" cy="1771650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10"/>
          <p:cNvSpPr/>
          <p:nvPr/>
        </p:nvSpPr>
        <p:spPr>
          <a:xfrm>
            <a:off x="4643450" y="3571875"/>
            <a:ext cx="4214700" cy="1275900"/>
          </a:xfrm>
          <a:prstGeom prst="rect">
            <a:avLst/>
          </a:prstGeom>
          <a:solidFill>
            <a:srgbClr val="FFFFFF"/>
          </a:solidFill>
          <a:ln cap="flat" cmpd="sng" w="18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10"/>
          <p:cNvSpPr/>
          <p:nvPr/>
        </p:nvSpPr>
        <p:spPr>
          <a:xfrm>
            <a:off x="4786313" y="3443288"/>
            <a:ext cx="257175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3366"/>
              </a:buClr>
              <a:buSzPts val="3250"/>
              <a:buFont typeface="JetBrains Mono"/>
              <a:buNone/>
            </a:pPr>
            <a:r>
              <a:rPr b="0" i="0" lang="en-US" sz="3250" u="none" cap="none" strike="noStrike">
                <a:solidFill>
                  <a:srgbClr val="FF336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\"</a:t>
            </a:r>
            <a:endParaRPr b="0" i="0" sz="3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0"/>
          <p:cNvSpPr/>
          <p:nvPr/>
        </p:nvSpPr>
        <p:spPr>
          <a:xfrm>
            <a:off x="4729163" y="4017662"/>
            <a:ext cx="4043363" cy="4800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JetBrains Mono"/>
              <a:buNone/>
            </a:pPr>
            <a:r>
              <a:rPr b="1" i="0" lang="en-US" sz="1200" u="none" cap="none" strike="noStrike">
                <a:solidFill>
                  <a:srgbClr val="33333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"형식은 끝났어도</a:t>
            </a:r>
            <a:br>
              <a:rPr b="1" i="0" lang="en-US" sz="1200" u="none" cap="none" strike="noStrike">
                <a:solidFill>
                  <a:srgbClr val="333333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b="1" i="0" lang="en-US" sz="1200" u="none" cap="none" strike="noStrike">
                <a:solidFill>
                  <a:srgbClr val="FF336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질문은 아직 끝나지 않았기</a:t>
            </a:r>
            <a:r>
              <a:rPr b="1" i="0" lang="en-US" sz="1200" u="none" cap="none" strike="noStrike">
                <a:solidFill>
                  <a:srgbClr val="33333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때문이다."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0"/>
          <p:cNvSpPr/>
          <p:nvPr/>
        </p:nvSpPr>
        <p:spPr>
          <a:xfrm>
            <a:off x="4643438" y="1143000"/>
            <a:ext cx="1278731" cy="203597"/>
          </a:xfrm>
          <a:prstGeom prst="rect">
            <a:avLst/>
          </a:prstGeom>
          <a:noFill/>
          <a:ln>
            <a:noFill/>
          </a:ln>
        </p:spPr>
        <p:txBody>
          <a:bodyPr anchorCtr="0" anchor="t" bIns="34025" lIns="102100" spcFirstLastPara="1" rIns="102100" wrap="square" tIns="340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JetBrains Mono"/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CONCEPT: SHU_HA_RI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45" name="Google Shape;345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46" name="Google Shape;346;p11"/>
          <p:cNvGrpSpPr/>
          <p:nvPr/>
        </p:nvGrpSpPr>
        <p:grpSpPr>
          <a:xfrm>
            <a:off x="0" y="0"/>
            <a:ext cx="9144000" cy="857400"/>
            <a:chOff x="0" y="0"/>
            <a:chExt cx="9144000" cy="857400"/>
          </a:xfrm>
        </p:grpSpPr>
        <p:sp>
          <p:nvSpPr>
            <p:cNvPr id="347" name="Google Shape;347;p11"/>
            <p:cNvSpPr/>
            <p:nvPr/>
          </p:nvSpPr>
          <p:spPr>
            <a:xfrm>
              <a:off x="0" y="0"/>
              <a:ext cx="9144000" cy="857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348" name="Google Shape;348;p11"/>
            <p:cNvCxnSpPr/>
            <p:nvPr/>
          </p:nvCxnSpPr>
          <p:spPr>
            <a:xfrm>
              <a:off x="571500" y="857250"/>
              <a:ext cx="8001000" cy="0"/>
            </a:xfrm>
            <a:prstGeom prst="straightConnector1">
              <a:avLst/>
            </a:prstGeom>
            <a:solidFill>
              <a:srgbClr val="FFFFFF"/>
            </a:solidFill>
            <a:ln cap="flat" cmpd="sng" w="14300">
              <a:solidFill>
                <a:srgbClr val="11111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49" name="Google Shape;349;p11"/>
            <p:cNvSpPr txBox="1"/>
            <p:nvPr/>
          </p:nvSpPr>
          <p:spPr>
            <a:xfrm>
              <a:off x="571500" y="238125"/>
              <a:ext cx="800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111111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지금 나의 NEXT THING은 무엇인가</a:t>
              </a:r>
              <a:endParaRPr b="1" sz="2000">
                <a:solidFill>
                  <a:srgbClr val="111111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</p:txBody>
        </p:sp>
      </p:grpSp>
      <p:grpSp>
        <p:nvGrpSpPr>
          <p:cNvPr id="350" name="Google Shape;350;p11"/>
          <p:cNvGrpSpPr/>
          <p:nvPr/>
        </p:nvGrpSpPr>
        <p:grpSpPr>
          <a:xfrm>
            <a:off x="571500" y="1143000"/>
            <a:ext cx="4143225" cy="3429150"/>
            <a:chOff x="571500" y="1143000"/>
            <a:chExt cx="4143225" cy="3429150"/>
          </a:xfrm>
        </p:grpSpPr>
        <p:grpSp>
          <p:nvGrpSpPr>
            <p:cNvPr id="351" name="Google Shape;351;p11"/>
            <p:cNvGrpSpPr/>
            <p:nvPr/>
          </p:nvGrpSpPr>
          <p:grpSpPr>
            <a:xfrm>
              <a:off x="571500" y="1143000"/>
              <a:ext cx="2000100" cy="1047900"/>
              <a:chOff x="571500" y="1143000"/>
              <a:chExt cx="2000100" cy="1047900"/>
            </a:xfrm>
          </p:grpSpPr>
          <p:sp>
            <p:nvSpPr>
              <p:cNvPr id="352" name="Google Shape;352;p11"/>
              <p:cNvSpPr/>
              <p:nvPr/>
            </p:nvSpPr>
            <p:spPr>
              <a:xfrm>
                <a:off x="571500" y="1143000"/>
                <a:ext cx="2000100" cy="1047900"/>
              </a:xfrm>
              <a:prstGeom prst="rect">
                <a:avLst/>
              </a:prstGeom>
              <a:solidFill>
                <a:srgbClr val="FFFFFF"/>
              </a:solidFill>
              <a:ln cap="flat" cmpd="sng" w="14300">
                <a:solidFill>
                  <a:srgbClr val="11111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3" name="Google Shape;353;p11"/>
              <p:cNvSpPr txBox="1"/>
              <p:nvPr/>
            </p:nvSpPr>
            <p:spPr>
              <a:xfrm>
                <a:off x="714375" y="1238250"/>
                <a:ext cx="1714500" cy="85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000">
                    <a:solidFill>
                      <a:srgbClr val="FF3366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Q_01</a:t>
                </a:r>
                <a:endParaRPr b="1" sz="1000">
                  <a:solidFill>
                    <a:srgbClr val="FF3366"/>
                  </a:solidFill>
                  <a:latin typeface="JetBrains Mono"/>
                  <a:ea typeface="JetBrains Mono"/>
                  <a:cs typeface="JetBrains Mono"/>
                  <a:sym typeface="JetBrains Mono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1" lang="en-US" sz="900">
                    <a:solidFill>
                      <a:srgbClr val="111111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내가 반복적으로 몰입하는 주제는 무엇인가?</a:t>
                </a:r>
                <a:endParaRPr b="1" sz="900">
                  <a:solidFill>
                    <a:srgbClr val="111111"/>
                  </a:solidFill>
                  <a:latin typeface="JetBrains Mono"/>
                  <a:ea typeface="JetBrains Mono"/>
                  <a:cs typeface="JetBrains Mono"/>
                  <a:sym typeface="JetBrains Mono"/>
                </a:endParaRPr>
              </a:p>
            </p:txBody>
          </p:sp>
        </p:grpSp>
        <p:grpSp>
          <p:nvGrpSpPr>
            <p:cNvPr id="354" name="Google Shape;354;p11"/>
            <p:cNvGrpSpPr/>
            <p:nvPr/>
          </p:nvGrpSpPr>
          <p:grpSpPr>
            <a:xfrm>
              <a:off x="2714625" y="1143000"/>
              <a:ext cx="2000100" cy="1047900"/>
              <a:chOff x="2714625" y="1143000"/>
              <a:chExt cx="2000100" cy="1047900"/>
            </a:xfrm>
          </p:grpSpPr>
          <p:sp>
            <p:nvSpPr>
              <p:cNvPr id="355" name="Google Shape;355;p11"/>
              <p:cNvSpPr/>
              <p:nvPr/>
            </p:nvSpPr>
            <p:spPr>
              <a:xfrm>
                <a:off x="2714625" y="1143000"/>
                <a:ext cx="2000100" cy="1047900"/>
              </a:xfrm>
              <a:prstGeom prst="rect">
                <a:avLst/>
              </a:prstGeom>
              <a:solidFill>
                <a:srgbClr val="FFFFFF"/>
              </a:solidFill>
              <a:ln cap="flat" cmpd="sng" w="14300">
                <a:solidFill>
                  <a:srgbClr val="11111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6" name="Google Shape;356;p11"/>
              <p:cNvSpPr txBox="1"/>
              <p:nvPr/>
            </p:nvSpPr>
            <p:spPr>
              <a:xfrm>
                <a:off x="2857500" y="1238250"/>
                <a:ext cx="1714500" cy="85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000">
                    <a:solidFill>
                      <a:srgbClr val="FF3366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Q_02</a:t>
                </a:r>
                <a:endParaRPr b="1" sz="1000">
                  <a:solidFill>
                    <a:srgbClr val="FF3366"/>
                  </a:solidFill>
                  <a:latin typeface="JetBrains Mono"/>
                  <a:ea typeface="JetBrains Mono"/>
                  <a:cs typeface="JetBrains Mono"/>
                  <a:sym typeface="JetBrains Mono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1" lang="en-US" sz="900">
                    <a:solidFill>
                      <a:srgbClr val="111111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사람들이 나에게 자주 요청하는 도움은 무엇인가?</a:t>
                </a:r>
                <a:endParaRPr b="1" sz="900">
                  <a:solidFill>
                    <a:srgbClr val="111111"/>
                  </a:solidFill>
                  <a:latin typeface="JetBrains Mono"/>
                  <a:ea typeface="JetBrains Mono"/>
                  <a:cs typeface="JetBrains Mono"/>
                  <a:sym typeface="JetBrains Mono"/>
                </a:endParaRPr>
              </a:p>
            </p:txBody>
          </p:sp>
        </p:grpSp>
        <p:grpSp>
          <p:nvGrpSpPr>
            <p:cNvPr id="357" name="Google Shape;357;p11"/>
            <p:cNvGrpSpPr/>
            <p:nvPr/>
          </p:nvGrpSpPr>
          <p:grpSpPr>
            <a:xfrm>
              <a:off x="571500" y="2333625"/>
              <a:ext cx="2000100" cy="1047900"/>
              <a:chOff x="571500" y="2333625"/>
              <a:chExt cx="2000100" cy="1047900"/>
            </a:xfrm>
          </p:grpSpPr>
          <p:sp>
            <p:nvSpPr>
              <p:cNvPr id="358" name="Google Shape;358;p11"/>
              <p:cNvSpPr/>
              <p:nvPr/>
            </p:nvSpPr>
            <p:spPr>
              <a:xfrm>
                <a:off x="571500" y="2333625"/>
                <a:ext cx="2000100" cy="1047900"/>
              </a:xfrm>
              <a:prstGeom prst="rect">
                <a:avLst/>
              </a:prstGeom>
              <a:solidFill>
                <a:srgbClr val="FFFFFF"/>
              </a:solidFill>
              <a:ln cap="flat" cmpd="sng" w="14300">
                <a:solidFill>
                  <a:srgbClr val="11111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9" name="Google Shape;359;p11"/>
              <p:cNvSpPr txBox="1"/>
              <p:nvPr/>
            </p:nvSpPr>
            <p:spPr>
              <a:xfrm>
                <a:off x="714375" y="2428875"/>
                <a:ext cx="1714500" cy="85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000">
                    <a:solidFill>
                      <a:srgbClr val="FF3366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Q_03</a:t>
                </a:r>
                <a:endParaRPr b="1" sz="1000">
                  <a:solidFill>
                    <a:srgbClr val="FF3366"/>
                  </a:solidFill>
                  <a:latin typeface="JetBrains Mono"/>
                  <a:ea typeface="JetBrains Mono"/>
                  <a:cs typeface="JetBrains Mono"/>
                  <a:sym typeface="JetBrains Mono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1" lang="en-US" sz="900">
                    <a:solidFill>
                      <a:srgbClr val="111111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내가 문제라고 느끼는 사회나 현장은 어디인가?</a:t>
                </a:r>
                <a:endParaRPr b="1" sz="900">
                  <a:solidFill>
                    <a:srgbClr val="111111"/>
                  </a:solidFill>
                  <a:latin typeface="JetBrains Mono"/>
                  <a:ea typeface="JetBrains Mono"/>
                  <a:cs typeface="JetBrains Mono"/>
                  <a:sym typeface="JetBrains Mono"/>
                </a:endParaRPr>
              </a:p>
            </p:txBody>
          </p:sp>
        </p:grpSp>
        <p:grpSp>
          <p:nvGrpSpPr>
            <p:cNvPr id="360" name="Google Shape;360;p11"/>
            <p:cNvGrpSpPr/>
            <p:nvPr/>
          </p:nvGrpSpPr>
          <p:grpSpPr>
            <a:xfrm>
              <a:off x="2714625" y="2333625"/>
              <a:ext cx="2000100" cy="1047900"/>
              <a:chOff x="2714625" y="2333625"/>
              <a:chExt cx="2000100" cy="1047900"/>
            </a:xfrm>
          </p:grpSpPr>
          <p:sp>
            <p:nvSpPr>
              <p:cNvPr id="361" name="Google Shape;361;p11"/>
              <p:cNvSpPr/>
              <p:nvPr/>
            </p:nvSpPr>
            <p:spPr>
              <a:xfrm>
                <a:off x="2714625" y="2333625"/>
                <a:ext cx="2000100" cy="1047900"/>
              </a:xfrm>
              <a:prstGeom prst="rect">
                <a:avLst/>
              </a:prstGeom>
              <a:solidFill>
                <a:srgbClr val="FFFFFF"/>
              </a:solidFill>
              <a:ln cap="flat" cmpd="sng" w="14300">
                <a:solidFill>
                  <a:srgbClr val="11111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2" name="Google Shape;362;p11"/>
              <p:cNvSpPr txBox="1"/>
              <p:nvPr/>
            </p:nvSpPr>
            <p:spPr>
              <a:xfrm>
                <a:off x="2857500" y="2428875"/>
                <a:ext cx="1714500" cy="85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000">
                    <a:solidFill>
                      <a:srgbClr val="FF3366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Q_04</a:t>
                </a:r>
                <a:endParaRPr b="1" sz="1000">
                  <a:solidFill>
                    <a:srgbClr val="FF3366"/>
                  </a:solidFill>
                  <a:latin typeface="JetBrains Mono"/>
                  <a:ea typeface="JetBrains Mono"/>
                  <a:cs typeface="JetBrains Mono"/>
                  <a:sym typeface="JetBrains Mono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1" lang="en-US" sz="900">
                    <a:solidFill>
                      <a:srgbClr val="111111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돈을 받지 않아도 계속할 수 있는 활동은 무엇인가?</a:t>
                </a:r>
                <a:endParaRPr b="1" sz="900">
                  <a:solidFill>
                    <a:srgbClr val="111111"/>
                  </a:solidFill>
                  <a:latin typeface="JetBrains Mono"/>
                  <a:ea typeface="JetBrains Mono"/>
                  <a:cs typeface="JetBrains Mono"/>
                  <a:sym typeface="JetBrains Mono"/>
                </a:endParaRPr>
              </a:p>
            </p:txBody>
          </p:sp>
        </p:grpSp>
        <p:grpSp>
          <p:nvGrpSpPr>
            <p:cNvPr id="363" name="Google Shape;363;p11"/>
            <p:cNvGrpSpPr/>
            <p:nvPr/>
          </p:nvGrpSpPr>
          <p:grpSpPr>
            <a:xfrm>
              <a:off x="571500" y="3524250"/>
              <a:ext cx="2000100" cy="1047900"/>
              <a:chOff x="571500" y="3524250"/>
              <a:chExt cx="2000100" cy="1047900"/>
            </a:xfrm>
          </p:grpSpPr>
          <p:sp>
            <p:nvSpPr>
              <p:cNvPr id="364" name="Google Shape;364;p11"/>
              <p:cNvSpPr/>
              <p:nvPr/>
            </p:nvSpPr>
            <p:spPr>
              <a:xfrm>
                <a:off x="571500" y="3524250"/>
                <a:ext cx="2000100" cy="1047900"/>
              </a:xfrm>
              <a:prstGeom prst="rect">
                <a:avLst/>
              </a:prstGeom>
              <a:solidFill>
                <a:srgbClr val="FFFFFF"/>
              </a:solidFill>
              <a:ln cap="flat" cmpd="sng" w="14300">
                <a:solidFill>
                  <a:srgbClr val="11111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5" name="Google Shape;365;p11"/>
              <p:cNvSpPr txBox="1"/>
              <p:nvPr/>
            </p:nvSpPr>
            <p:spPr>
              <a:xfrm>
                <a:off x="714375" y="3619500"/>
                <a:ext cx="1714500" cy="85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000">
                    <a:solidFill>
                      <a:srgbClr val="FF3366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Q_05</a:t>
                </a:r>
                <a:endParaRPr b="1" sz="1000">
                  <a:solidFill>
                    <a:srgbClr val="FF3366"/>
                  </a:solidFill>
                  <a:latin typeface="JetBrains Mono"/>
                  <a:ea typeface="JetBrains Mono"/>
                  <a:cs typeface="JetBrains Mono"/>
                  <a:sym typeface="JetBrains Mono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1" lang="en-US" sz="900">
                    <a:solidFill>
                      <a:srgbClr val="111111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10년 뒤 "이건 남기고 싶다"고 생각하는 것은 무엇인가?</a:t>
                </a:r>
                <a:endParaRPr b="1" sz="900">
                  <a:solidFill>
                    <a:srgbClr val="111111"/>
                  </a:solidFill>
                  <a:latin typeface="JetBrains Mono"/>
                  <a:ea typeface="JetBrains Mono"/>
                  <a:cs typeface="JetBrains Mono"/>
                  <a:sym typeface="JetBrains Mono"/>
                </a:endParaRPr>
              </a:p>
            </p:txBody>
          </p:sp>
        </p:grpSp>
        <p:grpSp>
          <p:nvGrpSpPr>
            <p:cNvPr id="366" name="Google Shape;366;p11"/>
            <p:cNvGrpSpPr/>
            <p:nvPr/>
          </p:nvGrpSpPr>
          <p:grpSpPr>
            <a:xfrm>
              <a:off x="2714625" y="3524250"/>
              <a:ext cx="2000100" cy="1047900"/>
              <a:chOff x="2714625" y="3524250"/>
              <a:chExt cx="2000100" cy="1047900"/>
            </a:xfrm>
          </p:grpSpPr>
          <p:sp>
            <p:nvSpPr>
              <p:cNvPr id="367" name="Google Shape;367;p11"/>
              <p:cNvSpPr/>
              <p:nvPr/>
            </p:nvSpPr>
            <p:spPr>
              <a:xfrm>
                <a:off x="2714625" y="3524250"/>
                <a:ext cx="2000100" cy="1047900"/>
              </a:xfrm>
              <a:prstGeom prst="rect">
                <a:avLst/>
              </a:prstGeom>
              <a:solidFill>
                <a:srgbClr val="111111"/>
              </a:solidFill>
              <a:ln cap="flat" cmpd="sng" w="14300">
                <a:solidFill>
                  <a:srgbClr val="FF33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8" name="Google Shape;368;p11"/>
              <p:cNvSpPr txBox="1"/>
              <p:nvPr/>
            </p:nvSpPr>
            <p:spPr>
              <a:xfrm>
                <a:off x="2857500" y="3619500"/>
                <a:ext cx="1714500" cy="85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000">
                    <a:solidFill>
                      <a:srgbClr val="FFFFFF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Q_06</a:t>
                </a:r>
                <a:endParaRPr b="1" sz="1000">
                  <a:solidFill>
                    <a:srgbClr val="FFFFFF"/>
                  </a:solidFill>
                  <a:latin typeface="JetBrains Mono"/>
                  <a:ea typeface="JetBrains Mono"/>
                  <a:cs typeface="JetBrains Mono"/>
                  <a:sym typeface="JetBrains Mono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1" lang="en-US" sz="900">
                    <a:solidFill>
                      <a:srgbClr val="FF3366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강점, 기여, 가치가 어디에서 만나는가?</a:t>
                </a:r>
                <a:endParaRPr b="1" sz="900">
                  <a:solidFill>
                    <a:srgbClr val="FF3366"/>
                  </a:solidFill>
                  <a:latin typeface="JetBrains Mono"/>
                  <a:ea typeface="JetBrains Mono"/>
                  <a:cs typeface="JetBrains Mono"/>
                  <a:sym typeface="JetBrains Mono"/>
                </a:endParaRPr>
              </a:p>
            </p:txBody>
          </p:sp>
        </p:grpSp>
      </p:grpSp>
      <p:grpSp>
        <p:nvGrpSpPr>
          <p:cNvPr id="369" name="Google Shape;369;p11"/>
          <p:cNvGrpSpPr/>
          <p:nvPr/>
        </p:nvGrpSpPr>
        <p:grpSpPr>
          <a:xfrm>
            <a:off x="4953000" y="1143000"/>
            <a:ext cx="3810000" cy="1428900"/>
            <a:chOff x="4953000" y="1143000"/>
            <a:chExt cx="3810000" cy="1428900"/>
          </a:xfrm>
        </p:grpSpPr>
        <p:sp>
          <p:nvSpPr>
            <p:cNvPr id="370" name="Google Shape;370;p11"/>
            <p:cNvSpPr/>
            <p:nvPr/>
          </p:nvSpPr>
          <p:spPr>
            <a:xfrm>
              <a:off x="4953000" y="1143000"/>
              <a:ext cx="3810000" cy="1428900"/>
            </a:xfrm>
            <a:prstGeom prst="rect">
              <a:avLst/>
            </a:prstGeom>
            <a:solidFill>
              <a:srgbClr val="111111"/>
            </a:solidFill>
            <a:ln cap="flat" cmpd="sng" w="14300">
              <a:solidFill>
                <a:srgbClr val="11111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" name="Google Shape;371;p11"/>
            <p:cNvSpPr txBox="1"/>
            <p:nvPr/>
          </p:nvSpPr>
          <p:spPr>
            <a:xfrm>
              <a:off x="5143500" y="1285875"/>
              <a:ext cx="34290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800">
                  <a:solidFill>
                    <a:srgbClr val="FF3366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DESIGN_TRANSITION</a:t>
              </a:r>
              <a:endParaRPr b="1" sz="800">
                <a:solidFill>
                  <a:srgbClr val="FF3366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-US" sz="900">
                  <a:solidFill>
                    <a:srgbClr val="FAFAFA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변화가 없다면 → </a:t>
              </a:r>
              <a:r>
                <a:rPr b="1" lang="en-US" sz="900">
                  <a:solidFill>
                    <a:srgbClr val="FFFFFF"/>
                  </a:solidFill>
                  <a:highlight>
                    <a:srgbClr val="333333"/>
                  </a:highlight>
                  <a:latin typeface="JetBrains Mono"/>
                  <a:ea typeface="JetBrains Mono"/>
                  <a:cs typeface="JetBrains Mono"/>
                  <a:sym typeface="JetBrains Mono"/>
                </a:rPr>
                <a:t>ROBUST DESIGN</a:t>
              </a:r>
              <a:endParaRPr b="1" sz="900">
                <a:solidFill>
                  <a:srgbClr val="FAFAFA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-US" sz="900">
                  <a:solidFill>
                    <a:srgbClr val="FAFAFA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변화가 시작되었다면 → </a:t>
              </a:r>
              <a:r>
                <a:rPr b="1" lang="en-US" sz="900">
                  <a:solidFill>
                    <a:srgbClr val="FFFFFF"/>
                  </a:solidFill>
                  <a:highlight>
                    <a:srgbClr val="FF3366"/>
                  </a:highlight>
                  <a:latin typeface="JetBrains Mono"/>
                  <a:ea typeface="JetBrains Mono"/>
                  <a:cs typeface="JetBrains Mono"/>
                  <a:sym typeface="JetBrains Mono"/>
                </a:rPr>
                <a:t>ANTI-FRAGILE DESIGN</a:t>
              </a:r>
              <a:endParaRPr b="1" sz="900">
                <a:solidFill>
                  <a:srgbClr val="FAFAFA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</p:txBody>
        </p:sp>
      </p:grpSp>
      <p:grpSp>
        <p:nvGrpSpPr>
          <p:cNvPr id="372" name="Google Shape;372;p11"/>
          <p:cNvGrpSpPr/>
          <p:nvPr/>
        </p:nvGrpSpPr>
        <p:grpSpPr>
          <a:xfrm>
            <a:off x="4953000" y="2857500"/>
            <a:ext cx="3810000" cy="1714500"/>
            <a:chOff x="4953000" y="2857500"/>
            <a:chExt cx="3810000" cy="1714500"/>
          </a:xfrm>
        </p:grpSpPr>
        <p:sp>
          <p:nvSpPr>
            <p:cNvPr id="373" name="Google Shape;373;p11"/>
            <p:cNvSpPr/>
            <p:nvPr/>
          </p:nvSpPr>
          <p:spPr>
            <a:xfrm>
              <a:off x="4953000" y="2857500"/>
              <a:ext cx="3810000" cy="1714500"/>
            </a:xfrm>
            <a:prstGeom prst="rect">
              <a:avLst/>
            </a:prstGeom>
            <a:solidFill>
              <a:srgbClr val="FFFFFF"/>
            </a:solidFill>
            <a:ln cap="flat" cmpd="sng" w="14300">
              <a:solidFill>
                <a:srgbClr val="11111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374" name="Google Shape;374;p11"/>
            <p:cNvPicPr preferRelativeResize="0"/>
            <p:nvPr/>
          </p:nvPicPr>
          <p:blipFill rotWithShape="1">
            <a:blip r:embed="rId5">
              <a:alphaModFix/>
            </a:blip>
            <a:srcRect b="12138" l="0" r="0" t="12138"/>
            <a:stretch/>
          </p:blipFill>
          <p:spPr>
            <a:xfrm>
              <a:off x="5048250" y="2952750"/>
              <a:ext cx="3619500" cy="1524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5" name="Google Shape;375;p11"/>
            <p:cNvSpPr/>
            <p:nvPr/>
          </p:nvSpPr>
          <p:spPr>
            <a:xfrm>
              <a:off x="7429350" y="2927750"/>
              <a:ext cx="1238400" cy="190500"/>
            </a:xfrm>
            <a:prstGeom prst="rect">
              <a:avLst/>
            </a:prstGeom>
            <a:solidFill>
              <a:srgbClr val="FF336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" name="Google Shape;376;p11"/>
            <p:cNvSpPr txBox="1"/>
            <p:nvPr/>
          </p:nvSpPr>
          <p:spPr>
            <a:xfrm>
              <a:off x="7460175" y="2927750"/>
              <a:ext cx="12384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700">
                  <a:solidFill>
                    <a:srgbClr val="FFFFFF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CONCEPT: NEXT_THING</a:t>
              </a:r>
              <a:endParaRPr b="1" sz="70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</p:txBody>
        </p:sp>
      </p:grpSp>
      <p:pic>
        <p:nvPicPr>
          <p:cNvPr id="377" name="Google Shape;377;p11" title="image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806600" y="983925"/>
            <a:ext cx="1196100" cy="1495450"/>
          </a:xfrm>
          <a:prstGeom prst="rect">
            <a:avLst/>
          </a:prstGeom>
          <a:solidFill>
            <a:srgbClr val="111111"/>
          </a:solidFill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83" name="Google Shape;383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84" name="Google Shape;384;p12"/>
          <p:cNvSpPr/>
          <p:nvPr/>
        </p:nvSpPr>
        <p:spPr>
          <a:xfrm>
            <a:off x="2194917" y="910828"/>
            <a:ext cx="4754166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750"/>
              <a:buFont typeface="JetBrains Mono"/>
              <a:buNone/>
            </a:pPr>
            <a:r>
              <a:rPr b="1" i="0" lang="en-US" sz="3750" u="none" cap="none" strike="noStrike">
                <a:solidFill>
                  <a:srgbClr val="FAFAF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KEEP CHOOSING.</a:t>
            </a:r>
            <a:endParaRPr b="0" i="0" sz="3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2"/>
          <p:cNvSpPr/>
          <p:nvPr/>
        </p:nvSpPr>
        <p:spPr>
          <a:xfrm>
            <a:off x="1897559" y="1568053"/>
            <a:ext cx="5348883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750"/>
              <a:buFont typeface="JetBrains Mono"/>
              <a:buNone/>
            </a:pPr>
            <a:r>
              <a:rPr b="1" i="0" lang="en-US" sz="3750" u="none" cap="none" strike="noStrike">
                <a:solidFill>
                  <a:srgbClr val="FAFAF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KEEP DESIGNING.</a:t>
            </a:r>
            <a:endParaRPr b="0" i="0" sz="3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2"/>
          <p:cNvSpPr/>
          <p:nvPr/>
        </p:nvSpPr>
        <p:spPr>
          <a:xfrm>
            <a:off x="1600200" y="2225278"/>
            <a:ext cx="59436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750"/>
              <a:buFont typeface="JetBrains Mono"/>
              <a:buNone/>
            </a:pPr>
            <a:r>
              <a:rPr b="1" i="0" lang="en-US" sz="3750" u="none" cap="none" strike="noStrike">
                <a:solidFill>
                  <a:srgbClr val="FAFAF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KEEP JOURNEYING.</a:t>
            </a:r>
            <a:endParaRPr b="0" i="0" sz="3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2"/>
          <p:cNvSpPr/>
          <p:nvPr/>
        </p:nvSpPr>
        <p:spPr>
          <a:xfrm>
            <a:off x="2418159" y="3168253"/>
            <a:ext cx="4307681" cy="589359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18275">
            <a:solidFill>
              <a:srgbClr val="FF33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12"/>
          <p:cNvSpPr/>
          <p:nvPr/>
        </p:nvSpPr>
        <p:spPr>
          <a:xfrm>
            <a:off x="2418159" y="3168253"/>
            <a:ext cx="4307681" cy="589359"/>
          </a:xfrm>
          <a:prstGeom prst="rect">
            <a:avLst/>
          </a:prstGeom>
          <a:noFill/>
          <a:ln>
            <a:noFill/>
          </a:ln>
        </p:spPr>
        <p:txBody>
          <a:bodyPr anchorCtr="0" anchor="t" bIns="136000" lIns="272150" spcFirstLastPara="1" rIns="272150" wrap="square" tIns="136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3366"/>
              </a:buClr>
              <a:buSzPts val="1600"/>
              <a:buFont typeface="JetBrains Mono"/>
              <a:buNone/>
            </a:pPr>
            <a:r>
              <a:rPr b="1" i="0" lang="en-US" sz="1600" u="none" cap="none" strike="noStrike">
                <a:solidFill>
                  <a:srgbClr val="FF336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지금 나의 Next Thing은 무엇인가?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2"/>
          <p:cNvSpPr/>
          <p:nvPr/>
        </p:nvSpPr>
        <p:spPr>
          <a:xfrm>
            <a:off x="2743200" y="4029075"/>
            <a:ext cx="3657600" cy="1893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JetBrains Mono"/>
              <a:buNone/>
            </a:pPr>
            <a:r>
              <a:rPr b="1" i="0" lang="en-US" sz="1000" u="none" cap="none" strike="noStrike">
                <a:solidFill>
                  <a:srgbClr val="66666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END_OF_PRESENTATION // THANK_YOU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2026-05-13T11:10:12Z</dcterms:created>
  <dc:creator>PptxGenJS</dc:creator>
</cp:coreProperties>
</file>